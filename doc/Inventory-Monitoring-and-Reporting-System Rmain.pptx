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y="8229600" cx="14630400"/>
  <p:notesSz cx="8229600" cy="14630400"/>
  <p:embeddedFontLst>
    <p:embeddedFont>
      <p:font typeface="Calibri" pitchFamily="34" charset="0"/>
      <p:regular r:id="rId28"/>
      <p:bold r:id="rId29"/>
      <p:italic r:id="rId30"/>
      <p:boldItalic r:id="rId31"/>
    </p:embeddedFont>
    <p:embeddedFont>
      <p:font typeface="Montserrat" charset="0"/>
      <p:regular r:id="rId32"/>
    </p:embeddedFont>
  </p:embeddedFontLst>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0" horzBarState="maximized">
    <p:restoredLeft sz="15611"/>
    <p:restoredTop sz="94610"/>
  </p:normalViewPr>
  <p:slideViewPr>
    <p:cSldViewPr snapToGrid="0" snapToObjects="1">
      <p:cViewPr varScale="1">
        <p:scale>
          <a:sx n="60" d="100"/>
          <a:sy n="60" d="100"/>
        </p:scale>
        <p:origin x="-612" y="-84"/>
      </p:cViewPr>
      <p:guideLst>
        <p:guide orient="horz" pos="2592"/>
        <p:guide pos="460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9" name="Slide Image Placeholder 1"/>
          <p:cNvSpPr>
            <a:spLocks noChangeAspect="1" noRot="1" noGrp="1"/>
          </p:cNvSpPr>
          <p:nvPr>
            <p:ph type="sldImg"/>
          </p:nvPr>
        </p:nvSpPr>
        <p:spPr/>
      </p:sp>
      <p:sp>
        <p:nvSpPr>
          <p:cNvPr id="1048620" name="Notes Placeholder 2"/>
          <p:cNvSpPr>
            <a:spLocks noGrp="1"/>
          </p:cNvSpPr>
          <p:nvPr>
            <p:ph type="body" idx="1"/>
          </p:nvPr>
        </p:nvSpPr>
        <p:spPr/>
        <p:txBody>
          <a:bodyPr/>
          <a:p>
            <a:endParaRPr dirty="0" lang="en-US"/>
          </a:p>
        </p:txBody>
      </p:sp>
      <p:sp>
        <p:nvSpPr>
          <p:cNvPr id="1048621"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0" name="Slide Image Placeholder 1"/>
          <p:cNvSpPr>
            <a:spLocks noChangeAspect="1" noRot="1" noGrp="1"/>
          </p:cNvSpPr>
          <p:nvPr>
            <p:ph type="sldImg"/>
          </p:nvPr>
        </p:nvSpPr>
        <p:spPr/>
      </p:sp>
      <p:sp>
        <p:nvSpPr>
          <p:cNvPr id="1048631" name="Notes Placeholder 2"/>
          <p:cNvSpPr>
            <a:spLocks noGrp="1"/>
          </p:cNvSpPr>
          <p:nvPr>
            <p:ph type="body" idx="1"/>
          </p:nvPr>
        </p:nvSpPr>
        <p:spPr/>
        <p:txBody>
          <a:bodyPr/>
          <a:p>
            <a:endParaRPr dirty="0" lang="en-US"/>
          </a:p>
        </p:txBody>
      </p:sp>
      <p:sp>
        <p:nvSpPr>
          <p:cNvPr id="1048632"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48" name="Slide Image Placeholder 1"/>
          <p:cNvSpPr>
            <a:spLocks noChangeAspect="1" noRot="1" noGrp="1"/>
          </p:cNvSpPr>
          <p:nvPr>
            <p:ph type="sldImg"/>
          </p:nvPr>
        </p:nvSpPr>
        <p:spPr/>
      </p:sp>
      <p:sp>
        <p:nvSpPr>
          <p:cNvPr id="1048649" name="Notes Placeholder 2"/>
          <p:cNvSpPr>
            <a:spLocks noGrp="1"/>
          </p:cNvSpPr>
          <p:nvPr>
            <p:ph type="body" idx="1"/>
          </p:nvPr>
        </p:nvSpPr>
        <p:spPr/>
        <p:txBody>
          <a:bodyPr/>
          <a:p>
            <a:endParaRPr dirty="0" lang="en-US"/>
          </a:p>
        </p:txBody>
      </p:sp>
      <p:sp>
        <p:nvSpPr>
          <p:cNvPr id="1048650"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80" name="Slide Image Placeholder 1"/>
          <p:cNvSpPr>
            <a:spLocks noChangeAspect="1" noRot="1" noGrp="1"/>
          </p:cNvSpPr>
          <p:nvPr>
            <p:ph type="sldImg"/>
          </p:nvPr>
        </p:nvSpPr>
        <p:spPr/>
      </p:sp>
      <p:sp>
        <p:nvSpPr>
          <p:cNvPr id="1048681" name="Notes Placeholder 2"/>
          <p:cNvSpPr>
            <a:spLocks noGrp="1"/>
          </p:cNvSpPr>
          <p:nvPr>
            <p:ph type="body" idx="1"/>
          </p:nvPr>
        </p:nvSpPr>
        <p:spPr/>
        <p:txBody>
          <a:bodyPr/>
          <a:p>
            <a:endParaRPr dirty="0" lang="en-US"/>
          </a:p>
        </p:txBody>
      </p:sp>
      <p:sp>
        <p:nvSpPr>
          <p:cNvPr id="1048682"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96" name="Slide Image Placeholder 1"/>
          <p:cNvSpPr>
            <a:spLocks noChangeAspect="1" noRot="1" noGrp="1"/>
          </p:cNvSpPr>
          <p:nvPr>
            <p:ph type="sldImg"/>
          </p:nvPr>
        </p:nvSpPr>
        <p:spPr/>
      </p:sp>
      <p:sp>
        <p:nvSpPr>
          <p:cNvPr id="1048697" name="Notes Placeholder 2"/>
          <p:cNvSpPr>
            <a:spLocks noGrp="1"/>
          </p:cNvSpPr>
          <p:nvPr>
            <p:ph type="body" idx="1"/>
          </p:nvPr>
        </p:nvSpPr>
        <p:spPr/>
        <p:txBody>
          <a:bodyPr/>
          <a:p>
            <a:endParaRPr dirty="0" lang="en-US"/>
          </a:p>
        </p:txBody>
      </p:sp>
      <p:sp>
        <p:nvSpPr>
          <p:cNvPr id="1048698"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711" name="Slide Image Placeholder 1"/>
          <p:cNvSpPr>
            <a:spLocks noChangeAspect="1" noRot="1" noGrp="1"/>
          </p:cNvSpPr>
          <p:nvPr>
            <p:ph type="sldImg"/>
          </p:nvPr>
        </p:nvSpPr>
        <p:spPr/>
      </p:sp>
      <p:sp>
        <p:nvSpPr>
          <p:cNvPr id="1048712" name="Notes Placeholder 2"/>
          <p:cNvSpPr>
            <a:spLocks noGrp="1"/>
          </p:cNvSpPr>
          <p:nvPr>
            <p:ph type="body" idx="1"/>
          </p:nvPr>
        </p:nvSpPr>
        <p:spPr/>
        <p:txBody>
          <a:bodyPr/>
          <a:p>
            <a:endParaRPr dirty="0" lang="en-US"/>
          </a:p>
        </p:txBody>
      </p:sp>
      <p:sp>
        <p:nvSpPr>
          <p:cNvPr id="1048713"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35" name="Slide Image Placeholder 1"/>
          <p:cNvSpPr>
            <a:spLocks noChangeAspect="1" noRot="1" noGrp="1"/>
          </p:cNvSpPr>
          <p:nvPr>
            <p:ph type="sldImg"/>
          </p:nvPr>
        </p:nvSpPr>
        <p:spPr/>
      </p:sp>
      <p:sp>
        <p:nvSpPr>
          <p:cNvPr id="1048736" name="Notes Placeholder 2"/>
          <p:cNvSpPr>
            <a:spLocks noGrp="1"/>
          </p:cNvSpPr>
          <p:nvPr>
            <p:ph type="body" idx="1"/>
          </p:nvPr>
        </p:nvSpPr>
        <p:spPr/>
        <p:txBody>
          <a:bodyPr/>
          <a:p>
            <a:endParaRPr dirty="0" lang="en-US"/>
          </a:p>
        </p:txBody>
      </p:sp>
      <p:sp>
        <p:nvSpPr>
          <p:cNvPr id="1048737"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759" name="Slide Image Placeholder 1"/>
          <p:cNvSpPr>
            <a:spLocks noChangeAspect="1" noRot="1" noGrp="1"/>
          </p:cNvSpPr>
          <p:nvPr>
            <p:ph type="sldImg"/>
          </p:nvPr>
        </p:nvSpPr>
        <p:spPr/>
      </p:sp>
      <p:sp>
        <p:nvSpPr>
          <p:cNvPr id="1048760" name="Notes Placeholder 2"/>
          <p:cNvSpPr>
            <a:spLocks noGrp="1"/>
          </p:cNvSpPr>
          <p:nvPr>
            <p:ph type="body" idx="1"/>
          </p:nvPr>
        </p:nvSpPr>
        <p:spPr/>
        <p:txBody>
          <a:bodyPr/>
          <a:p>
            <a:endParaRPr dirty="0" lang="en-US"/>
          </a:p>
        </p:txBody>
      </p:sp>
      <p:sp>
        <p:nvSpPr>
          <p:cNvPr id="1048761"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772" name="Slide Image Placeholder 1"/>
          <p:cNvSpPr>
            <a:spLocks noChangeAspect="1" noRot="1" noGrp="1"/>
          </p:cNvSpPr>
          <p:nvPr>
            <p:ph type="sldImg"/>
          </p:nvPr>
        </p:nvSpPr>
        <p:spPr/>
      </p:sp>
      <p:sp>
        <p:nvSpPr>
          <p:cNvPr id="1048773" name="Notes Placeholder 2"/>
          <p:cNvSpPr>
            <a:spLocks noGrp="1"/>
          </p:cNvSpPr>
          <p:nvPr>
            <p:ph type="body" idx="1"/>
          </p:nvPr>
        </p:nvSpPr>
        <p:spPr/>
        <p:txBody>
          <a:bodyPr/>
          <a:p>
            <a:endParaRPr dirty="0" lang="en-US"/>
          </a:p>
        </p:txBody>
      </p:sp>
      <p:sp>
        <p:nvSpPr>
          <p:cNvPr id="1048774"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788" name="Slide Image Placeholder 1"/>
          <p:cNvSpPr>
            <a:spLocks noChangeAspect="1" noRot="1" noGrp="1"/>
          </p:cNvSpPr>
          <p:nvPr>
            <p:ph type="sldImg"/>
          </p:nvPr>
        </p:nvSpPr>
        <p:spPr>
          <a:xfrm>
            <a:off x="-762000" y="1096963"/>
            <a:ext cx="9753600" cy="5486400"/>
          </a:xfrm>
          <a:prstGeom prst="rect"/>
        </p:spPr>
      </p:sp>
      <p:sp>
        <p:nvSpPr>
          <p:cNvPr id="1048789" name="Notes Placeholder 2"/>
          <p:cNvSpPr>
            <a:spLocks noGrp="1"/>
          </p:cNvSpPr>
          <p:nvPr>
            <p:ph type="body" idx="1"/>
          </p:nvPr>
        </p:nvSpPr>
        <p:spPr>
          <a:xfrm>
            <a:off x="822325" y="6950075"/>
            <a:ext cx="6584950" cy="6583363"/>
          </a:xfrm>
          <a:prstGeom prst="rect"/>
        </p:spPr>
        <p:txBody>
          <a:bodyPr/>
          <a:p>
            <a:endParaRPr dirty="0" lang="en-US"/>
          </a:p>
        </p:txBody>
      </p:sp>
      <p:sp>
        <p:nvSpPr>
          <p:cNvPr id="1048790"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800" name="Slide Image Placeholder 1"/>
          <p:cNvSpPr>
            <a:spLocks noChangeAspect="1" noRot="1" noGrp="1"/>
          </p:cNvSpPr>
          <p:nvPr>
            <p:ph type="sldImg"/>
          </p:nvPr>
        </p:nvSpPr>
        <p:spPr>
          <a:xfrm>
            <a:off x="-762000" y="1096963"/>
            <a:ext cx="9753600" cy="5486400"/>
          </a:xfrm>
          <a:prstGeom prst="rect"/>
        </p:spPr>
      </p:sp>
      <p:sp>
        <p:nvSpPr>
          <p:cNvPr id="1048801" name="Notes Placeholder 2"/>
          <p:cNvSpPr>
            <a:spLocks noGrp="1"/>
          </p:cNvSpPr>
          <p:nvPr>
            <p:ph type="body" idx="1"/>
          </p:nvPr>
        </p:nvSpPr>
        <p:spPr>
          <a:xfrm>
            <a:off x="822325" y="6950075"/>
            <a:ext cx="6584950" cy="6583363"/>
          </a:xfrm>
          <a:prstGeom prst="rect"/>
        </p:spPr>
        <p:txBody>
          <a:bodyPr/>
          <a:p>
            <a:endParaRPr dirty="0" lang="en-US"/>
          </a:p>
        </p:txBody>
      </p:sp>
      <p:sp>
        <p:nvSpPr>
          <p:cNvPr id="1048802"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841" name="Slide Image Placeholder 1"/>
          <p:cNvSpPr>
            <a:spLocks noChangeAspect="1" noRot="1" noGrp="1"/>
          </p:cNvSpPr>
          <p:nvPr>
            <p:ph type="sldImg"/>
          </p:nvPr>
        </p:nvSpPr>
        <p:spPr>
          <a:xfrm>
            <a:off x="-762000" y="1096963"/>
            <a:ext cx="9753600" cy="5486400"/>
          </a:xfrm>
          <a:prstGeom prst="rect"/>
        </p:spPr>
      </p:sp>
      <p:sp>
        <p:nvSpPr>
          <p:cNvPr id="1048842" name="Notes Placeholder 2"/>
          <p:cNvSpPr>
            <a:spLocks noGrp="1"/>
          </p:cNvSpPr>
          <p:nvPr>
            <p:ph type="body" idx="1"/>
          </p:nvPr>
        </p:nvSpPr>
        <p:spPr>
          <a:xfrm>
            <a:off x="822325" y="6950075"/>
            <a:ext cx="6584950" cy="6583363"/>
          </a:xfrm>
          <a:prstGeom prst="rect"/>
        </p:spPr>
        <p:txBody>
          <a:bodyPr/>
          <a:p>
            <a:endParaRPr dirty="0" lang="en-US"/>
          </a:p>
        </p:txBody>
      </p:sp>
      <p:sp>
        <p:nvSpPr>
          <p:cNvPr id="1048843"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849" name="Slide Image Placeholder 1"/>
          <p:cNvSpPr>
            <a:spLocks noChangeAspect="1" noRot="1" noGrp="1"/>
          </p:cNvSpPr>
          <p:nvPr>
            <p:ph type="sldImg"/>
          </p:nvPr>
        </p:nvSpPr>
        <p:spPr>
          <a:xfrm>
            <a:off x="-762000" y="1096963"/>
            <a:ext cx="9753600" cy="5486400"/>
          </a:xfrm>
          <a:prstGeom prst="rect"/>
        </p:spPr>
      </p:sp>
      <p:sp>
        <p:nvSpPr>
          <p:cNvPr id="1048850" name="Notes Placeholder 2"/>
          <p:cNvSpPr>
            <a:spLocks noGrp="1"/>
          </p:cNvSpPr>
          <p:nvPr>
            <p:ph type="body" idx="1"/>
          </p:nvPr>
        </p:nvSpPr>
        <p:spPr>
          <a:xfrm>
            <a:off x="822325" y="6950075"/>
            <a:ext cx="6584950" cy="6583363"/>
          </a:xfrm>
          <a:prstGeom prst="rect"/>
        </p:spPr>
        <p:txBody>
          <a:bodyPr/>
          <a:p>
            <a:endParaRPr dirty="0" lang="en-US"/>
          </a:p>
        </p:txBody>
      </p:sp>
      <p:sp>
        <p:nvSpPr>
          <p:cNvPr id="1048851"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865" name="Slide Image Placeholder 1"/>
          <p:cNvSpPr>
            <a:spLocks noChangeAspect="1" noRot="1" noGrp="1"/>
          </p:cNvSpPr>
          <p:nvPr>
            <p:ph type="sldImg"/>
          </p:nvPr>
        </p:nvSpPr>
        <p:spPr>
          <a:xfrm>
            <a:off x="-762000" y="1096963"/>
            <a:ext cx="9753600" cy="5486400"/>
          </a:xfrm>
          <a:prstGeom prst="rect"/>
        </p:spPr>
      </p:sp>
      <p:sp>
        <p:nvSpPr>
          <p:cNvPr id="1048866" name="Notes Placeholder 2"/>
          <p:cNvSpPr>
            <a:spLocks noGrp="1"/>
          </p:cNvSpPr>
          <p:nvPr>
            <p:ph type="body" idx="1"/>
          </p:nvPr>
        </p:nvSpPr>
        <p:spPr>
          <a:xfrm>
            <a:off x="822325" y="6950075"/>
            <a:ext cx="6584950" cy="6583363"/>
          </a:xfrm>
          <a:prstGeom prst="rect"/>
        </p:spPr>
        <p:txBody>
          <a:bodyPr/>
          <a:p>
            <a:endParaRPr dirty="0" lang="en-US"/>
          </a:p>
        </p:txBody>
      </p:sp>
      <p:sp>
        <p:nvSpPr>
          <p:cNvPr id="1048867"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872" name="Slide Image Placeholder 1"/>
          <p:cNvSpPr>
            <a:spLocks noChangeAspect="1" noRot="1" noGrp="1"/>
          </p:cNvSpPr>
          <p:nvPr>
            <p:ph type="sldImg"/>
          </p:nvPr>
        </p:nvSpPr>
        <p:spPr>
          <a:xfrm>
            <a:off x="-762000" y="1096963"/>
            <a:ext cx="9753600" cy="5486400"/>
          </a:xfrm>
          <a:prstGeom prst="rect"/>
        </p:spPr>
      </p:sp>
      <p:sp>
        <p:nvSpPr>
          <p:cNvPr id="1048873" name="Notes Placeholder 2"/>
          <p:cNvSpPr>
            <a:spLocks noGrp="1"/>
          </p:cNvSpPr>
          <p:nvPr>
            <p:ph type="body" idx="1"/>
          </p:nvPr>
        </p:nvSpPr>
        <p:spPr>
          <a:xfrm>
            <a:off x="822325" y="6950075"/>
            <a:ext cx="6584950" cy="6583363"/>
          </a:xfrm>
          <a:prstGeom prst="rect"/>
        </p:spPr>
        <p:txBody>
          <a:bodyPr/>
          <a:p>
            <a:endParaRPr dirty="0" lang="en-US"/>
          </a:p>
        </p:txBody>
      </p:sp>
      <p:sp>
        <p:nvSpPr>
          <p:cNvPr id="1048874"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883" name="Slide Image Placeholder 1"/>
          <p:cNvSpPr>
            <a:spLocks noChangeAspect="1" noRot="1" noGrp="1"/>
          </p:cNvSpPr>
          <p:nvPr>
            <p:ph type="sldImg"/>
          </p:nvPr>
        </p:nvSpPr>
        <p:spPr>
          <a:xfrm>
            <a:off x="-762000" y="1096963"/>
            <a:ext cx="9753600" cy="5486400"/>
          </a:xfrm>
          <a:prstGeom prst="rect"/>
        </p:spPr>
      </p:sp>
      <p:sp>
        <p:nvSpPr>
          <p:cNvPr id="1048884" name="Notes Placeholder 2"/>
          <p:cNvSpPr>
            <a:spLocks noGrp="1"/>
          </p:cNvSpPr>
          <p:nvPr>
            <p:ph type="body" idx="1"/>
          </p:nvPr>
        </p:nvSpPr>
        <p:spPr>
          <a:xfrm>
            <a:off x="822325" y="6950075"/>
            <a:ext cx="6584950" cy="6583363"/>
          </a:xfrm>
          <a:prstGeom prst="rect"/>
        </p:spPr>
        <p:txBody>
          <a:bodyPr/>
          <a:p>
            <a:endParaRPr dirty="0" lang="en-US"/>
          </a:p>
        </p:txBody>
      </p:sp>
      <p:sp>
        <p:nvSpPr>
          <p:cNvPr id="1048885"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898" name="Slide Image Placeholder 1"/>
          <p:cNvSpPr>
            <a:spLocks noChangeAspect="1" noRot="1" noGrp="1"/>
          </p:cNvSpPr>
          <p:nvPr>
            <p:ph type="sldImg"/>
          </p:nvPr>
        </p:nvSpPr>
        <p:spPr>
          <a:xfrm>
            <a:off x="-762000" y="1096963"/>
            <a:ext cx="9753600" cy="5486400"/>
          </a:xfrm>
          <a:prstGeom prst="rect"/>
        </p:spPr>
      </p:sp>
      <p:sp>
        <p:nvSpPr>
          <p:cNvPr id="1048899" name="Notes Placeholder 2"/>
          <p:cNvSpPr>
            <a:spLocks noGrp="1"/>
          </p:cNvSpPr>
          <p:nvPr>
            <p:ph type="body" idx="1"/>
          </p:nvPr>
        </p:nvSpPr>
        <p:spPr>
          <a:xfrm>
            <a:off x="822325" y="6950075"/>
            <a:ext cx="6584950" cy="6583363"/>
          </a:xfrm>
          <a:prstGeom prst="rect"/>
        </p:spPr>
        <p:txBody>
          <a:bodyPr/>
          <a:p>
            <a:endParaRPr dirty="0" lang="en-US"/>
          </a:p>
        </p:txBody>
      </p:sp>
      <p:sp>
        <p:nvSpPr>
          <p:cNvPr id="1048900"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916" name="Slide Image Placeholder 1"/>
          <p:cNvSpPr>
            <a:spLocks noChangeAspect="1" noRot="1" noGrp="1"/>
          </p:cNvSpPr>
          <p:nvPr>
            <p:ph type="sldImg"/>
          </p:nvPr>
        </p:nvSpPr>
        <p:spPr>
          <a:xfrm>
            <a:off x="-762000" y="1096963"/>
            <a:ext cx="9753600" cy="5486400"/>
          </a:xfrm>
          <a:prstGeom prst="rect"/>
        </p:spPr>
      </p:sp>
      <p:sp>
        <p:nvSpPr>
          <p:cNvPr id="1048917" name="Notes Placeholder 2"/>
          <p:cNvSpPr>
            <a:spLocks noGrp="1"/>
          </p:cNvSpPr>
          <p:nvPr>
            <p:ph type="body" idx="1"/>
          </p:nvPr>
        </p:nvSpPr>
        <p:spPr>
          <a:xfrm>
            <a:off x="822325" y="6950075"/>
            <a:ext cx="6584950" cy="6583363"/>
          </a:xfrm>
          <a:prstGeom prst="rect"/>
        </p:spPr>
        <p:txBody>
          <a:bodyPr/>
          <a:p>
            <a:endParaRPr dirty="0" lang="en-US"/>
          </a:p>
        </p:txBody>
      </p:sp>
      <p:sp>
        <p:nvSpPr>
          <p:cNvPr id="1048918"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945" name="Slide Image Placeholder 1"/>
          <p:cNvSpPr>
            <a:spLocks noChangeAspect="1" noRot="1" noGrp="1"/>
          </p:cNvSpPr>
          <p:nvPr>
            <p:ph type="sldImg"/>
          </p:nvPr>
        </p:nvSpPr>
        <p:spPr>
          <a:xfrm>
            <a:off x="-762000" y="1096963"/>
            <a:ext cx="9753600" cy="5486400"/>
          </a:xfrm>
          <a:prstGeom prst="rect"/>
        </p:spPr>
      </p:sp>
      <p:sp>
        <p:nvSpPr>
          <p:cNvPr id="1048946" name="Notes Placeholder 2"/>
          <p:cNvSpPr>
            <a:spLocks noGrp="1"/>
          </p:cNvSpPr>
          <p:nvPr>
            <p:ph type="body" idx="1"/>
          </p:nvPr>
        </p:nvSpPr>
        <p:spPr>
          <a:xfrm>
            <a:off x="822325" y="6950075"/>
            <a:ext cx="6584950" cy="6583363"/>
          </a:xfrm>
          <a:prstGeom prst="rect"/>
        </p:spPr>
        <p:txBody>
          <a:bodyPr/>
          <a:p>
            <a:endParaRPr dirty="0" lang="en-US"/>
          </a:p>
        </p:txBody>
      </p:sp>
      <p:sp>
        <p:nvSpPr>
          <p:cNvPr id="1048947"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982" name="Slide Image Placeholder 1"/>
          <p:cNvSpPr>
            <a:spLocks noChangeAspect="1" noRot="1" noGrp="1"/>
          </p:cNvSpPr>
          <p:nvPr>
            <p:ph type="sldImg"/>
          </p:nvPr>
        </p:nvSpPr>
        <p:spPr>
          <a:xfrm>
            <a:off x="-762000" y="1096963"/>
            <a:ext cx="9753600" cy="5486400"/>
          </a:xfrm>
          <a:prstGeom prst="rect"/>
        </p:spPr>
      </p:sp>
      <p:sp>
        <p:nvSpPr>
          <p:cNvPr id="1048983" name="Notes Placeholder 2"/>
          <p:cNvSpPr>
            <a:spLocks noGrp="1"/>
          </p:cNvSpPr>
          <p:nvPr>
            <p:ph type="body" idx="1"/>
          </p:nvPr>
        </p:nvSpPr>
        <p:spPr>
          <a:xfrm>
            <a:off x="822325" y="6950075"/>
            <a:ext cx="6584950" cy="6583363"/>
          </a:xfrm>
          <a:prstGeom prst="rect"/>
        </p:spPr>
        <p:txBody>
          <a:bodyPr/>
          <a:p>
            <a:endParaRPr dirty="0" lang="en-US"/>
          </a:p>
        </p:txBody>
      </p:sp>
      <p:sp>
        <p:nvSpPr>
          <p:cNvPr id="1048984"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9003" name="Slide Image Placeholder 1"/>
          <p:cNvSpPr>
            <a:spLocks noChangeAspect="1" noRot="1" noGrp="1"/>
          </p:cNvSpPr>
          <p:nvPr>
            <p:ph type="sldImg"/>
          </p:nvPr>
        </p:nvSpPr>
        <p:spPr>
          <a:xfrm>
            <a:off x="-762000" y="1096963"/>
            <a:ext cx="9753600" cy="5486400"/>
          </a:xfrm>
          <a:prstGeom prst="rect"/>
        </p:spPr>
      </p:sp>
      <p:sp>
        <p:nvSpPr>
          <p:cNvPr id="1049004" name="Notes Placeholder 2"/>
          <p:cNvSpPr>
            <a:spLocks noGrp="1"/>
          </p:cNvSpPr>
          <p:nvPr>
            <p:ph type="body" idx="1"/>
          </p:nvPr>
        </p:nvSpPr>
        <p:spPr>
          <a:xfrm>
            <a:off x="822325" y="6950075"/>
            <a:ext cx="6584950" cy="6583363"/>
          </a:xfrm>
          <a:prstGeom prst="rect"/>
        </p:spPr>
        <p:txBody>
          <a:bodyPr/>
          <a:p>
            <a:endParaRPr dirty="0" lang="en-US"/>
          </a:p>
        </p:txBody>
      </p:sp>
      <p:sp>
        <p:nvSpPr>
          <p:cNvPr id="1049005"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17" name=""/>
        <p:cNvGrpSpPr/>
        <p:nvPr/>
      </p:nvGrpSpPr>
      <p:grpSpPr>
        <a:xfrm>
          <a:off x="0" y="0"/>
          <a:ext cx="0" cy="0"/>
          <a:chOff x="0" y="0"/>
          <a:chExt cx="0" cy="0"/>
        </a:xfrm>
      </p:grpSpPr>
      <p:sp>
        <p:nvSpPr>
          <p:cNvPr id="1049024" name="Slide Image Placeholder 1"/>
          <p:cNvSpPr>
            <a:spLocks noChangeAspect="1" noRot="1" noGrp="1"/>
          </p:cNvSpPr>
          <p:nvPr>
            <p:ph type="sldImg"/>
          </p:nvPr>
        </p:nvSpPr>
        <p:spPr>
          <a:xfrm>
            <a:off x="-762000" y="1096963"/>
            <a:ext cx="9753600" cy="5486400"/>
          </a:xfrm>
          <a:prstGeom prst="rect"/>
        </p:spPr>
      </p:sp>
      <p:sp>
        <p:nvSpPr>
          <p:cNvPr id="1049025" name="Notes Placeholder 2"/>
          <p:cNvSpPr>
            <a:spLocks noGrp="1"/>
          </p:cNvSpPr>
          <p:nvPr>
            <p:ph type="body" idx="1"/>
          </p:nvPr>
        </p:nvSpPr>
        <p:spPr>
          <a:xfrm>
            <a:off x="822325" y="6950075"/>
            <a:ext cx="6584950" cy="6583363"/>
          </a:xfrm>
          <a:prstGeom prst="rect"/>
        </p:spPr>
        <p:txBody>
          <a:bodyPr/>
          <a:p>
            <a:endParaRPr dirty="0" lang="en-US"/>
          </a:p>
        </p:txBody>
      </p:sp>
      <p:sp>
        <p:nvSpPr>
          <p:cNvPr id="1049026"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9042" name="Slide Image Placeholder 1"/>
          <p:cNvSpPr>
            <a:spLocks noChangeAspect="1" noRot="1" noGrp="1"/>
          </p:cNvSpPr>
          <p:nvPr>
            <p:ph type="sldImg"/>
          </p:nvPr>
        </p:nvSpPr>
        <p:spPr>
          <a:xfrm>
            <a:off x="-762000" y="1096963"/>
            <a:ext cx="9753600" cy="5486400"/>
          </a:xfrm>
          <a:prstGeom prst="rect"/>
        </p:spPr>
      </p:sp>
      <p:sp>
        <p:nvSpPr>
          <p:cNvPr id="1049043" name="Notes Placeholder 2"/>
          <p:cNvSpPr>
            <a:spLocks noGrp="1"/>
          </p:cNvSpPr>
          <p:nvPr>
            <p:ph type="body" idx="1"/>
          </p:nvPr>
        </p:nvSpPr>
        <p:spPr>
          <a:xfrm>
            <a:off x="822325" y="6950075"/>
            <a:ext cx="6584950" cy="6583363"/>
          </a:xfrm>
          <a:prstGeom prst="rect"/>
        </p:spPr>
        <p:txBody>
          <a:bodyPr/>
          <a:p>
            <a:endParaRPr dirty="0" lang="en-US"/>
          </a:p>
        </p:txBody>
      </p:sp>
      <p:sp>
        <p:nvSpPr>
          <p:cNvPr id="1049044"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9047" name="Slide Image Placeholder 1"/>
          <p:cNvSpPr>
            <a:spLocks noChangeAspect="1" noRot="1" noGrp="1"/>
          </p:cNvSpPr>
          <p:nvPr>
            <p:ph type="sldImg"/>
          </p:nvPr>
        </p:nvSpPr>
        <p:spPr>
          <a:xfrm>
            <a:off x="-762000" y="1096963"/>
            <a:ext cx="9753600" cy="5486400"/>
          </a:xfrm>
          <a:prstGeom prst="rect"/>
        </p:spPr>
      </p:sp>
      <p:sp>
        <p:nvSpPr>
          <p:cNvPr id="1049048" name="Notes Placeholder 2"/>
          <p:cNvSpPr>
            <a:spLocks noGrp="1"/>
          </p:cNvSpPr>
          <p:nvPr>
            <p:ph type="body" idx="1"/>
          </p:nvPr>
        </p:nvSpPr>
        <p:spPr>
          <a:xfrm>
            <a:off x="822325" y="6950075"/>
            <a:ext cx="6584950" cy="6583363"/>
          </a:xfrm>
          <a:prstGeom prst="rect"/>
        </p:spPr>
        <p:txBody>
          <a:bodyPr/>
          <a:p>
            <a:endParaRPr dirty="0" lang="en-US"/>
          </a:p>
        </p:txBody>
      </p:sp>
      <p:sp>
        <p:nvSpPr>
          <p:cNvPr id="1049049" name="Slide Number Placeholder 3"/>
          <p:cNvSpPr>
            <a:spLocks noGrp="1"/>
          </p:cNvSpPr>
          <p:nvPr>
            <p:ph type="sldNum" sz="quarter" idx="10"/>
          </p:nvPr>
        </p:nvSpPr>
        <p:spPr>
          <a:xfrm>
            <a:off x="4660900" y="13896975"/>
            <a:ext cx="3567113" cy="730250"/>
          </a:xfrm>
          <a:prstGeom prst="rect"/>
        </p:spPr>
        <p:txBody>
          <a:bodyPr/>
          <a:p>
            <a:fld id="{F7021451-1387-4CA6-816F-3879F97B5CBC}" type="slidenum">
              <a:rPr lang="en-US"/>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hyperlink" Target="https://gamma.app/?utm_source=made-with-gamma" TargetMode="External"/><Relationship Id="rId2" Type="http://schemas.openxmlformats.org/officeDocument/2006/relationships/image" Target="../media/image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24"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24" name=""/>
        <p:cNvGrpSpPr/>
        <p:nvPr/>
      </p:nvGrpSpPr>
      <p:grpSpPr>
        <a:xfrm>
          <a:off x="0" y="0"/>
          <a:ext cx="0" cy="0"/>
          <a:chOff x="0" y="0"/>
          <a:chExt cx="0" cy="0"/>
        </a:xfrm>
      </p:grpSpPr>
      <p:sp>
        <p:nvSpPr>
          <p:cNvPr id="1048576" name="Shape 0"/>
          <p:cNvSpPr/>
          <p:nvPr/>
        </p:nvSpPr>
        <p:spPr>
          <a:xfrm>
            <a:off x="0" y="0"/>
            <a:ext cx="14630400" cy="8229600"/>
          </a:xfrm>
          <a:prstGeom prst="rect"/>
          <a:solidFill>
            <a:srgbClr val="DEC8AB"/>
          </a:solidFill>
        </p:spPr>
      </p:sp>
      <p:sp>
        <p:nvSpPr>
          <p:cNvPr id="1048577" name="Shape 1"/>
          <p:cNvSpPr/>
          <p:nvPr/>
        </p:nvSpPr>
        <p:spPr>
          <a:xfrm>
            <a:off x="0" y="0"/>
            <a:ext cx="14630400" cy="8229600"/>
          </a:xfrm>
          <a:prstGeom prst="rect"/>
          <a:solidFill>
            <a:srgbClr val="FFFFF4">
              <a:alpha val="95000"/>
            </a:srgbClr>
          </a:solidFill>
        </p:spPr>
      </p:sp>
      <p:pic>
        <p:nvPicPr>
          <p:cNvPr id="2097152"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43" name=""/>
        <p:cNvGrpSpPr/>
        <p:nvPr/>
      </p:nvGrpSpPr>
      <p:grpSpPr>
        <a:xfrm>
          <a:off x="0" y="0"/>
          <a:ext cx="0" cy="0"/>
          <a:chOff x="0" y="0"/>
          <a:chExt cx="0" cy="0"/>
        </a:xfrm>
      </p:grpSpPr>
      <p:sp>
        <p:nvSpPr>
          <p:cNvPr id="1048584" name="Shape 0"/>
          <p:cNvSpPr/>
          <p:nvPr/>
        </p:nvSpPr>
        <p:spPr>
          <a:xfrm>
            <a:off x="0" y="0"/>
            <a:ext cx="14630400" cy="8229600"/>
          </a:xfrm>
          <a:prstGeom prst="rect"/>
          <a:solidFill>
            <a:srgbClr val="DEC8AB"/>
          </a:solidFill>
        </p:spPr>
      </p:sp>
      <p:sp>
        <p:nvSpPr>
          <p:cNvPr id="1048585" name="Shape 1"/>
          <p:cNvSpPr/>
          <p:nvPr/>
        </p:nvSpPr>
        <p:spPr>
          <a:xfrm>
            <a:off x="0" y="0"/>
            <a:ext cx="14630400" cy="8229600"/>
          </a:xfrm>
          <a:prstGeom prst="rect"/>
          <a:solidFill>
            <a:srgbClr val="FFFFF4">
              <a:alpha val="95000"/>
            </a:srgbClr>
          </a:solidFill>
        </p:spPr>
      </p:sp>
      <p:pic>
        <p:nvPicPr>
          <p:cNvPr id="2097154"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47" name=""/>
        <p:cNvGrpSpPr/>
        <p:nvPr/>
      </p:nvGrpSpPr>
      <p:grpSpPr>
        <a:xfrm>
          <a:off x="0" y="0"/>
          <a:ext cx="0" cy="0"/>
          <a:chOff x="0" y="0"/>
          <a:chExt cx="0" cy="0"/>
        </a:xfrm>
      </p:grpSpPr>
      <p:sp>
        <p:nvSpPr>
          <p:cNvPr id="1048622" name="Shape 0"/>
          <p:cNvSpPr/>
          <p:nvPr/>
        </p:nvSpPr>
        <p:spPr>
          <a:xfrm>
            <a:off x="0" y="0"/>
            <a:ext cx="14630400" cy="8229600"/>
          </a:xfrm>
          <a:prstGeom prst="rect"/>
          <a:solidFill>
            <a:srgbClr val="DEC8AB"/>
          </a:solidFill>
        </p:spPr>
      </p:sp>
      <p:sp>
        <p:nvSpPr>
          <p:cNvPr id="1048623" name="Shape 1"/>
          <p:cNvSpPr/>
          <p:nvPr/>
        </p:nvSpPr>
        <p:spPr>
          <a:xfrm>
            <a:off x="0" y="0"/>
            <a:ext cx="14630400" cy="8229600"/>
          </a:xfrm>
          <a:prstGeom prst="rect"/>
          <a:solidFill>
            <a:srgbClr val="FFFFF4">
              <a:alpha val="95000"/>
            </a:srgbClr>
          </a:solidFill>
        </p:spPr>
      </p:sp>
      <p:pic>
        <p:nvPicPr>
          <p:cNvPr id="2097155"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51" name=""/>
        <p:cNvGrpSpPr/>
        <p:nvPr/>
      </p:nvGrpSpPr>
      <p:grpSpPr>
        <a:xfrm>
          <a:off x="0" y="0"/>
          <a:ext cx="0" cy="0"/>
          <a:chOff x="0" y="0"/>
          <a:chExt cx="0" cy="0"/>
        </a:xfrm>
      </p:grpSpPr>
      <p:sp>
        <p:nvSpPr>
          <p:cNvPr id="1048633" name="Shape 0"/>
          <p:cNvSpPr/>
          <p:nvPr/>
        </p:nvSpPr>
        <p:spPr>
          <a:xfrm>
            <a:off x="0" y="0"/>
            <a:ext cx="14630400" cy="8229600"/>
          </a:xfrm>
          <a:prstGeom prst="rect"/>
          <a:solidFill>
            <a:srgbClr val="DEC8AB"/>
          </a:solidFill>
        </p:spPr>
      </p:sp>
      <p:sp>
        <p:nvSpPr>
          <p:cNvPr id="1048634" name="Shape 1"/>
          <p:cNvSpPr/>
          <p:nvPr/>
        </p:nvSpPr>
        <p:spPr>
          <a:xfrm>
            <a:off x="0" y="0"/>
            <a:ext cx="14630400" cy="8229600"/>
          </a:xfrm>
          <a:prstGeom prst="rect"/>
          <a:solidFill>
            <a:srgbClr val="FFFFF4">
              <a:alpha val="95000"/>
            </a:srgbClr>
          </a:solidFill>
        </p:spPr>
      </p:sp>
      <p:pic>
        <p:nvPicPr>
          <p:cNvPr id="2097157"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55" name=""/>
        <p:cNvGrpSpPr/>
        <p:nvPr/>
      </p:nvGrpSpPr>
      <p:grpSpPr>
        <a:xfrm>
          <a:off x="0" y="0"/>
          <a:ext cx="0" cy="0"/>
          <a:chOff x="0" y="0"/>
          <a:chExt cx="0" cy="0"/>
        </a:xfrm>
      </p:grpSpPr>
      <p:sp>
        <p:nvSpPr>
          <p:cNvPr id="1048651" name="Shape 0"/>
          <p:cNvSpPr/>
          <p:nvPr/>
        </p:nvSpPr>
        <p:spPr>
          <a:xfrm>
            <a:off x="0" y="0"/>
            <a:ext cx="14630400" cy="8229600"/>
          </a:xfrm>
          <a:prstGeom prst="rect"/>
          <a:solidFill>
            <a:srgbClr val="DEC8AB"/>
          </a:solidFill>
        </p:spPr>
      </p:sp>
      <p:sp>
        <p:nvSpPr>
          <p:cNvPr id="1048652" name="Shape 1"/>
          <p:cNvSpPr/>
          <p:nvPr/>
        </p:nvSpPr>
        <p:spPr>
          <a:xfrm>
            <a:off x="0" y="0"/>
            <a:ext cx="14630400" cy="8229600"/>
          </a:xfrm>
          <a:prstGeom prst="rect"/>
          <a:solidFill>
            <a:srgbClr val="FFFFF4">
              <a:alpha val="95000"/>
            </a:srgbClr>
          </a:solidFill>
        </p:spPr>
      </p:sp>
      <p:pic>
        <p:nvPicPr>
          <p:cNvPr id="2097162"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59" name=""/>
        <p:cNvGrpSpPr/>
        <p:nvPr/>
      </p:nvGrpSpPr>
      <p:grpSpPr>
        <a:xfrm>
          <a:off x="0" y="0"/>
          <a:ext cx="0" cy="0"/>
          <a:chOff x="0" y="0"/>
          <a:chExt cx="0" cy="0"/>
        </a:xfrm>
      </p:grpSpPr>
      <p:sp>
        <p:nvSpPr>
          <p:cNvPr id="1048683" name="Shape 0"/>
          <p:cNvSpPr/>
          <p:nvPr/>
        </p:nvSpPr>
        <p:spPr>
          <a:xfrm>
            <a:off x="0" y="0"/>
            <a:ext cx="14630400" cy="8229600"/>
          </a:xfrm>
          <a:prstGeom prst="rect"/>
          <a:solidFill>
            <a:srgbClr val="DEC8AB"/>
          </a:solidFill>
        </p:spPr>
      </p:sp>
      <p:sp>
        <p:nvSpPr>
          <p:cNvPr id="1048684" name="Shape 1"/>
          <p:cNvSpPr/>
          <p:nvPr/>
        </p:nvSpPr>
        <p:spPr>
          <a:xfrm>
            <a:off x="0" y="0"/>
            <a:ext cx="14630400" cy="8229600"/>
          </a:xfrm>
          <a:prstGeom prst="rect"/>
          <a:solidFill>
            <a:srgbClr val="FFFFF4">
              <a:alpha val="95000"/>
            </a:srgbClr>
          </a:solidFill>
        </p:spPr>
      </p:sp>
      <p:pic>
        <p:nvPicPr>
          <p:cNvPr id="2097163"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63" name=""/>
        <p:cNvGrpSpPr/>
        <p:nvPr/>
      </p:nvGrpSpPr>
      <p:grpSpPr>
        <a:xfrm>
          <a:off x="0" y="0"/>
          <a:ext cx="0" cy="0"/>
          <a:chOff x="0" y="0"/>
          <a:chExt cx="0" cy="0"/>
        </a:xfrm>
      </p:grpSpPr>
      <p:sp>
        <p:nvSpPr>
          <p:cNvPr id="1048699" name="Shape 0"/>
          <p:cNvSpPr/>
          <p:nvPr/>
        </p:nvSpPr>
        <p:spPr>
          <a:xfrm>
            <a:off x="0" y="0"/>
            <a:ext cx="14630400" cy="8229600"/>
          </a:xfrm>
          <a:prstGeom prst="rect"/>
          <a:solidFill>
            <a:srgbClr val="DEC8AB"/>
          </a:solidFill>
        </p:spPr>
      </p:sp>
      <p:sp>
        <p:nvSpPr>
          <p:cNvPr id="1048700" name="Shape 1"/>
          <p:cNvSpPr/>
          <p:nvPr/>
        </p:nvSpPr>
        <p:spPr>
          <a:xfrm>
            <a:off x="0" y="0"/>
            <a:ext cx="14630400" cy="8229600"/>
          </a:xfrm>
          <a:prstGeom prst="rect"/>
          <a:solidFill>
            <a:srgbClr val="FFFFF4">
              <a:alpha val="95000"/>
            </a:srgbClr>
          </a:solidFill>
        </p:spPr>
      </p:sp>
      <p:pic>
        <p:nvPicPr>
          <p:cNvPr id="2097168"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67" name=""/>
        <p:cNvGrpSpPr/>
        <p:nvPr/>
      </p:nvGrpSpPr>
      <p:grpSpPr>
        <a:xfrm>
          <a:off x="0" y="0"/>
          <a:ext cx="0" cy="0"/>
          <a:chOff x="0" y="0"/>
          <a:chExt cx="0" cy="0"/>
        </a:xfrm>
      </p:grpSpPr>
      <p:sp>
        <p:nvSpPr>
          <p:cNvPr id="1048714" name="Shape 0"/>
          <p:cNvSpPr/>
          <p:nvPr/>
        </p:nvSpPr>
        <p:spPr>
          <a:xfrm>
            <a:off x="0" y="0"/>
            <a:ext cx="14630400" cy="8229600"/>
          </a:xfrm>
          <a:prstGeom prst="rect"/>
          <a:solidFill>
            <a:srgbClr val="DEC8AB"/>
          </a:solidFill>
        </p:spPr>
      </p:sp>
      <p:sp>
        <p:nvSpPr>
          <p:cNvPr id="1048715" name="Shape 1"/>
          <p:cNvSpPr/>
          <p:nvPr/>
        </p:nvSpPr>
        <p:spPr>
          <a:xfrm>
            <a:off x="0" y="0"/>
            <a:ext cx="14630400" cy="8229600"/>
          </a:xfrm>
          <a:prstGeom prst="rect"/>
          <a:solidFill>
            <a:srgbClr val="FFFFF4">
              <a:alpha val="95000"/>
            </a:srgbClr>
          </a:solidFill>
        </p:spPr>
      </p:sp>
      <p:pic>
        <p:nvPicPr>
          <p:cNvPr id="2097173"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71" name=""/>
        <p:cNvGrpSpPr/>
        <p:nvPr/>
      </p:nvGrpSpPr>
      <p:grpSpPr>
        <a:xfrm>
          <a:off x="0" y="0"/>
          <a:ext cx="0" cy="0"/>
          <a:chOff x="0" y="0"/>
          <a:chExt cx="0" cy="0"/>
        </a:xfrm>
      </p:grpSpPr>
      <p:sp>
        <p:nvSpPr>
          <p:cNvPr id="1048738" name="Shape 0"/>
          <p:cNvSpPr/>
          <p:nvPr/>
        </p:nvSpPr>
        <p:spPr>
          <a:xfrm>
            <a:off x="0" y="0"/>
            <a:ext cx="14630400" cy="8229600"/>
          </a:xfrm>
          <a:prstGeom prst="rect"/>
          <a:solidFill>
            <a:srgbClr val="DEC8AB"/>
          </a:solidFill>
        </p:spPr>
      </p:sp>
      <p:sp>
        <p:nvSpPr>
          <p:cNvPr id="1048739" name="Shape 1"/>
          <p:cNvSpPr/>
          <p:nvPr/>
        </p:nvSpPr>
        <p:spPr>
          <a:xfrm>
            <a:off x="0" y="0"/>
            <a:ext cx="14630400" cy="8229600"/>
          </a:xfrm>
          <a:prstGeom prst="rect"/>
          <a:solidFill>
            <a:srgbClr val="FFFFF4">
              <a:alpha val="95000"/>
            </a:srgbClr>
          </a:solidFill>
        </p:spPr>
      </p:sp>
      <p:pic>
        <p:nvPicPr>
          <p:cNvPr id="2097175"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75" name=""/>
        <p:cNvGrpSpPr/>
        <p:nvPr/>
      </p:nvGrpSpPr>
      <p:grpSpPr>
        <a:xfrm>
          <a:off x="0" y="0"/>
          <a:ext cx="0" cy="0"/>
          <a:chOff x="0" y="0"/>
          <a:chExt cx="0" cy="0"/>
        </a:xfrm>
      </p:grpSpPr>
      <p:sp>
        <p:nvSpPr>
          <p:cNvPr id="1048762" name="Shape 0"/>
          <p:cNvSpPr/>
          <p:nvPr/>
        </p:nvSpPr>
        <p:spPr>
          <a:xfrm>
            <a:off x="0" y="0"/>
            <a:ext cx="14630400" cy="8229600"/>
          </a:xfrm>
          <a:prstGeom prst="rect"/>
          <a:solidFill>
            <a:srgbClr val="DEC8AB"/>
          </a:solidFill>
        </p:spPr>
      </p:sp>
      <p:sp>
        <p:nvSpPr>
          <p:cNvPr id="1048763" name="Shape 1"/>
          <p:cNvSpPr/>
          <p:nvPr/>
        </p:nvSpPr>
        <p:spPr>
          <a:xfrm>
            <a:off x="0" y="0"/>
            <a:ext cx="14630400" cy="8229600"/>
          </a:xfrm>
          <a:prstGeom prst="rect"/>
          <a:solidFill>
            <a:srgbClr val="FFFFF4">
              <a:alpha val="95000"/>
            </a:srgbClr>
          </a:solidFill>
        </p:spPr>
      </p:sp>
      <p:pic>
        <p:nvPicPr>
          <p:cNvPr id="2097177" name="Image 0" descr="preencoded.png">
            <a:hlinkClick r:id="rId1"/>
          </p:cNvPr>
          <p:cNvPicPr>
            <a:picLocks noChangeAspect="1"/>
          </p:cNvPicPr>
          <p:nvPr/>
        </p:nvPicPr>
        <p:blipFill>
          <a:blip xmlns:r="http://schemas.openxmlformats.org/officeDocument/2006/relationships" r:embed="rId2"/>
          <a:stretch>
            <a:fillRect/>
          </a:stretch>
        </p:blipFill>
        <p:spPr>
          <a:xfrm>
            <a:off x="12839215" y="7749540"/>
            <a:ext cx="1722605" cy="411480"/>
          </a:xfrm>
          <a:prstGeom prst="rect"/>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5.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slideLayout" Target="../slideLayouts/slideLayout8.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slideLayout" Target="../slideLayouts/slideLayout9.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5.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5" name=""/>
        <p:cNvGrpSpPr/>
        <p:nvPr/>
      </p:nvGrpSpPr>
      <p:grpSpPr>
        <a:xfrm>
          <a:off x="0" y="0"/>
          <a:ext cx="0" cy="0"/>
          <a:chOff x="0" y="0"/>
          <a:chExt cx="0" cy="0"/>
        </a:xfrm>
      </p:grpSpPr>
      <p:pic>
        <p:nvPicPr>
          <p:cNvPr id="2097153" name="Image 0" descr="preencoded.png"/>
          <p:cNvPicPr>
            <a:picLocks noChangeAspect="1"/>
          </p:cNvPicPr>
          <p:nvPr/>
        </p:nvPicPr>
        <p:blipFill>
          <a:blip xmlns:r="http://schemas.openxmlformats.org/officeDocument/2006/relationships" r:embed="rId1"/>
          <a:stretch>
            <a:fillRect/>
          </a:stretch>
        </p:blipFill>
        <p:spPr>
          <a:xfrm>
            <a:off x="0" y="0"/>
            <a:ext cx="5760720" cy="8229600"/>
          </a:xfrm>
          <a:prstGeom prst="rect"/>
        </p:spPr>
      </p:pic>
      <p:sp>
        <p:nvSpPr>
          <p:cNvPr id="1048578" name="Text 0"/>
          <p:cNvSpPr/>
          <p:nvPr/>
        </p:nvSpPr>
        <p:spPr>
          <a:xfrm>
            <a:off x="6280190" y="2527221"/>
            <a:ext cx="7556421" cy="1695450"/>
          </a:xfrm>
          <a:prstGeom prst="rect"/>
          <a:noFill/>
        </p:spPr>
        <p:txBody>
          <a:bodyPr anchor="t" bIns="0" lIns="0" rIns="0" rtlCol="0" tIns="0" wrap="square"/>
          <a:p>
            <a:pPr algn="l" indent="0" marL="0">
              <a:lnSpc>
                <a:spcPts val="6650"/>
              </a:lnSpc>
              <a:buNone/>
            </a:pPr>
            <a:r>
              <a:rPr dirty="0" sz="5100" lang="en-US">
                <a:solidFill>
                  <a:srgbClr val="532418"/>
                </a:solidFill>
                <a:latin typeface="Marcellus" pitchFamily="34" charset="0"/>
                <a:ea typeface="Marcellus" pitchFamily="34" charset="-122"/>
                <a:cs typeface="Marcellus" pitchFamily="34" charset="-120"/>
              </a:rPr>
              <a:t>Inventory Monitoring and Reporting System</a:t>
            </a:r>
            <a:endParaRPr dirty="0" sz="5100" lang="en-US"/>
          </a:p>
        </p:txBody>
      </p:sp>
      <p:sp>
        <p:nvSpPr>
          <p:cNvPr id="1048579" name="Text 1"/>
          <p:cNvSpPr/>
          <p:nvPr/>
        </p:nvSpPr>
        <p:spPr>
          <a:xfrm>
            <a:off x="6280190" y="4562832"/>
            <a:ext cx="7556421" cy="589598"/>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A comprehensive web-based solution for efficient stock management and real-time tracking</a:t>
            </a:r>
            <a:endParaRPr dirty="0" sz="1750" lang="en-US"/>
          </a:p>
        </p:txBody>
      </p:sp>
      <p:sp>
        <p:nvSpPr>
          <p:cNvPr id="1048580" name="Text 2"/>
          <p:cNvSpPr/>
          <p:nvPr/>
        </p:nvSpPr>
        <p:spPr>
          <a:xfrm>
            <a:off x="6280190" y="5407581"/>
            <a:ext cx="7556421" cy="294799"/>
          </a:xfrm>
          <a:prstGeom prst="rect"/>
          <a:noFill/>
        </p:spPr>
        <p:txBody>
          <a:bodyPr anchor="t" bIns="0" lIns="0" rIns="0" rtlCol="0" tIns="0" wrap="none"/>
          <a:p>
            <a:pPr algn="l" indent="0" marL="0">
              <a:lnSpc>
                <a:spcPts val="2300"/>
              </a:lnSpc>
              <a:buNone/>
            </a:pPr>
            <a:r>
              <a:rPr b="1" dirty="0" sz="1750" lang="en-US">
                <a:solidFill>
                  <a:srgbClr val="67534F"/>
                </a:solidFill>
                <a:latin typeface="Montserrat" pitchFamily="34" charset="0"/>
                <a:ea typeface="Montserrat" pitchFamily="34" charset="-122"/>
                <a:cs typeface="Montserrat" pitchFamily="34" charset="-120"/>
              </a:rPr>
              <a:t>Presented by:</a:t>
            </a:r>
            <a:r>
              <a:rPr dirty="0" sz="1750" lang="en-US">
                <a:solidFill>
                  <a:srgbClr val="67534F"/>
                </a:solidFill>
                <a:latin typeface="Montserrat" pitchFamily="34" charset="0"/>
                <a:ea typeface="Montserrat" pitchFamily="34" charset="-122"/>
                <a:cs typeface="Montserrat" pitchFamily="34" charset="-120"/>
              </a:rPr>
              <a:t> </a:t>
            </a:r>
            <a:r>
              <a:rPr dirty="0" sz="1750" lang="en-US">
                <a:solidFill>
                  <a:srgbClr val="67534F"/>
                </a:solidFill>
                <a:latin typeface="Montserrat" pitchFamily="34" charset="0"/>
                <a:ea typeface="Montserrat" pitchFamily="34" charset="-122"/>
                <a:cs typeface="Montserrat" pitchFamily="34" charset="-120"/>
              </a:rPr>
              <a:t>M</a:t>
            </a:r>
            <a:r>
              <a:rPr dirty="0" sz="1750" lang="en-US">
                <a:solidFill>
                  <a:srgbClr val="67534F"/>
                </a:solidFill>
                <a:latin typeface="Montserrat" pitchFamily="34" charset="0"/>
                <a:ea typeface="Montserrat" pitchFamily="34" charset="-122"/>
                <a:cs typeface="Montserrat" pitchFamily="34" charset="-120"/>
              </a:rPr>
              <a:t> </a:t>
            </a:r>
            <a:r>
              <a:rPr dirty="0" sz="1750" lang="en-US">
                <a:solidFill>
                  <a:srgbClr val="67534F"/>
                </a:solidFill>
                <a:latin typeface="Montserrat" pitchFamily="34" charset="0"/>
                <a:ea typeface="Montserrat" pitchFamily="34" charset="-122"/>
                <a:cs typeface="Montserrat" pitchFamily="34" charset="-120"/>
              </a:rPr>
              <a:t>R</a:t>
            </a:r>
            <a:r>
              <a:rPr dirty="0" sz="1750" lang="en-US">
                <a:solidFill>
                  <a:srgbClr val="67534F"/>
                </a:solidFill>
                <a:latin typeface="Montserrat" pitchFamily="34" charset="0"/>
                <a:ea typeface="Montserrat" pitchFamily="34" charset="-122"/>
                <a:cs typeface="Montserrat" pitchFamily="34" charset="-120"/>
              </a:rPr>
              <a:t>e</a:t>
            </a:r>
            <a:r>
              <a:rPr dirty="0" sz="1750" lang="en-US">
                <a:solidFill>
                  <a:srgbClr val="67534F"/>
                </a:solidFill>
                <a:latin typeface="Montserrat" pitchFamily="34" charset="0"/>
                <a:ea typeface="Montserrat" pitchFamily="34" charset="-122"/>
                <a:cs typeface="Montserrat" pitchFamily="34" charset="-120"/>
              </a:rPr>
              <a:t>k</a:t>
            </a:r>
            <a:r>
              <a:rPr dirty="0" sz="1750" lang="en-US">
                <a:solidFill>
                  <a:srgbClr val="67534F"/>
                </a:solidFill>
                <a:latin typeface="Montserrat" pitchFamily="34" charset="0"/>
                <a:ea typeface="Montserrat" pitchFamily="34" charset="-122"/>
                <a:cs typeface="Montserrat" pitchFamily="34" charset="-120"/>
              </a:rPr>
              <a:t>h</a:t>
            </a:r>
            <a:r>
              <a:rPr dirty="0" sz="1750" lang="en-US">
                <a:solidFill>
                  <a:srgbClr val="67534F"/>
                </a:solidFill>
                <a:latin typeface="Montserrat" pitchFamily="34" charset="0"/>
                <a:ea typeface="Montserrat" pitchFamily="34" charset="-122"/>
                <a:cs typeface="Montserrat" pitchFamily="34" charset="-120"/>
              </a:rPr>
              <a:t>a</a:t>
            </a:r>
            <a:r>
              <a:rPr dirty="0" sz="1750" lang="en-US">
                <a:solidFill>
                  <a:srgbClr val="67534F"/>
                </a:solidFill>
                <a:latin typeface="Montserrat" pitchFamily="34" charset="0"/>
                <a:ea typeface="Montserrat" pitchFamily="34" charset="-122"/>
                <a:cs typeface="Montserrat" pitchFamily="34" charset="-120"/>
              </a:rPr>
              <a:t> </a:t>
            </a:r>
            <a:r>
              <a:rPr dirty="0" sz="1750" lang="en-US">
                <a:solidFill>
                  <a:srgbClr val="67534F"/>
                </a:solidFill>
                <a:latin typeface="Montserrat" pitchFamily="34" charset="0"/>
                <a:ea typeface="Montserrat" pitchFamily="34" charset="-122"/>
                <a:cs typeface="Montserrat" pitchFamily="34" charset="-120"/>
              </a:rPr>
              <a:t>|</a:t>
            </a:r>
            <a:r>
              <a:rPr dirty="0" sz="1750" lang="en-US">
                <a:solidFill>
                  <a:srgbClr val="67534F"/>
                </a:solidFill>
                <a:latin typeface="Montserrat" pitchFamily="34" charset="0"/>
                <a:ea typeface="Montserrat" pitchFamily="34" charset="-122"/>
                <a:cs typeface="Montserrat" pitchFamily="34" charset="-120"/>
              </a:rPr>
              <a:t> Batch-13 | Infosys Springboard</a:t>
            </a:r>
            <a:endParaRPr dirty="0" sz="1750" lang="en-US"/>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44" name=""/>
        <p:cNvGrpSpPr/>
        <p:nvPr/>
      </p:nvGrpSpPr>
      <p:grpSpPr>
        <a:xfrm>
          <a:off x="0" y="0"/>
          <a:ext cx="0" cy="0"/>
          <a:chOff x="0" y="0"/>
          <a:chExt cx="0" cy="0"/>
        </a:xfrm>
      </p:grpSpPr>
      <p:sp>
        <p:nvSpPr>
          <p:cNvPr id="1048586" name="Text 0"/>
          <p:cNvSpPr/>
          <p:nvPr/>
        </p:nvSpPr>
        <p:spPr>
          <a:xfrm>
            <a:off x="773787" y="629603"/>
            <a:ext cx="5720834" cy="743664"/>
          </a:xfrm>
          <a:prstGeom prst="rect"/>
          <a:noFill/>
        </p:spPr>
        <p:txBody>
          <a:bodyPr anchor="t" bIns="0" lIns="0" rIns="0" rtlCol="0" tIns="0" wrap="none"/>
          <a:p>
            <a:pPr algn="l" indent="0" marL="0">
              <a:lnSpc>
                <a:spcPts val="5850"/>
              </a:lnSpc>
              <a:buNone/>
            </a:pPr>
            <a:r>
              <a:rPr dirty="0" sz="4500" lang="en-US">
                <a:solidFill>
                  <a:srgbClr val="532418"/>
                </a:solidFill>
                <a:latin typeface="Marcellus" pitchFamily="34" charset="0"/>
                <a:ea typeface="Marcellus" pitchFamily="34" charset="-122"/>
                <a:cs typeface="Marcellus" pitchFamily="34" charset="-120"/>
              </a:rPr>
              <a:t>Table of Contents</a:t>
            </a:r>
            <a:endParaRPr dirty="0" sz="4500" lang="en-US"/>
          </a:p>
        </p:txBody>
      </p:sp>
      <p:sp>
        <p:nvSpPr>
          <p:cNvPr id="1048587" name="Text 1"/>
          <p:cNvSpPr/>
          <p:nvPr/>
        </p:nvSpPr>
        <p:spPr>
          <a:xfrm>
            <a:off x="773787" y="1722358"/>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01</a:t>
            </a:r>
            <a:endParaRPr dirty="0" sz="1550" lang="en-US"/>
          </a:p>
        </p:txBody>
      </p:sp>
      <p:sp>
        <p:nvSpPr>
          <p:cNvPr id="1048588" name="Shape 2"/>
          <p:cNvSpPr/>
          <p:nvPr/>
        </p:nvSpPr>
        <p:spPr>
          <a:xfrm>
            <a:off x="773787" y="2047518"/>
            <a:ext cx="6454140" cy="22860"/>
          </a:xfrm>
          <a:prstGeom prst="rect"/>
          <a:solidFill>
            <a:srgbClr val="FF954F"/>
          </a:solidFill>
        </p:spPr>
      </p:sp>
      <p:sp>
        <p:nvSpPr>
          <p:cNvPr id="1048589" name="Text 3"/>
          <p:cNvSpPr/>
          <p:nvPr/>
        </p:nvSpPr>
        <p:spPr>
          <a:xfrm>
            <a:off x="773787" y="2192655"/>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Introduction</a:t>
            </a:r>
            <a:endParaRPr dirty="0" sz="2250" lang="en-US"/>
          </a:p>
        </p:txBody>
      </p:sp>
      <p:sp>
        <p:nvSpPr>
          <p:cNvPr id="1048590" name="Text 4"/>
          <p:cNvSpPr/>
          <p:nvPr/>
        </p:nvSpPr>
        <p:spPr>
          <a:xfrm>
            <a:off x="773787" y="2669024"/>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Project overview and core concepts</a:t>
            </a:r>
            <a:endParaRPr dirty="0" sz="1550" lang="en-US"/>
          </a:p>
        </p:txBody>
      </p:sp>
      <p:sp>
        <p:nvSpPr>
          <p:cNvPr id="1048591" name="Text 5"/>
          <p:cNvSpPr/>
          <p:nvPr/>
        </p:nvSpPr>
        <p:spPr>
          <a:xfrm>
            <a:off x="7402473" y="1722358"/>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02</a:t>
            </a:r>
            <a:endParaRPr dirty="0" sz="1550" lang="en-US"/>
          </a:p>
        </p:txBody>
      </p:sp>
      <p:sp>
        <p:nvSpPr>
          <p:cNvPr id="1048592" name="Shape 6"/>
          <p:cNvSpPr/>
          <p:nvPr/>
        </p:nvSpPr>
        <p:spPr>
          <a:xfrm>
            <a:off x="7402473" y="2047518"/>
            <a:ext cx="6454140" cy="22860"/>
          </a:xfrm>
          <a:prstGeom prst="rect"/>
          <a:solidFill>
            <a:srgbClr val="FF954F"/>
          </a:solidFill>
        </p:spPr>
      </p:sp>
      <p:sp>
        <p:nvSpPr>
          <p:cNvPr id="1048593" name="Text 7"/>
          <p:cNvSpPr/>
          <p:nvPr/>
        </p:nvSpPr>
        <p:spPr>
          <a:xfrm>
            <a:off x="7402473" y="2192655"/>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Technology Stack</a:t>
            </a:r>
            <a:endParaRPr dirty="0" sz="2250" lang="en-US"/>
          </a:p>
        </p:txBody>
      </p:sp>
      <p:sp>
        <p:nvSpPr>
          <p:cNvPr id="1048594" name="Text 8"/>
          <p:cNvSpPr/>
          <p:nvPr/>
        </p:nvSpPr>
        <p:spPr>
          <a:xfrm>
            <a:off x="7402473" y="2669024"/>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Frontend, backend, and database technologies</a:t>
            </a:r>
            <a:endParaRPr dirty="0" sz="1550" lang="en-US"/>
          </a:p>
        </p:txBody>
      </p:sp>
      <p:sp>
        <p:nvSpPr>
          <p:cNvPr id="1048595" name="Text 9"/>
          <p:cNvSpPr/>
          <p:nvPr/>
        </p:nvSpPr>
        <p:spPr>
          <a:xfrm>
            <a:off x="773787" y="3235404"/>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03</a:t>
            </a:r>
            <a:endParaRPr dirty="0" sz="1550" lang="en-US"/>
          </a:p>
        </p:txBody>
      </p:sp>
      <p:sp>
        <p:nvSpPr>
          <p:cNvPr id="1048596" name="Shape 10"/>
          <p:cNvSpPr/>
          <p:nvPr/>
        </p:nvSpPr>
        <p:spPr>
          <a:xfrm>
            <a:off x="773787" y="3560564"/>
            <a:ext cx="6454140" cy="22860"/>
          </a:xfrm>
          <a:prstGeom prst="rect"/>
          <a:solidFill>
            <a:srgbClr val="FF954F"/>
          </a:solidFill>
        </p:spPr>
      </p:sp>
      <p:sp>
        <p:nvSpPr>
          <p:cNvPr id="1048597" name="Text 11"/>
          <p:cNvSpPr/>
          <p:nvPr/>
        </p:nvSpPr>
        <p:spPr>
          <a:xfrm>
            <a:off x="773787" y="3705701"/>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System Architecture</a:t>
            </a:r>
            <a:endParaRPr dirty="0" sz="2250" lang="en-US"/>
          </a:p>
        </p:txBody>
      </p:sp>
      <p:sp>
        <p:nvSpPr>
          <p:cNvPr id="1048598" name="Text 12"/>
          <p:cNvSpPr/>
          <p:nvPr/>
        </p:nvSpPr>
        <p:spPr>
          <a:xfrm>
            <a:off x="773787" y="4182070"/>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System design and component structure</a:t>
            </a:r>
            <a:endParaRPr dirty="0" sz="1550" lang="en-US"/>
          </a:p>
        </p:txBody>
      </p:sp>
      <p:sp>
        <p:nvSpPr>
          <p:cNvPr id="1048599" name="Text 13"/>
          <p:cNvSpPr/>
          <p:nvPr/>
        </p:nvSpPr>
        <p:spPr>
          <a:xfrm>
            <a:off x="7402473" y="3235404"/>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04</a:t>
            </a:r>
            <a:endParaRPr dirty="0" sz="1550" lang="en-US"/>
          </a:p>
        </p:txBody>
      </p:sp>
      <p:sp>
        <p:nvSpPr>
          <p:cNvPr id="1048600" name="Shape 14"/>
          <p:cNvSpPr/>
          <p:nvPr/>
        </p:nvSpPr>
        <p:spPr>
          <a:xfrm>
            <a:off x="7402473" y="3560564"/>
            <a:ext cx="6454140" cy="22860"/>
          </a:xfrm>
          <a:prstGeom prst="rect"/>
          <a:solidFill>
            <a:srgbClr val="FF954F"/>
          </a:solidFill>
        </p:spPr>
      </p:sp>
      <p:sp>
        <p:nvSpPr>
          <p:cNvPr id="1048601" name="Text 15"/>
          <p:cNvSpPr/>
          <p:nvPr/>
        </p:nvSpPr>
        <p:spPr>
          <a:xfrm>
            <a:off x="7402473" y="3705701"/>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Module Explanation</a:t>
            </a:r>
            <a:endParaRPr dirty="0" sz="2250" lang="en-US"/>
          </a:p>
        </p:txBody>
      </p:sp>
      <p:sp>
        <p:nvSpPr>
          <p:cNvPr id="1048602" name="Text 16"/>
          <p:cNvSpPr/>
          <p:nvPr/>
        </p:nvSpPr>
        <p:spPr>
          <a:xfrm>
            <a:off x="7402473" y="4182070"/>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Key system modules and functionalities</a:t>
            </a:r>
            <a:endParaRPr dirty="0" sz="1550" lang="en-US"/>
          </a:p>
        </p:txBody>
      </p:sp>
      <p:sp>
        <p:nvSpPr>
          <p:cNvPr id="1048603" name="Text 17"/>
          <p:cNvSpPr/>
          <p:nvPr/>
        </p:nvSpPr>
        <p:spPr>
          <a:xfrm>
            <a:off x="773787" y="4748451"/>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05</a:t>
            </a:r>
            <a:endParaRPr dirty="0" sz="1550" lang="en-US"/>
          </a:p>
        </p:txBody>
      </p:sp>
      <p:sp>
        <p:nvSpPr>
          <p:cNvPr id="1048604" name="Shape 18"/>
          <p:cNvSpPr/>
          <p:nvPr/>
        </p:nvSpPr>
        <p:spPr>
          <a:xfrm>
            <a:off x="773787" y="5073610"/>
            <a:ext cx="6454140" cy="22860"/>
          </a:xfrm>
          <a:prstGeom prst="rect"/>
          <a:solidFill>
            <a:srgbClr val="FF954F"/>
          </a:solidFill>
        </p:spPr>
      </p:sp>
      <p:sp>
        <p:nvSpPr>
          <p:cNvPr id="1048605" name="Text 19"/>
          <p:cNvSpPr/>
          <p:nvPr/>
        </p:nvSpPr>
        <p:spPr>
          <a:xfrm>
            <a:off x="773787" y="5218748"/>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Key Features</a:t>
            </a:r>
            <a:endParaRPr dirty="0" sz="2250" lang="en-US"/>
          </a:p>
        </p:txBody>
      </p:sp>
      <p:sp>
        <p:nvSpPr>
          <p:cNvPr id="1048606" name="Text 20"/>
          <p:cNvSpPr/>
          <p:nvPr/>
        </p:nvSpPr>
        <p:spPr>
          <a:xfrm>
            <a:off x="773787" y="5695117"/>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Core capabilities and benefits</a:t>
            </a:r>
            <a:endParaRPr dirty="0" sz="1550" lang="en-US"/>
          </a:p>
        </p:txBody>
      </p:sp>
      <p:sp>
        <p:nvSpPr>
          <p:cNvPr id="1048607" name="Text 21"/>
          <p:cNvSpPr/>
          <p:nvPr/>
        </p:nvSpPr>
        <p:spPr>
          <a:xfrm>
            <a:off x="7402473" y="4748451"/>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06</a:t>
            </a:r>
            <a:endParaRPr dirty="0" sz="1550" lang="en-US"/>
          </a:p>
        </p:txBody>
      </p:sp>
      <p:sp>
        <p:nvSpPr>
          <p:cNvPr id="1048608" name="Shape 22"/>
          <p:cNvSpPr/>
          <p:nvPr/>
        </p:nvSpPr>
        <p:spPr>
          <a:xfrm>
            <a:off x="7402473" y="5073610"/>
            <a:ext cx="6454140" cy="22860"/>
          </a:xfrm>
          <a:prstGeom prst="rect"/>
          <a:solidFill>
            <a:srgbClr val="FF954F"/>
          </a:solidFill>
        </p:spPr>
      </p:sp>
      <p:sp>
        <p:nvSpPr>
          <p:cNvPr id="1048609" name="Text 23"/>
          <p:cNvSpPr/>
          <p:nvPr/>
        </p:nvSpPr>
        <p:spPr>
          <a:xfrm>
            <a:off x="7402473" y="5218748"/>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Advantages</a:t>
            </a:r>
            <a:endParaRPr dirty="0" sz="2250" lang="en-US"/>
          </a:p>
        </p:txBody>
      </p:sp>
      <p:sp>
        <p:nvSpPr>
          <p:cNvPr id="1048610" name="Text 24"/>
          <p:cNvSpPr/>
          <p:nvPr/>
        </p:nvSpPr>
        <p:spPr>
          <a:xfrm>
            <a:off x="7402473" y="5695117"/>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Benefits over traditional methods</a:t>
            </a:r>
            <a:endParaRPr dirty="0" sz="1550" lang="en-US"/>
          </a:p>
        </p:txBody>
      </p:sp>
      <p:sp>
        <p:nvSpPr>
          <p:cNvPr id="1048611" name="Text 25"/>
          <p:cNvSpPr/>
          <p:nvPr/>
        </p:nvSpPr>
        <p:spPr>
          <a:xfrm>
            <a:off x="773787" y="6261497"/>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07</a:t>
            </a:r>
            <a:endParaRPr dirty="0" sz="1550" lang="en-US"/>
          </a:p>
        </p:txBody>
      </p:sp>
      <p:sp>
        <p:nvSpPr>
          <p:cNvPr id="1048612" name="Shape 26"/>
          <p:cNvSpPr/>
          <p:nvPr/>
        </p:nvSpPr>
        <p:spPr>
          <a:xfrm>
            <a:off x="773787" y="6586657"/>
            <a:ext cx="6454140" cy="22860"/>
          </a:xfrm>
          <a:prstGeom prst="rect"/>
          <a:solidFill>
            <a:srgbClr val="FF954F"/>
          </a:solidFill>
        </p:spPr>
      </p:sp>
      <p:sp>
        <p:nvSpPr>
          <p:cNvPr id="1048613" name="Text 27"/>
          <p:cNvSpPr/>
          <p:nvPr/>
        </p:nvSpPr>
        <p:spPr>
          <a:xfrm>
            <a:off x="773787" y="6731794"/>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Challenges &amp; Future</a:t>
            </a:r>
            <a:endParaRPr dirty="0" sz="2250" lang="en-US"/>
          </a:p>
        </p:txBody>
      </p:sp>
      <p:sp>
        <p:nvSpPr>
          <p:cNvPr id="1048614" name="Text 28"/>
          <p:cNvSpPr/>
          <p:nvPr/>
        </p:nvSpPr>
        <p:spPr>
          <a:xfrm>
            <a:off x="773787" y="7208163"/>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Current limitations and enhancements</a:t>
            </a:r>
            <a:endParaRPr dirty="0" sz="1550" lang="en-US"/>
          </a:p>
        </p:txBody>
      </p:sp>
      <p:sp>
        <p:nvSpPr>
          <p:cNvPr id="1048615" name="Text 29"/>
          <p:cNvSpPr/>
          <p:nvPr/>
        </p:nvSpPr>
        <p:spPr>
          <a:xfrm>
            <a:off x="7402473" y="6261497"/>
            <a:ext cx="198953" cy="258604"/>
          </a:xfrm>
          <a:prstGeom prst="rect"/>
          <a:noFill/>
        </p:spPr>
        <p:txBody>
          <a:bodyPr anchor="t" bIns="0" lIns="0" rIns="0" rtlCol="0" tIns="0" wrap="none"/>
          <a:p>
            <a:pPr algn="l" indent="0" marL="0">
              <a:lnSpc>
                <a:spcPts val="1900"/>
              </a:lnSpc>
              <a:buNone/>
            </a:pPr>
            <a:r>
              <a:rPr dirty="0" sz="1550" lang="en-US">
                <a:solidFill>
                  <a:srgbClr val="67534F"/>
                </a:solidFill>
                <a:latin typeface="Marcellus Light" pitchFamily="34" charset="0"/>
                <a:ea typeface="Marcellus Light" pitchFamily="34" charset="-122"/>
                <a:cs typeface="Marcellus Light" pitchFamily="34" charset="-120"/>
              </a:rPr>
              <a:t>08</a:t>
            </a:r>
            <a:endParaRPr dirty="0" sz="1550" lang="en-US"/>
          </a:p>
        </p:txBody>
      </p:sp>
      <p:sp>
        <p:nvSpPr>
          <p:cNvPr id="1048616" name="Shape 30"/>
          <p:cNvSpPr/>
          <p:nvPr/>
        </p:nvSpPr>
        <p:spPr>
          <a:xfrm>
            <a:off x="7402473" y="6586657"/>
            <a:ext cx="6454140" cy="22860"/>
          </a:xfrm>
          <a:prstGeom prst="rect"/>
          <a:solidFill>
            <a:srgbClr val="FF954F"/>
          </a:solidFill>
        </p:spPr>
      </p:sp>
      <p:sp>
        <p:nvSpPr>
          <p:cNvPr id="1048617" name="Text 31"/>
          <p:cNvSpPr/>
          <p:nvPr/>
        </p:nvSpPr>
        <p:spPr>
          <a:xfrm>
            <a:off x="7402473" y="6731794"/>
            <a:ext cx="2860358" cy="371713"/>
          </a:xfrm>
          <a:prstGeom prst="rect"/>
          <a:noFill/>
        </p:spPr>
        <p:txBody>
          <a:bodyPr anchor="t" bIns="0" lIns="0" rIns="0" rtlCol="0" tIns="0" wrap="none"/>
          <a:p>
            <a:pPr algn="l" indent="0" marL="0">
              <a:lnSpc>
                <a:spcPts val="2900"/>
              </a:lnSpc>
              <a:buNone/>
            </a:pPr>
            <a:r>
              <a:rPr dirty="0" sz="2250" lang="en-US">
                <a:solidFill>
                  <a:srgbClr val="67534F"/>
                </a:solidFill>
                <a:latin typeface="Marcellus" pitchFamily="34" charset="0"/>
                <a:ea typeface="Marcellus" pitchFamily="34" charset="-122"/>
                <a:cs typeface="Marcellus" pitchFamily="34" charset="-120"/>
              </a:rPr>
              <a:t>Conclusion</a:t>
            </a:r>
            <a:endParaRPr dirty="0" sz="2250" lang="en-US"/>
          </a:p>
        </p:txBody>
      </p:sp>
      <p:sp>
        <p:nvSpPr>
          <p:cNvPr id="1048618" name="Text 32"/>
          <p:cNvSpPr/>
          <p:nvPr/>
        </p:nvSpPr>
        <p:spPr>
          <a:xfrm>
            <a:off x="7402473" y="7208163"/>
            <a:ext cx="6454140" cy="242649"/>
          </a:xfrm>
          <a:prstGeom prst="rect"/>
          <a:noFill/>
        </p:spPr>
        <p:txBody>
          <a:bodyPr anchor="t" bIns="0" lIns="0" rIns="0" rtlCol="0" tIns="0" wrap="none"/>
          <a:p>
            <a:pPr algn="l" indent="0" marL="0">
              <a:lnSpc>
                <a:spcPts val="1900"/>
              </a:lnSpc>
              <a:buNone/>
            </a:pPr>
            <a:r>
              <a:rPr dirty="0" sz="1550" lang="en-US">
                <a:solidFill>
                  <a:srgbClr val="67534F"/>
                </a:solidFill>
                <a:latin typeface="Montserrat" pitchFamily="34" charset="0"/>
                <a:ea typeface="Montserrat" pitchFamily="34" charset="-122"/>
                <a:cs typeface="Montserrat" pitchFamily="34" charset="-120"/>
              </a:rPr>
              <a:t>Summary and final insights</a:t>
            </a:r>
            <a:endParaRPr dirty="0" sz="1550" lang="en-US"/>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48" name=""/>
        <p:cNvGrpSpPr/>
        <p:nvPr/>
      </p:nvGrpSpPr>
      <p:grpSpPr>
        <a:xfrm>
          <a:off x="0" y="0"/>
          <a:ext cx="0" cy="0"/>
          <a:chOff x="0" y="0"/>
          <a:chExt cx="0" cy="0"/>
        </a:xfrm>
      </p:grpSpPr>
      <p:sp>
        <p:nvSpPr>
          <p:cNvPr id="1048624" name="Text 0"/>
          <p:cNvSpPr/>
          <p:nvPr/>
        </p:nvSpPr>
        <p:spPr>
          <a:xfrm>
            <a:off x="793790" y="913686"/>
            <a:ext cx="5869067" cy="762833"/>
          </a:xfrm>
          <a:prstGeom prst="rect"/>
          <a:noFill/>
        </p:spPr>
        <p:txBody>
          <a:bodyPr anchor="t" bIns="0" lIns="0" rIns="0" rtlCol="0" tIns="0" wrap="none"/>
          <a:p>
            <a:pPr algn="l" indent="0" marL="0">
              <a:lnSpc>
                <a:spcPts val="6000"/>
              </a:lnSpc>
              <a:buNone/>
            </a:pPr>
            <a:r>
              <a:rPr dirty="0" sz="4600" lang="en-US">
                <a:solidFill>
                  <a:srgbClr val="532418"/>
                </a:solidFill>
                <a:latin typeface="Marcellus" pitchFamily="34" charset="0"/>
                <a:ea typeface="Marcellus" pitchFamily="34" charset="-122"/>
                <a:cs typeface="Marcellus" pitchFamily="34" charset="-120"/>
              </a:rPr>
              <a:t>Problem Statement</a:t>
            </a:r>
            <a:endParaRPr dirty="0" sz="4600" lang="en-US"/>
          </a:p>
        </p:txBody>
      </p:sp>
      <p:pic>
        <p:nvPicPr>
          <p:cNvPr id="2097156" name="Image 0" descr="preencoded.png"/>
          <p:cNvPicPr>
            <a:picLocks noChangeAspect="1"/>
          </p:cNvPicPr>
          <p:nvPr/>
        </p:nvPicPr>
        <p:blipFill>
          <a:blip xmlns:r="http://schemas.openxmlformats.org/officeDocument/2006/relationships" r:embed="rId1"/>
          <a:stretch>
            <a:fillRect/>
          </a:stretch>
        </p:blipFill>
        <p:spPr>
          <a:xfrm>
            <a:off x="1208961" y="2548414"/>
            <a:ext cx="7473077" cy="4170998"/>
          </a:xfrm>
          <a:prstGeom prst="rect"/>
        </p:spPr>
      </p:pic>
      <p:sp>
        <p:nvSpPr>
          <p:cNvPr id="1048625" name="Text 1"/>
          <p:cNvSpPr/>
          <p:nvPr/>
        </p:nvSpPr>
        <p:spPr>
          <a:xfrm>
            <a:off x="9602867" y="2135743"/>
            <a:ext cx="3024426" cy="381476"/>
          </a:xfrm>
          <a:prstGeom prst="rect"/>
          <a:noFill/>
        </p:spPr>
        <p:txBody>
          <a:bodyPr anchor="t" bIns="0" lIns="0" rIns="0" rtlCol="0" tIns="0" wrap="none"/>
          <a:p>
            <a:pPr algn="l" indent="0" marL="0">
              <a:lnSpc>
                <a:spcPts val="3000"/>
              </a:lnSpc>
              <a:buNone/>
            </a:pPr>
            <a:r>
              <a:rPr dirty="0" sz="2300" lang="en-US">
                <a:solidFill>
                  <a:srgbClr val="532418"/>
                </a:solidFill>
                <a:latin typeface="Marcellus" pitchFamily="34" charset="0"/>
                <a:ea typeface="Marcellus" pitchFamily="34" charset="-122"/>
                <a:cs typeface="Marcellus" pitchFamily="34" charset="-120"/>
              </a:rPr>
              <a:t>The Current Challenge</a:t>
            </a:r>
            <a:endParaRPr dirty="0" sz="2300" lang="en-US"/>
          </a:p>
        </p:txBody>
      </p:sp>
      <p:sp>
        <p:nvSpPr>
          <p:cNvPr id="1048626" name="Text 2"/>
          <p:cNvSpPr/>
          <p:nvPr/>
        </p:nvSpPr>
        <p:spPr>
          <a:xfrm>
            <a:off x="9602867" y="2700933"/>
            <a:ext cx="4241244" cy="1008698"/>
          </a:xfrm>
          <a:prstGeom prst="rect"/>
          <a:noFill/>
        </p:spPr>
        <p:txBody>
          <a:bodyPr anchor="t" bIns="0" lIns="0" rIns="0" rtlCol="0" tIns="0" wrap="square"/>
          <a:p>
            <a:pPr algn="l" indent="0" marL="0">
              <a:lnSpc>
                <a:spcPts val="1950"/>
              </a:lnSpc>
              <a:buNone/>
            </a:pPr>
            <a:r>
              <a:rPr dirty="0" sz="1600" lang="en-US">
                <a:solidFill>
                  <a:srgbClr val="67534F"/>
                </a:solidFill>
                <a:latin typeface="Montserrat" pitchFamily="34" charset="0"/>
                <a:ea typeface="Montserrat" pitchFamily="34" charset="-122"/>
                <a:cs typeface="Montserrat" pitchFamily="34" charset="-120"/>
              </a:rPr>
              <a:t>Many small and medium businesses continue to rely on manual registers or spreadsheets for inventory tracking, creating operational bottlenecks.</a:t>
            </a:r>
            <a:endParaRPr dirty="0" sz="1600" lang="en-US"/>
          </a:p>
        </p:txBody>
      </p:sp>
      <p:sp>
        <p:nvSpPr>
          <p:cNvPr id="1048627" name="Text 3"/>
          <p:cNvSpPr/>
          <p:nvPr/>
        </p:nvSpPr>
        <p:spPr>
          <a:xfrm>
            <a:off x="9602867" y="3893344"/>
            <a:ext cx="2934533" cy="381476"/>
          </a:xfrm>
          <a:prstGeom prst="rect"/>
          <a:noFill/>
        </p:spPr>
        <p:txBody>
          <a:bodyPr anchor="t" bIns="0" lIns="0" rIns="0" rtlCol="0" tIns="0" wrap="none"/>
          <a:p>
            <a:pPr algn="l" indent="0" marL="0">
              <a:lnSpc>
                <a:spcPts val="3000"/>
              </a:lnSpc>
              <a:buNone/>
            </a:pPr>
            <a:r>
              <a:rPr dirty="0" sz="2300" lang="en-US">
                <a:solidFill>
                  <a:srgbClr val="532418"/>
                </a:solidFill>
                <a:latin typeface="Marcellus" pitchFamily="34" charset="0"/>
                <a:ea typeface="Marcellus" pitchFamily="34" charset="-122"/>
                <a:cs typeface="Marcellus" pitchFamily="34" charset="-120"/>
              </a:rPr>
              <a:t>Key Issues Include:</a:t>
            </a:r>
            <a:endParaRPr dirty="0" sz="2300" lang="en-US"/>
          </a:p>
        </p:txBody>
      </p:sp>
      <p:sp>
        <p:nvSpPr>
          <p:cNvPr id="1048628" name="Text 4"/>
          <p:cNvSpPr/>
          <p:nvPr/>
        </p:nvSpPr>
        <p:spPr>
          <a:xfrm>
            <a:off x="9602867" y="4458533"/>
            <a:ext cx="4241244" cy="2022396"/>
          </a:xfrm>
          <a:prstGeom prst="rect"/>
          <a:noFill/>
        </p:spPr>
        <p:txBody>
          <a:bodyPr anchor="t" bIns="0" lIns="0" rIns="0" rtlCol="0" tIns="0" wrap="square"/>
          <a:p>
            <a:pPr algn="l" indent="-342900" marL="342900">
              <a:lnSpc>
                <a:spcPts val="1950"/>
              </a:lnSpc>
              <a:buSzPct val="100000"/>
              <a:buChar char="•"/>
            </a:pPr>
            <a:r>
              <a:rPr dirty="0" sz="1600" lang="en-US">
                <a:solidFill>
                  <a:srgbClr val="67534F"/>
                </a:solidFill>
                <a:latin typeface="Montserrat" pitchFamily="34" charset="0"/>
                <a:ea typeface="Montserrat" pitchFamily="34" charset="-122"/>
                <a:cs typeface="Montserrat" pitchFamily="34" charset="-120"/>
              </a:rPr>
              <a:t>Data inconsistency across multiple sources</a:t>
            </a:r>
            <a:endParaRPr dirty="0" sz="1600" lang="en-US"/>
          </a:p>
          <a:p>
            <a:pPr algn="l" indent="-342900" marL="342900">
              <a:lnSpc>
                <a:spcPts val="1950"/>
              </a:lnSpc>
              <a:buSzPct val="100000"/>
              <a:buChar char="•"/>
            </a:pPr>
            <a:r>
              <a:rPr dirty="0" sz="1600" lang="en-US">
                <a:solidFill>
                  <a:srgbClr val="67534F"/>
                </a:solidFill>
                <a:latin typeface="Montserrat" pitchFamily="34" charset="0"/>
                <a:ea typeface="Montserrat" pitchFamily="34" charset="-122"/>
                <a:cs typeface="Montserrat" pitchFamily="34" charset="-120"/>
              </a:rPr>
              <a:t>Stock mismanagement and tracking errors</a:t>
            </a:r>
            <a:endParaRPr dirty="0" sz="1600" lang="en-US"/>
          </a:p>
          <a:p>
            <a:pPr algn="l" indent="-342900" marL="342900">
              <a:lnSpc>
                <a:spcPts val="1950"/>
              </a:lnSpc>
              <a:buSzPct val="100000"/>
              <a:buChar char="•"/>
            </a:pPr>
            <a:r>
              <a:rPr dirty="0" sz="1600" lang="en-US">
                <a:solidFill>
                  <a:srgbClr val="67534F"/>
                </a:solidFill>
                <a:latin typeface="Montserrat" pitchFamily="34" charset="0"/>
                <a:ea typeface="Montserrat" pitchFamily="34" charset="-122"/>
                <a:cs typeface="Montserrat" pitchFamily="34" charset="-120"/>
              </a:rPr>
              <a:t>Time-consuming record updates</a:t>
            </a:r>
            <a:endParaRPr dirty="0" sz="1600" lang="en-US"/>
          </a:p>
          <a:p>
            <a:pPr algn="l" indent="-342900" marL="342900">
              <a:lnSpc>
                <a:spcPts val="1950"/>
              </a:lnSpc>
              <a:buSzPct val="100000"/>
              <a:buChar char="•"/>
            </a:pPr>
            <a:r>
              <a:rPr dirty="0" sz="1600" lang="en-US">
                <a:solidFill>
                  <a:srgbClr val="67534F"/>
                </a:solidFill>
                <a:latin typeface="Montserrat" pitchFamily="34" charset="0"/>
                <a:ea typeface="Montserrat" pitchFamily="34" charset="-122"/>
                <a:cs typeface="Montserrat" pitchFamily="34" charset="-120"/>
              </a:rPr>
              <a:t>Delayed product information retrieval</a:t>
            </a:r>
            <a:endParaRPr dirty="0" sz="1600" lang="en-US"/>
          </a:p>
          <a:p>
            <a:pPr algn="l" indent="-342900" marL="342900">
              <a:lnSpc>
                <a:spcPts val="1950"/>
              </a:lnSpc>
              <a:buSzPct val="100000"/>
              <a:buChar char="•"/>
            </a:pPr>
            <a:r>
              <a:rPr dirty="0" sz="1600" lang="en-US">
                <a:solidFill>
                  <a:srgbClr val="67534F"/>
                </a:solidFill>
                <a:latin typeface="Montserrat" pitchFamily="34" charset="0"/>
                <a:ea typeface="Montserrat" pitchFamily="34" charset="-122"/>
                <a:cs typeface="Montserrat" pitchFamily="34" charset="-120"/>
              </a:rPr>
              <a:t>Increased human error probability</a:t>
            </a:r>
            <a:endParaRPr dirty="0" sz="1600" lang="en-US"/>
          </a:p>
        </p:txBody>
      </p:sp>
      <p:sp>
        <p:nvSpPr>
          <p:cNvPr id="1048629" name="Text 5"/>
          <p:cNvSpPr/>
          <p:nvPr/>
        </p:nvSpPr>
        <p:spPr>
          <a:xfrm>
            <a:off x="9602867" y="6646188"/>
            <a:ext cx="4241244" cy="504349"/>
          </a:xfrm>
          <a:prstGeom prst="rect"/>
          <a:noFill/>
        </p:spPr>
        <p:txBody>
          <a:bodyPr anchor="t" bIns="0" lIns="0" rIns="0" rtlCol="0" tIns="0" wrap="square"/>
          <a:p>
            <a:pPr algn="l" indent="0" marL="0">
              <a:lnSpc>
                <a:spcPts val="1950"/>
              </a:lnSpc>
              <a:buNone/>
            </a:pPr>
            <a:r>
              <a:rPr dirty="0" sz="1600" lang="en-US">
                <a:solidFill>
                  <a:srgbClr val="67534F"/>
                </a:solidFill>
                <a:highlight>
                  <a:srgbClr val="E1E1DF"/>
                </a:highlight>
                <a:latin typeface="Montserrat" pitchFamily="34" charset="0"/>
                <a:ea typeface="Montserrat" pitchFamily="34" charset="-122"/>
                <a:cs typeface="Montserrat" pitchFamily="34" charset="-120"/>
              </a:rPr>
              <a:t>A smart, automated inventory system is essential for modern business operations.</a:t>
            </a:r>
            <a:endParaRPr dirty="0" sz="1600" lang="en-US"/>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52" name=""/>
        <p:cNvGrpSpPr/>
        <p:nvPr/>
      </p:nvGrpSpPr>
      <p:grpSpPr>
        <a:xfrm>
          <a:off x="0" y="0"/>
          <a:ext cx="0" cy="0"/>
          <a:chOff x="0" y="0"/>
          <a:chExt cx="0" cy="0"/>
        </a:xfrm>
      </p:grpSpPr>
      <p:pic>
        <p:nvPicPr>
          <p:cNvPr id="2097158" name="Image 0" descr="preencoded.png"/>
          <p:cNvPicPr>
            <a:picLocks noChangeAspect="1"/>
          </p:cNvPicPr>
          <p:nvPr/>
        </p:nvPicPr>
        <p:blipFill>
          <a:blip xmlns:r="http://schemas.openxmlformats.org/officeDocument/2006/relationships" r:embed="rId1"/>
          <a:stretch>
            <a:fillRect/>
          </a:stretch>
        </p:blipFill>
        <p:spPr>
          <a:xfrm>
            <a:off x="0" y="0"/>
            <a:ext cx="5760720" cy="8229600"/>
          </a:xfrm>
          <a:prstGeom prst="rect"/>
        </p:spPr>
      </p:pic>
      <p:sp>
        <p:nvSpPr>
          <p:cNvPr id="1048635" name="Text 0"/>
          <p:cNvSpPr/>
          <p:nvPr/>
        </p:nvSpPr>
        <p:spPr>
          <a:xfrm>
            <a:off x="6280190" y="647343"/>
            <a:ext cx="6195179" cy="805220"/>
          </a:xfrm>
          <a:prstGeom prst="rect"/>
          <a:noFill/>
        </p:spPr>
        <p:txBody>
          <a:bodyPr anchor="t" bIns="0" lIns="0" rIns="0" rtlCol="0" tIns="0" wrap="none"/>
          <a:p>
            <a:pPr algn="l" indent="0" marL="0">
              <a:lnSpc>
                <a:spcPts val="6300"/>
              </a:lnSpc>
              <a:buNone/>
            </a:pPr>
            <a:r>
              <a:rPr dirty="0" sz="4850" lang="en-US">
                <a:solidFill>
                  <a:srgbClr val="532418"/>
                </a:solidFill>
                <a:latin typeface="Marcellus" pitchFamily="34" charset="0"/>
                <a:ea typeface="Marcellus" pitchFamily="34" charset="-122"/>
                <a:cs typeface="Marcellus" pitchFamily="34" charset="-120"/>
              </a:rPr>
              <a:t>Introduction</a:t>
            </a:r>
            <a:endParaRPr dirty="0" sz="4850" lang="en-US"/>
          </a:p>
        </p:txBody>
      </p:sp>
      <p:sp>
        <p:nvSpPr>
          <p:cNvPr id="1048636" name="Shape 1"/>
          <p:cNvSpPr/>
          <p:nvPr/>
        </p:nvSpPr>
        <p:spPr>
          <a:xfrm>
            <a:off x="6280190" y="1759625"/>
            <a:ext cx="3675817" cy="3218617"/>
          </a:xfrm>
          <a:prstGeom prst="roundRect">
            <a:avLst>
              <a:gd name="adj" fmla="val 2812"/>
            </a:avLst>
          </a:prstGeom>
          <a:solidFill>
            <a:srgbClr val="FFFFF4"/>
          </a:solidFill>
          <a:ln w="22860">
            <a:solidFill>
              <a:srgbClr val="FFE0CC"/>
            </a:solidFill>
            <a:prstDash val="solid"/>
          </a:ln>
        </p:spPr>
      </p:sp>
      <p:sp>
        <p:nvSpPr>
          <p:cNvPr id="1048637" name="Shape 2"/>
          <p:cNvSpPr/>
          <p:nvPr/>
        </p:nvSpPr>
        <p:spPr>
          <a:xfrm>
            <a:off x="6518434" y="1997869"/>
            <a:ext cx="646390" cy="646390"/>
          </a:xfrm>
          <a:prstGeom prst="roundRect">
            <a:avLst>
              <a:gd name="adj" fmla="val 14144844"/>
            </a:avLst>
          </a:prstGeom>
          <a:solidFill>
            <a:srgbClr val="FF954F"/>
          </a:solidFill>
        </p:spPr>
      </p:sp>
      <p:pic>
        <p:nvPicPr>
          <p:cNvPr id="2097159" name="Image 1" descr="preencoded.png"/>
          <p:cNvPicPr>
            <a:picLocks noChangeAspect="1"/>
          </p:cNvPicPr>
          <p:nvPr/>
        </p:nvPicPr>
        <p:blipFill>
          <a:blip xmlns:r="http://schemas.openxmlformats.org/officeDocument/2006/relationships" r:embed="rId2"/>
          <a:stretch>
            <a:fillRect/>
          </a:stretch>
        </p:blipFill>
        <p:spPr>
          <a:xfrm>
            <a:off x="6696194" y="2175510"/>
            <a:ext cx="290870" cy="290870"/>
          </a:xfrm>
          <a:prstGeom prst="rect"/>
        </p:spPr>
      </p:pic>
      <p:sp>
        <p:nvSpPr>
          <p:cNvPr id="1048638" name="Text 3"/>
          <p:cNvSpPr/>
          <p:nvPr/>
        </p:nvSpPr>
        <p:spPr>
          <a:xfrm>
            <a:off x="6518434" y="2848928"/>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Essential Process</a:t>
            </a:r>
            <a:endParaRPr dirty="0" sz="2400" lang="en-US"/>
          </a:p>
        </p:txBody>
      </p:sp>
      <p:sp>
        <p:nvSpPr>
          <p:cNvPr id="1048639" name="Text 4"/>
          <p:cNvSpPr/>
          <p:nvPr/>
        </p:nvSpPr>
        <p:spPr>
          <a:xfrm>
            <a:off x="6518434" y="3374350"/>
            <a:ext cx="3199328" cy="1365647"/>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Inventory management is a critical business function for tracking, controlling, and organizing goods efficiently across all operations.</a:t>
            </a:r>
            <a:endParaRPr dirty="0" sz="1650" lang="en-US"/>
          </a:p>
        </p:txBody>
      </p:sp>
      <p:sp>
        <p:nvSpPr>
          <p:cNvPr id="1048640" name="Shape 5"/>
          <p:cNvSpPr/>
          <p:nvPr/>
        </p:nvSpPr>
        <p:spPr>
          <a:xfrm>
            <a:off x="10160675" y="1759625"/>
            <a:ext cx="3675936" cy="3218617"/>
          </a:xfrm>
          <a:prstGeom prst="roundRect">
            <a:avLst>
              <a:gd name="adj" fmla="val 2812"/>
            </a:avLst>
          </a:prstGeom>
          <a:solidFill>
            <a:srgbClr val="FFFFF4"/>
          </a:solidFill>
          <a:ln w="22860">
            <a:solidFill>
              <a:srgbClr val="FFE0CC"/>
            </a:solidFill>
            <a:prstDash val="solid"/>
          </a:ln>
        </p:spPr>
      </p:sp>
      <p:sp>
        <p:nvSpPr>
          <p:cNvPr id="1048641" name="Shape 6"/>
          <p:cNvSpPr/>
          <p:nvPr/>
        </p:nvSpPr>
        <p:spPr>
          <a:xfrm>
            <a:off x="10398919" y="1997869"/>
            <a:ext cx="646390" cy="646390"/>
          </a:xfrm>
          <a:prstGeom prst="roundRect">
            <a:avLst>
              <a:gd name="adj" fmla="val 14144844"/>
            </a:avLst>
          </a:prstGeom>
          <a:solidFill>
            <a:srgbClr val="FF954F"/>
          </a:solidFill>
        </p:spPr>
      </p:sp>
      <p:pic>
        <p:nvPicPr>
          <p:cNvPr id="2097160" name="Image 2" descr="preencoded.png"/>
          <p:cNvPicPr>
            <a:picLocks noChangeAspect="1"/>
          </p:cNvPicPr>
          <p:nvPr/>
        </p:nvPicPr>
        <p:blipFill>
          <a:blip xmlns:r="http://schemas.openxmlformats.org/officeDocument/2006/relationships" r:embed="rId2"/>
          <a:stretch>
            <a:fillRect/>
          </a:stretch>
        </p:blipFill>
        <p:spPr>
          <a:xfrm>
            <a:off x="10576679" y="2175510"/>
            <a:ext cx="290870" cy="290870"/>
          </a:xfrm>
          <a:prstGeom prst="rect"/>
        </p:spPr>
      </p:pic>
      <p:sp>
        <p:nvSpPr>
          <p:cNvPr id="1048642" name="Text 7"/>
          <p:cNvSpPr/>
          <p:nvPr/>
        </p:nvSpPr>
        <p:spPr>
          <a:xfrm>
            <a:off x="10398919" y="2848928"/>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Traditional Limitations</a:t>
            </a:r>
            <a:endParaRPr dirty="0" sz="2400" lang="en-US"/>
          </a:p>
        </p:txBody>
      </p:sp>
      <p:sp>
        <p:nvSpPr>
          <p:cNvPr id="1048643" name="Text 8"/>
          <p:cNvSpPr/>
          <p:nvPr/>
        </p:nvSpPr>
        <p:spPr>
          <a:xfrm>
            <a:off x="10398919" y="3374350"/>
            <a:ext cx="3199447" cy="1365647"/>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Conventional inventory handling methods are time-consuming, error-prone, and difficult to scale as business grows.</a:t>
            </a:r>
            <a:endParaRPr dirty="0" sz="1650" lang="en-US"/>
          </a:p>
        </p:txBody>
      </p:sp>
      <p:sp>
        <p:nvSpPr>
          <p:cNvPr id="1048644" name="Shape 9"/>
          <p:cNvSpPr/>
          <p:nvPr/>
        </p:nvSpPr>
        <p:spPr>
          <a:xfrm>
            <a:off x="6280190" y="5182910"/>
            <a:ext cx="7556421" cy="2399228"/>
          </a:xfrm>
          <a:prstGeom prst="roundRect">
            <a:avLst>
              <a:gd name="adj" fmla="val 3772"/>
            </a:avLst>
          </a:prstGeom>
          <a:solidFill>
            <a:srgbClr val="FFFFF4"/>
          </a:solidFill>
          <a:ln w="22860">
            <a:solidFill>
              <a:srgbClr val="FFE0CC"/>
            </a:solidFill>
            <a:prstDash val="solid"/>
          </a:ln>
        </p:spPr>
      </p:sp>
      <p:sp>
        <p:nvSpPr>
          <p:cNvPr id="1048645" name="Shape 10"/>
          <p:cNvSpPr/>
          <p:nvPr/>
        </p:nvSpPr>
        <p:spPr>
          <a:xfrm>
            <a:off x="6518434" y="5421154"/>
            <a:ext cx="646390" cy="646390"/>
          </a:xfrm>
          <a:prstGeom prst="roundRect">
            <a:avLst>
              <a:gd name="adj" fmla="val 14144844"/>
            </a:avLst>
          </a:prstGeom>
          <a:solidFill>
            <a:srgbClr val="FF954F"/>
          </a:solidFill>
        </p:spPr>
      </p:sp>
      <p:pic>
        <p:nvPicPr>
          <p:cNvPr id="2097161" name="Image 3" descr="preencoded.png"/>
          <p:cNvPicPr>
            <a:picLocks noChangeAspect="1"/>
          </p:cNvPicPr>
          <p:nvPr/>
        </p:nvPicPr>
        <p:blipFill>
          <a:blip xmlns:r="http://schemas.openxmlformats.org/officeDocument/2006/relationships" r:embed="rId2"/>
          <a:stretch>
            <a:fillRect/>
          </a:stretch>
        </p:blipFill>
        <p:spPr>
          <a:xfrm>
            <a:off x="6696194" y="5598795"/>
            <a:ext cx="290870" cy="290870"/>
          </a:xfrm>
          <a:prstGeom prst="rect"/>
        </p:spPr>
      </p:pic>
      <p:sp>
        <p:nvSpPr>
          <p:cNvPr id="1048646" name="Text 11"/>
          <p:cNvSpPr/>
          <p:nvPr/>
        </p:nvSpPr>
        <p:spPr>
          <a:xfrm>
            <a:off x="6518434" y="6272212"/>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Digital Solution</a:t>
            </a:r>
            <a:endParaRPr dirty="0" sz="2400" lang="en-US"/>
          </a:p>
        </p:txBody>
      </p:sp>
      <p:sp>
        <p:nvSpPr>
          <p:cNvPr id="1048647" name="Text 12"/>
          <p:cNvSpPr/>
          <p:nvPr/>
        </p:nvSpPr>
        <p:spPr>
          <a:xfrm>
            <a:off x="6518434" y="6797635"/>
            <a:ext cx="7079933" cy="546259"/>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This project delivers a modern web-based system for managing stock, storage, and product movement digitally.</a:t>
            </a:r>
            <a:endParaRPr dirty="0" sz="1650" lang="en-US"/>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56" name=""/>
        <p:cNvGrpSpPr/>
        <p:nvPr/>
      </p:nvGrpSpPr>
      <p:grpSpPr>
        <a:xfrm>
          <a:off x="0" y="0"/>
          <a:ext cx="0" cy="0"/>
          <a:chOff x="0" y="0"/>
          <a:chExt cx="0" cy="0"/>
        </a:xfrm>
      </p:grpSpPr>
      <p:sp>
        <p:nvSpPr>
          <p:cNvPr id="1048653" name="Text 0"/>
          <p:cNvSpPr/>
          <p:nvPr/>
        </p:nvSpPr>
        <p:spPr>
          <a:xfrm>
            <a:off x="793790" y="694015"/>
            <a:ext cx="5275064" cy="635794"/>
          </a:xfrm>
          <a:prstGeom prst="rect"/>
          <a:noFill/>
        </p:spPr>
        <p:txBody>
          <a:bodyPr anchor="t" bIns="0" lIns="0" rIns="0" rtlCol="0" tIns="0" wrap="none"/>
          <a:p>
            <a:pPr algn="l" indent="0" marL="0">
              <a:lnSpc>
                <a:spcPts val="5000"/>
              </a:lnSpc>
              <a:buNone/>
            </a:pPr>
            <a:r>
              <a:rPr dirty="0" sz="3850" lang="en-US">
                <a:solidFill>
                  <a:srgbClr val="532418"/>
                </a:solidFill>
                <a:latin typeface="Marcellus" pitchFamily="34" charset="0"/>
                <a:ea typeface="Marcellus" pitchFamily="34" charset="-122"/>
                <a:cs typeface="Marcellus" pitchFamily="34" charset="-120"/>
              </a:rPr>
              <a:t>Main Project Objectives</a:t>
            </a:r>
            <a:endParaRPr dirty="0" sz="3850" lang="en-US"/>
          </a:p>
        </p:txBody>
      </p:sp>
      <p:sp>
        <p:nvSpPr>
          <p:cNvPr id="1048654" name="Text 1"/>
          <p:cNvSpPr/>
          <p:nvPr/>
        </p:nvSpPr>
        <p:spPr>
          <a:xfrm>
            <a:off x="793790" y="1584960"/>
            <a:ext cx="13042821" cy="193477"/>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This inventory system was designed with specific goals to address business needs:</a:t>
            </a:r>
            <a:endParaRPr dirty="0" sz="1300" lang="en-US"/>
          </a:p>
        </p:txBody>
      </p:sp>
      <p:sp>
        <p:nvSpPr>
          <p:cNvPr id="1048655" name="Shape 2"/>
          <p:cNvSpPr/>
          <p:nvPr/>
        </p:nvSpPr>
        <p:spPr>
          <a:xfrm>
            <a:off x="793790" y="1921907"/>
            <a:ext cx="13042821" cy="1020723"/>
          </a:xfrm>
          <a:prstGeom prst="roundRect">
            <a:avLst>
              <a:gd name="adj" fmla="val 7000"/>
            </a:avLst>
          </a:prstGeom>
          <a:solidFill>
            <a:srgbClr val="FFFFF4">
              <a:alpha val="95000"/>
            </a:srgbClr>
          </a:solidFill>
          <a:ln w="22860">
            <a:solidFill>
              <a:srgbClr val="FFE0CC"/>
            </a:solidFill>
            <a:prstDash val="solid"/>
          </a:ln>
        </p:spPr>
      </p:sp>
      <p:sp>
        <p:nvSpPr>
          <p:cNvPr id="1048656" name="Shape 3"/>
          <p:cNvSpPr/>
          <p:nvPr/>
        </p:nvSpPr>
        <p:spPr>
          <a:xfrm>
            <a:off x="816650" y="1944767"/>
            <a:ext cx="680442" cy="975003"/>
          </a:xfrm>
          <a:prstGeom prst="roundRect">
            <a:avLst>
              <a:gd name="adj" fmla="val 6469"/>
            </a:avLst>
          </a:prstGeom>
          <a:solidFill>
            <a:srgbClr val="FFFFF4"/>
          </a:solidFill>
        </p:spPr>
      </p:sp>
      <p:sp>
        <p:nvSpPr>
          <p:cNvPr id="1048657" name="Text 4"/>
          <p:cNvSpPr/>
          <p:nvPr/>
        </p:nvSpPr>
        <p:spPr>
          <a:xfrm>
            <a:off x="1021675" y="2266355"/>
            <a:ext cx="255151" cy="331708"/>
          </a:xfrm>
          <a:prstGeom prst="rect"/>
          <a:noFill/>
        </p:spPr>
        <p:txBody>
          <a:bodyPr anchor="t" bIns="0" lIns="0" rIns="0" rtlCol="0" tIns="0" wrap="none"/>
          <a:p>
            <a:pPr algn="l" indent="0" marL="0">
              <a:lnSpc>
                <a:spcPts val="2000"/>
              </a:lnSpc>
              <a:buNone/>
            </a:pPr>
            <a:r>
              <a:rPr dirty="0" sz="2000" lang="en-US">
                <a:solidFill>
                  <a:srgbClr val="67534F"/>
                </a:solidFill>
                <a:latin typeface="Marcellus" pitchFamily="34" charset="0"/>
                <a:ea typeface="Marcellus" pitchFamily="34" charset="-122"/>
                <a:cs typeface="Marcellus" pitchFamily="34" charset="-120"/>
              </a:rPr>
              <a:t>1</a:t>
            </a:r>
            <a:endParaRPr dirty="0" sz="2000" lang="en-US"/>
          </a:p>
        </p:txBody>
      </p:sp>
      <p:sp>
        <p:nvSpPr>
          <p:cNvPr id="1048658" name="Text 5"/>
          <p:cNvSpPr/>
          <p:nvPr/>
        </p:nvSpPr>
        <p:spPr>
          <a:xfrm>
            <a:off x="1624608" y="2114788"/>
            <a:ext cx="2514838" cy="317897"/>
          </a:xfrm>
          <a:prstGeom prst="rect"/>
          <a:noFill/>
        </p:spPr>
        <p:txBody>
          <a:bodyPr anchor="t" bIns="0" lIns="0" rIns="0" rtlCol="0" tIns="0" wrap="none"/>
          <a:p>
            <a:pPr algn="l" indent="0" marL="0">
              <a:lnSpc>
                <a:spcPts val="2500"/>
              </a:lnSpc>
              <a:buNone/>
            </a:pPr>
            <a:r>
              <a:rPr dirty="0" sz="1900" lang="en-US">
                <a:solidFill>
                  <a:srgbClr val="67534F"/>
                </a:solidFill>
                <a:latin typeface="Marcellus" pitchFamily="34" charset="0"/>
                <a:ea typeface="Marcellus" pitchFamily="34" charset="-122"/>
                <a:cs typeface="Marcellus" pitchFamily="34" charset="-120"/>
              </a:rPr>
              <a:t>User-Friendly Interface</a:t>
            </a:r>
            <a:endParaRPr dirty="0" sz="1900" lang="en-US"/>
          </a:p>
        </p:txBody>
      </p:sp>
      <p:sp>
        <p:nvSpPr>
          <p:cNvPr id="1048659" name="Text 6"/>
          <p:cNvSpPr/>
          <p:nvPr/>
        </p:nvSpPr>
        <p:spPr>
          <a:xfrm>
            <a:off x="1624608" y="2509123"/>
            <a:ext cx="12019121" cy="193477"/>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Develop an intuitive, accessible system that requires minimal training for warehouse staff and managers.</a:t>
            </a:r>
            <a:endParaRPr dirty="0" sz="1300" lang="en-US"/>
          </a:p>
        </p:txBody>
      </p:sp>
      <p:sp>
        <p:nvSpPr>
          <p:cNvPr id="1048660" name="Shape 7"/>
          <p:cNvSpPr/>
          <p:nvPr/>
        </p:nvSpPr>
        <p:spPr>
          <a:xfrm>
            <a:off x="793790" y="3070146"/>
            <a:ext cx="13042821" cy="1020723"/>
          </a:xfrm>
          <a:prstGeom prst="roundRect">
            <a:avLst>
              <a:gd name="adj" fmla="val 7000"/>
            </a:avLst>
          </a:prstGeom>
          <a:solidFill>
            <a:srgbClr val="FFFFF4">
              <a:alpha val="95000"/>
            </a:srgbClr>
          </a:solidFill>
          <a:ln w="22860">
            <a:solidFill>
              <a:srgbClr val="FFE0CC"/>
            </a:solidFill>
            <a:prstDash val="solid"/>
          </a:ln>
        </p:spPr>
      </p:sp>
      <p:sp>
        <p:nvSpPr>
          <p:cNvPr id="1048661" name="Shape 8"/>
          <p:cNvSpPr/>
          <p:nvPr/>
        </p:nvSpPr>
        <p:spPr>
          <a:xfrm>
            <a:off x="816650" y="3093006"/>
            <a:ext cx="680442" cy="975003"/>
          </a:xfrm>
          <a:prstGeom prst="roundRect">
            <a:avLst>
              <a:gd name="adj" fmla="val 6469"/>
            </a:avLst>
          </a:prstGeom>
          <a:solidFill>
            <a:srgbClr val="FFFFF4"/>
          </a:solidFill>
        </p:spPr>
      </p:sp>
      <p:sp>
        <p:nvSpPr>
          <p:cNvPr id="1048662" name="Text 9"/>
          <p:cNvSpPr/>
          <p:nvPr/>
        </p:nvSpPr>
        <p:spPr>
          <a:xfrm>
            <a:off x="1021675" y="3414593"/>
            <a:ext cx="255151" cy="331708"/>
          </a:xfrm>
          <a:prstGeom prst="rect"/>
          <a:noFill/>
        </p:spPr>
        <p:txBody>
          <a:bodyPr anchor="t" bIns="0" lIns="0" rIns="0" rtlCol="0" tIns="0" wrap="none"/>
          <a:p>
            <a:pPr algn="l" indent="0" marL="0">
              <a:lnSpc>
                <a:spcPts val="2000"/>
              </a:lnSpc>
              <a:buNone/>
            </a:pPr>
            <a:r>
              <a:rPr dirty="0" sz="2000" lang="en-US">
                <a:solidFill>
                  <a:srgbClr val="67534F"/>
                </a:solidFill>
                <a:latin typeface="Marcellus" pitchFamily="34" charset="0"/>
                <a:ea typeface="Marcellus" pitchFamily="34" charset="-122"/>
                <a:cs typeface="Marcellus" pitchFamily="34" charset="-120"/>
              </a:rPr>
              <a:t>2</a:t>
            </a:r>
            <a:endParaRPr dirty="0" sz="2000" lang="en-US"/>
          </a:p>
        </p:txBody>
      </p:sp>
      <p:sp>
        <p:nvSpPr>
          <p:cNvPr id="1048663" name="Text 10"/>
          <p:cNvSpPr/>
          <p:nvPr/>
        </p:nvSpPr>
        <p:spPr>
          <a:xfrm>
            <a:off x="1624608" y="3263027"/>
            <a:ext cx="2445425" cy="317897"/>
          </a:xfrm>
          <a:prstGeom prst="rect"/>
          <a:noFill/>
        </p:spPr>
        <p:txBody>
          <a:bodyPr anchor="t" bIns="0" lIns="0" rIns="0" rtlCol="0" tIns="0" wrap="none"/>
          <a:p>
            <a:pPr algn="l" indent="0" marL="0">
              <a:lnSpc>
                <a:spcPts val="2500"/>
              </a:lnSpc>
              <a:buNone/>
            </a:pPr>
            <a:r>
              <a:rPr dirty="0" sz="1900" lang="en-US">
                <a:solidFill>
                  <a:srgbClr val="67534F"/>
                </a:solidFill>
                <a:latin typeface="Marcellus" pitchFamily="34" charset="0"/>
                <a:ea typeface="Marcellus" pitchFamily="34" charset="-122"/>
                <a:cs typeface="Marcellus" pitchFamily="34" charset="-120"/>
              </a:rPr>
              <a:t>Automation</a:t>
            </a:r>
            <a:endParaRPr dirty="0" sz="1900" lang="en-US"/>
          </a:p>
        </p:txBody>
      </p:sp>
      <p:sp>
        <p:nvSpPr>
          <p:cNvPr id="1048664" name="Text 11"/>
          <p:cNvSpPr/>
          <p:nvPr/>
        </p:nvSpPr>
        <p:spPr>
          <a:xfrm>
            <a:off x="1624608" y="3657362"/>
            <a:ext cx="12019121" cy="193477"/>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Automate storage operations and stock handling processes to reduce manual intervention and errors.</a:t>
            </a:r>
            <a:endParaRPr dirty="0" sz="1300" lang="en-US"/>
          </a:p>
        </p:txBody>
      </p:sp>
      <p:sp>
        <p:nvSpPr>
          <p:cNvPr id="1048665" name="Shape 12"/>
          <p:cNvSpPr/>
          <p:nvPr/>
        </p:nvSpPr>
        <p:spPr>
          <a:xfrm>
            <a:off x="793790" y="4218384"/>
            <a:ext cx="13042821" cy="1020723"/>
          </a:xfrm>
          <a:prstGeom prst="roundRect">
            <a:avLst>
              <a:gd name="adj" fmla="val 7000"/>
            </a:avLst>
          </a:prstGeom>
          <a:solidFill>
            <a:srgbClr val="FFFFF4">
              <a:alpha val="95000"/>
            </a:srgbClr>
          </a:solidFill>
          <a:ln w="22860">
            <a:solidFill>
              <a:srgbClr val="FFE0CC"/>
            </a:solidFill>
            <a:prstDash val="solid"/>
          </a:ln>
        </p:spPr>
      </p:sp>
      <p:sp>
        <p:nvSpPr>
          <p:cNvPr id="1048666" name="Shape 13"/>
          <p:cNvSpPr/>
          <p:nvPr/>
        </p:nvSpPr>
        <p:spPr>
          <a:xfrm>
            <a:off x="816650" y="4241244"/>
            <a:ext cx="680442" cy="975003"/>
          </a:xfrm>
          <a:prstGeom prst="roundRect">
            <a:avLst>
              <a:gd name="adj" fmla="val 6469"/>
            </a:avLst>
          </a:prstGeom>
          <a:solidFill>
            <a:srgbClr val="FFFFF4"/>
          </a:solidFill>
        </p:spPr>
      </p:sp>
      <p:sp>
        <p:nvSpPr>
          <p:cNvPr id="1048667" name="Text 14"/>
          <p:cNvSpPr/>
          <p:nvPr/>
        </p:nvSpPr>
        <p:spPr>
          <a:xfrm>
            <a:off x="1021675" y="4562832"/>
            <a:ext cx="255151" cy="331708"/>
          </a:xfrm>
          <a:prstGeom prst="rect"/>
          <a:noFill/>
        </p:spPr>
        <p:txBody>
          <a:bodyPr anchor="t" bIns="0" lIns="0" rIns="0" rtlCol="0" tIns="0" wrap="none"/>
          <a:p>
            <a:pPr algn="l" indent="0" marL="0">
              <a:lnSpc>
                <a:spcPts val="2000"/>
              </a:lnSpc>
              <a:buNone/>
            </a:pPr>
            <a:r>
              <a:rPr dirty="0" sz="2000" lang="en-US">
                <a:solidFill>
                  <a:srgbClr val="67534F"/>
                </a:solidFill>
                <a:latin typeface="Marcellus" pitchFamily="34" charset="0"/>
                <a:ea typeface="Marcellus" pitchFamily="34" charset="-122"/>
                <a:cs typeface="Marcellus" pitchFamily="34" charset="-120"/>
              </a:rPr>
              <a:t>3</a:t>
            </a:r>
            <a:endParaRPr dirty="0" sz="2000" lang="en-US"/>
          </a:p>
        </p:txBody>
      </p:sp>
      <p:sp>
        <p:nvSpPr>
          <p:cNvPr id="1048668" name="Text 15"/>
          <p:cNvSpPr/>
          <p:nvPr/>
        </p:nvSpPr>
        <p:spPr>
          <a:xfrm>
            <a:off x="1624608" y="4411266"/>
            <a:ext cx="2445425" cy="317897"/>
          </a:xfrm>
          <a:prstGeom prst="rect"/>
          <a:noFill/>
        </p:spPr>
        <p:txBody>
          <a:bodyPr anchor="t" bIns="0" lIns="0" rIns="0" rtlCol="0" tIns="0" wrap="none"/>
          <a:p>
            <a:pPr algn="l" indent="0" marL="0">
              <a:lnSpc>
                <a:spcPts val="2500"/>
              </a:lnSpc>
              <a:buNone/>
            </a:pPr>
            <a:r>
              <a:rPr dirty="0" sz="1900" lang="en-US">
                <a:solidFill>
                  <a:srgbClr val="67534F"/>
                </a:solidFill>
                <a:latin typeface="Marcellus" pitchFamily="34" charset="0"/>
                <a:ea typeface="Marcellus" pitchFamily="34" charset="-122"/>
                <a:cs typeface="Marcellus" pitchFamily="34" charset="-120"/>
              </a:rPr>
              <a:t>Data Accuracy</a:t>
            </a:r>
            <a:endParaRPr dirty="0" sz="1900" lang="en-US"/>
          </a:p>
        </p:txBody>
      </p:sp>
      <p:sp>
        <p:nvSpPr>
          <p:cNvPr id="1048669" name="Text 16"/>
          <p:cNvSpPr/>
          <p:nvPr/>
        </p:nvSpPr>
        <p:spPr>
          <a:xfrm>
            <a:off x="1624608" y="4805601"/>
            <a:ext cx="12019121" cy="193477"/>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Ensure accurate record maintenance through validated data entry and automatic quantity tracking.</a:t>
            </a:r>
            <a:endParaRPr dirty="0" sz="1300" lang="en-US"/>
          </a:p>
        </p:txBody>
      </p:sp>
      <p:sp>
        <p:nvSpPr>
          <p:cNvPr id="1048670" name="Shape 17"/>
          <p:cNvSpPr/>
          <p:nvPr/>
        </p:nvSpPr>
        <p:spPr>
          <a:xfrm>
            <a:off x="793790" y="5366623"/>
            <a:ext cx="13042821" cy="1020723"/>
          </a:xfrm>
          <a:prstGeom prst="roundRect">
            <a:avLst>
              <a:gd name="adj" fmla="val 7000"/>
            </a:avLst>
          </a:prstGeom>
          <a:solidFill>
            <a:srgbClr val="FFFFF4">
              <a:alpha val="95000"/>
            </a:srgbClr>
          </a:solidFill>
          <a:ln w="22860">
            <a:solidFill>
              <a:srgbClr val="FFE0CC"/>
            </a:solidFill>
            <a:prstDash val="solid"/>
          </a:ln>
        </p:spPr>
      </p:sp>
      <p:sp>
        <p:nvSpPr>
          <p:cNvPr id="1048671" name="Shape 18"/>
          <p:cNvSpPr/>
          <p:nvPr/>
        </p:nvSpPr>
        <p:spPr>
          <a:xfrm>
            <a:off x="816650" y="5389483"/>
            <a:ext cx="680442" cy="975003"/>
          </a:xfrm>
          <a:prstGeom prst="roundRect">
            <a:avLst>
              <a:gd name="adj" fmla="val 6469"/>
            </a:avLst>
          </a:prstGeom>
          <a:solidFill>
            <a:srgbClr val="FFFFF4"/>
          </a:solidFill>
        </p:spPr>
      </p:sp>
      <p:sp>
        <p:nvSpPr>
          <p:cNvPr id="1048672" name="Text 19"/>
          <p:cNvSpPr/>
          <p:nvPr/>
        </p:nvSpPr>
        <p:spPr>
          <a:xfrm>
            <a:off x="1021675" y="5711071"/>
            <a:ext cx="255151" cy="331708"/>
          </a:xfrm>
          <a:prstGeom prst="rect"/>
          <a:noFill/>
        </p:spPr>
        <p:txBody>
          <a:bodyPr anchor="t" bIns="0" lIns="0" rIns="0" rtlCol="0" tIns="0" wrap="none"/>
          <a:p>
            <a:pPr algn="l" indent="0" marL="0">
              <a:lnSpc>
                <a:spcPts val="2000"/>
              </a:lnSpc>
              <a:buNone/>
            </a:pPr>
            <a:r>
              <a:rPr dirty="0" sz="2000" lang="en-US">
                <a:solidFill>
                  <a:srgbClr val="67534F"/>
                </a:solidFill>
                <a:latin typeface="Marcellus" pitchFamily="34" charset="0"/>
                <a:ea typeface="Marcellus" pitchFamily="34" charset="-122"/>
                <a:cs typeface="Marcellus" pitchFamily="34" charset="-120"/>
              </a:rPr>
              <a:t>4</a:t>
            </a:r>
            <a:endParaRPr dirty="0" sz="2000" lang="en-US"/>
          </a:p>
        </p:txBody>
      </p:sp>
      <p:sp>
        <p:nvSpPr>
          <p:cNvPr id="1048673" name="Text 20"/>
          <p:cNvSpPr/>
          <p:nvPr/>
        </p:nvSpPr>
        <p:spPr>
          <a:xfrm>
            <a:off x="1624608" y="5559504"/>
            <a:ext cx="2445425" cy="317897"/>
          </a:xfrm>
          <a:prstGeom prst="rect"/>
          <a:noFill/>
        </p:spPr>
        <p:txBody>
          <a:bodyPr anchor="t" bIns="0" lIns="0" rIns="0" rtlCol="0" tIns="0" wrap="none"/>
          <a:p>
            <a:pPr algn="l" indent="0" marL="0">
              <a:lnSpc>
                <a:spcPts val="2500"/>
              </a:lnSpc>
              <a:buNone/>
            </a:pPr>
            <a:r>
              <a:rPr dirty="0" sz="1900" lang="en-US">
                <a:solidFill>
                  <a:srgbClr val="67534F"/>
                </a:solidFill>
                <a:latin typeface="Marcellus" pitchFamily="34" charset="0"/>
                <a:ea typeface="Marcellus" pitchFamily="34" charset="-122"/>
                <a:cs typeface="Marcellus" pitchFamily="34" charset="-120"/>
              </a:rPr>
              <a:t>Quick Access</a:t>
            </a:r>
            <a:endParaRPr dirty="0" sz="1900" lang="en-US"/>
          </a:p>
        </p:txBody>
      </p:sp>
      <p:sp>
        <p:nvSpPr>
          <p:cNvPr id="1048674" name="Text 21"/>
          <p:cNvSpPr/>
          <p:nvPr/>
        </p:nvSpPr>
        <p:spPr>
          <a:xfrm>
            <a:off x="1624608" y="5953839"/>
            <a:ext cx="12019121" cy="193477"/>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Provide instant access to inventory data with search and filtering capabilities for faster decision-making.</a:t>
            </a:r>
            <a:endParaRPr dirty="0" sz="1300" lang="en-US"/>
          </a:p>
        </p:txBody>
      </p:sp>
      <p:sp>
        <p:nvSpPr>
          <p:cNvPr id="1048675" name="Shape 22"/>
          <p:cNvSpPr/>
          <p:nvPr/>
        </p:nvSpPr>
        <p:spPr>
          <a:xfrm>
            <a:off x="793790" y="6514862"/>
            <a:ext cx="13042821" cy="1020723"/>
          </a:xfrm>
          <a:prstGeom prst="roundRect">
            <a:avLst>
              <a:gd name="adj" fmla="val 7000"/>
            </a:avLst>
          </a:prstGeom>
          <a:solidFill>
            <a:srgbClr val="FFFFF4">
              <a:alpha val="95000"/>
            </a:srgbClr>
          </a:solidFill>
          <a:ln w="22860">
            <a:solidFill>
              <a:srgbClr val="FFE0CC"/>
            </a:solidFill>
            <a:prstDash val="solid"/>
          </a:ln>
        </p:spPr>
      </p:sp>
      <p:sp>
        <p:nvSpPr>
          <p:cNvPr id="1048676" name="Shape 23"/>
          <p:cNvSpPr/>
          <p:nvPr/>
        </p:nvSpPr>
        <p:spPr>
          <a:xfrm>
            <a:off x="816650" y="6537722"/>
            <a:ext cx="680442" cy="975003"/>
          </a:xfrm>
          <a:prstGeom prst="roundRect">
            <a:avLst>
              <a:gd name="adj" fmla="val 6469"/>
            </a:avLst>
          </a:prstGeom>
          <a:solidFill>
            <a:srgbClr val="FFFFF4"/>
          </a:solidFill>
        </p:spPr>
      </p:sp>
      <p:sp>
        <p:nvSpPr>
          <p:cNvPr id="1048677" name="Text 24"/>
          <p:cNvSpPr/>
          <p:nvPr/>
        </p:nvSpPr>
        <p:spPr>
          <a:xfrm>
            <a:off x="1021675" y="6859310"/>
            <a:ext cx="255151" cy="331708"/>
          </a:xfrm>
          <a:prstGeom prst="rect"/>
          <a:noFill/>
        </p:spPr>
        <p:txBody>
          <a:bodyPr anchor="t" bIns="0" lIns="0" rIns="0" rtlCol="0" tIns="0" wrap="none"/>
          <a:p>
            <a:pPr algn="l" indent="0" marL="0">
              <a:lnSpc>
                <a:spcPts val="2000"/>
              </a:lnSpc>
              <a:buNone/>
            </a:pPr>
            <a:r>
              <a:rPr dirty="0" sz="2000" lang="en-US">
                <a:solidFill>
                  <a:srgbClr val="67534F"/>
                </a:solidFill>
                <a:latin typeface="Marcellus" pitchFamily="34" charset="0"/>
                <a:ea typeface="Marcellus" pitchFamily="34" charset="-122"/>
                <a:cs typeface="Marcellus" pitchFamily="34" charset="-120"/>
              </a:rPr>
              <a:t>5</a:t>
            </a:r>
            <a:endParaRPr dirty="0" sz="2000" lang="en-US"/>
          </a:p>
        </p:txBody>
      </p:sp>
      <p:sp>
        <p:nvSpPr>
          <p:cNvPr id="1048678" name="Text 25"/>
          <p:cNvSpPr/>
          <p:nvPr/>
        </p:nvSpPr>
        <p:spPr>
          <a:xfrm>
            <a:off x="1624608" y="6707743"/>
            <a:ext cx="2445425" cy="317897"/>
          </a:xfrm>
          <a:prstGeom prst="rect"/>
          <a:noFill/>
        </p:spPr>
        <p:txBody>
          <a:bodyPr anchor="t" bIns="0" lIns="0" rIns="0" rtlCol="0" tIns="0" wrap="none"/>
          <a:p>
            <a:pPr algn="l" indent="0" marL="0">
              <a:lnSpc>
                <a:spcPts val="2500"/>
              </a:lnSpc>
              <a:buNone/>
            </a:pPr>
            <a:r>
              <a:rPr dirty="0" sz="1900" lang="en-US">
                <a:solidFill>
                  <a:srgbClr val="67534F"/>
                </a:solidFill>
                <a:latin typeface="Marcellus" pitchFamily="34" charset="0"/>
                <a:ea typeface="Marcellus" pitchFamily="34" charset="-122"/>
                <a:cs typeface="Marcellus" pitchFamily="34" charset="-120"/>
              </a:rPr>
              <a:t>Real-Time Updates</a:t>
            </a:r>
            <a:endParaRPr dirty="0" sz="1900" lang="en-US"/>
          </a:p>
        </p:txBody>
      </p:sp>
      <p:sp>
        <p:nvSpPr>
          <p:cNvPr id="1048679" name="Text 26"/>
          <p:cNvSpPr/>
          <p:nvPr/>
        </p:nvSpPr>
        <p:spPr>
          <a:xfrm>
            <a:off x="1624608" y="7102078"/>
            <a:ext cx="12019121" cy="193477"/>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Improve business decisions through live inventory updates and instant stock availability visibility.</a:t>
            </a:r>
            <a:endParaRPr dirty="0" sz="1300" lang="en-US"/>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60" name=""/>
        <p:cNvGrpSpPr/>
        <p:nvPr/>
      </p:nvGrpSpPr>
      <p:grpSpPr>
        <a:xfrm>
          <a:off x="0" y="0"/>
          <a:ext cx="0" cy="0"/>
          <a:chOff x="0" y="0"/>
          <a:chExt cx="0" cy="0"/>
        </a:xfrm>
      </p:grpSpPr>
      <p:sp>
        <p:nvSpPr>
          <p:cNvPr id="1048685" name="Text 0"/>
          <p:cNvSpPr/>
          <p:nvPr/>
        </p:nvSpPr>
        <p:spPr>
          <a:xfrm>
            <a:off x="694730" y="583644"/>
            <a:ext cx="4851202" cy="630674"/>
          </a:xfrm>
          <a:prstGeom prst="rect"/>
          <a:noFill/>
        </p:spPr>
        <p:txBody>
          <a:bodyPr anchor="t" bIns="0" lIns="0" rIns="0" rtlCol="0" tIns="0" wrap="none"/>
          <a:p>
            <a:pPr algn="l" indent="0" marL="0">
              <a:lnSpc>
                <a:spcPts val="4950"/>
              </a:lnSpc>
              <a:buNone/>
            </a:pPr>
            <a:r>
              <a:rPr dirty="0" sz="3800" lang="en-US">
                <a:solidFill>
                  <a:srgbClr val="532418"/>
                </a:solidFill>
                <a:latin typeface="Marcellus" pitchFamily="34" charset="0"/>
                <a:ea typeface="Marcellus" pitchFamily="34" charset="-122"/>
                <a:cs typeface="Marcellus" pitchFamily="34" charset="-120"/>
              </a:rPr>
              <a:t>Project Scope</a:t>
            </a:r>
            <a:endParaRPr dirty="0" sz="3800" lang="en-US"/>
          </a:p>
        </p:txBody>
      </p:sp>
      <p:sp>
        <p:nvSpPr>
          <p:cNvPr id="1048686" name="Text 1"/>
          <p:cNvSpPr/>
          <p:nvPr/>
        </p:nvSpPr>
        <p:spPr>
          <a:xfrm>
            <a:off x="694730" y="2557939"/>
            <a:ext cx="2425541" cy="315278"/>
          </a:xfrm>
          <a:prstGeom prst="rect"/>
          <a:noFill/>
        </p:spPr>
        <p:txBody>
          <a:bodyPr anchor="t" bIns="0" lIns="0" rIns="0" rtlCol="0" tIns="0" wrap="none"/>
          <a:p>
            <a:pPr algn="l" indent="0" marL="0">
              <a:lnSpc>
                <a:spcPts val="2450"/>
              </a:lnSpc>
              <a:buNone/>
            </a:pPr>
            <a:r>
              <a:rPr dirty="0" sz="1900" lang="en-US">
                <a:solidFill>
                  <a:srgbClr val="532418"/>
                </a:solidFill>
                <a:latin typeface="Marcellus" pitchFamily="34" charset="0"/>
                <a:ea typeface="Marcellus" pitchFamily="34" charset="-122"/>
                <a:cs typeface="Marcellus" pitchFamily="34" charset="-120"/>
              </a:rPr>
              <a:t>Target Applications</a:t>
            </a:r>
            <a:endParaRPr dirty="0" sz="1900" lang="en-US"/>
          </a:p>
        </p:txBody>
      </p:sp>
      <p:sp>
        <p:nvSpPr>
          <p:cNvPr id="1048687" name="Text 2"/>
          <p:cNvSpPr/>
          <p:nvPr/>
        </p:nvSpPr>
        <p:spPr>
          <a:xfrm>
            <a:off x="694730" y="2998708"/>
            <a:ext cx="4366617" cy="191214"/>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This system serves multiple business environments:</a:t>
            </a:r>
            <a:endParaRPr dirty="0" sz="1300" lang="en-US"/>
          </a:p>
        </p:txBody>
      </p:sp>
      <p:sp>
        <p:nvSpPr>
          <p:cNvPr id="1048688" name="Text 3"/>
          <p:cNvSpPr/>
          <p:nvPr/>
        </p:nvSpPr>
        <p:spPr>
          <a:xfrm>
            <a:off x="694730" y="3302794"/>
            <a:ext cx="4366617" cy="1323023"/>
          </a:xfrm>
          <a:prstGeom prst="rect"/>
          <a:noFill/>
        </p:spPr>
        <p:txBody>
          <a:bodyPr anchor="t" bIns="0" lIns="0" rIns="0" rtlCol="0" tIns="0" wrap="square"/>
          <a:p>
            <a:pPr algn="l" indent="-342900" marL="342900">
              <a:lnSpc>
                <a:spcPts val="1500"/>
              </a:lnSpc>
              <a:buSzPct val="100000"/>
              <a:buChar char="•"/>
            </a:pPr>
            <a:r>
              <a:rPr dirty="0" sz="1300" lang="en-US">
                <a:solidFill>
                  <a:srgbClr val="67534F"/>
                </a:solidFill>
                <a:latin typeface="Montserrat" pitchFamily="34" charset="0"/>
                <a:ea typeface="Montserrat" pitchFamily="34" charset="-122"/>
                <a:cs typeface="Montserrat" pitchFamily="34" charset="-120"/>
              </a:rPr>
              <a:t>Warehouses and distribution centers</a:t>
            </a:r>
            <a:endParaRPr dirty="0" sz="1300" lang="en-US"/>
          </a:p>
          <a:p>
            <a:pPr algn="l" indent="-342900" marL="342900">
              <a:lnSpc>
                <a:spcPts val="1500"/>
              </a:lnSpc>
              <a:buSzPct val="100000"/>
              <a:buChar char="•"/>
            </a:pPr>
            <a:r>
              <a:rPr dirty="0" sz="1300" lang="en-US">
                <a:solidFill>
                  <a:srgbClr val="67534F"/>
                </a:solidFill>
                <a:latin typeface="Montserrat" pitchFamily="34" charset="0"/>
                <a:ea typeface="Montserrat" pitchFamily="34" charset="-122"/>
                <a:cs typeface="Montserrat" pitchFamily="34" charset="-120"/>
              </a:rPr>
              <a:t>Retail shops and stores</a:t>
            </a:r>
            <a:endParaRPr dirty="0" sz="1300" lang="en-US"/>
          </a:p>
          <a:p>
            <a:pPr algn="l" indent="-342900" marL="342900">
              <a:lnSpc>
                <a:spcPts val="1500"/>
              </a:lnSpc>
              <a:buSzPct val="100000"/>
              <a:buChar char="•"/>
            </a:pPr>
            <a:r>
              <a:rPr dirty="0" sz="1300" lang="en-US">
                <a:solidFill>
                  <a:srgbClr val="67534F"/>
                </a:solidFill>
                <a:latin typeface="Montserrat" pitchFamily="34" charset="0"/>
                <a:ea typeface="Montserrat" pitchFamily="34" charset="-122"/>
                <a:cs typeface="Montserrat" pitchFamily="34" charset="-120"/>
              </a:rPr>
              <a:t>Small and medium industries</a:t>
            </a:r>
            <a:endParaRPr dirty="0" sz="1300" lang="en-US"/>
          </a:p>
          <a:p>
            <a:pPr algn="l" indent="-342900" marL="342900">
              <a:lnSpc>
                <a:spcPts val="1500"/>
              </a:lnSpc>
              <a:buSzPct val="100000"/>
              <a:buChar char="•"/>
            </a:pPr>
            <a:r>
              <a:rPr dirty="0" sz="1300" lang="en-US">
                <a:solidFill>
                  <a:srgbClr val="67534F"/>
                </a:solidFill>
                <a:latin typeface="Montserrat" pitchFamily="34" charset="0"/>
                <a:ea typeface="Montserrat" pitchFamily="34" charset="-122"/>
                <a:cs typeface="Montserrat" pitchFamily="34" charset="-120"/>
              </a:rPr>
              <a:t>Storage management units</a:t>
            </a:r>
            <a:endParaRPr dirty="0" sz="1300" lang="en-US"/>
          </a:p>
          <a:p>
            <a:pPr algn="l" indent="-342900" marL="342900">
              <a:lnSpc>
                <a:spcPts val="1500"/>
              </a:lnSpc>
              <a:buSzPct val="100000"/>
              <a:buChar char="•"/>
            </a:pPr>
            <a:r>
              <a:rPr dirty="0" sz="1300" lang="en-US">
                <a:solidFill>
                  <a:srgbClr val="67534F"/>
                </a:solidFill>
                <a:latin typeface="Montserrat" pitchFamily="34" charset="0"/>
                <a:ea typeface="Montserrat" pitchFamily="34" charset="-122"/>
                <a:cs typeface="Montserrat" pitchFamily="34" charset="-120"/>
              </a:rPr>
              <a:t>Educational purposes for full-stack development learning</a:t>
            </a:r>
            <a:endParaRPr dirty="0" sz="1300" lang="en-US"/>
          </a:p>
        </p:txBody>
      </p:sp>
      <p:pic>
        <p:nvPicPr>
          <p:cNvPr id="2097164" name="Image 0" descr="preencoded.png"/>
          <p:cNvPicPr>
            <a:picLocks noChangeAspect="1"/>
          </p:cNvPicPr>
          <p:nvPr/>
        </p:nvPicPr>
        <p:blipFill>
          <a:blip xmlns:r="http://schemas.openxmlformats.org/officeDocument/2006/relationships" r:embed="rId1"/>
          <a:stretch>
            <a:fillRect/>
          </a:stretch>
        </p:blipFill>
        <p:spPr>
          <a:xfrm>
            <a:off x="6115407" y="1543764"/>
            <a:ext cx="7193042" cy="4014668"/>
          </a:xfrm>
          <a:prstGeom prst="rect"/>
        </p:spPr>
      </p:pic>
      <p:sp>
        <p:nvSpPr>
          <p:cNvPr id="1048689" name="Shape 4"/>
          <p:cNvSpPr/>
          <p:nvPr/>
        </p:nvSpPr>
        <p:spPr>
          <a:xfrm>
            <a:off x="694730" y="5925183"/>
            <a:ext cx="13240941" cy="28694"/>
          </a:xfrm>
          <a:prstGeom prst="rect"/>
          <a:solidFill>
            <a:srgbClr val="67534F">
              <a:alpha val="50000"/>
            </a:srgbClr>
          </a:solidFill>
        </p:spPr>
      </p:sp>
      <p:pic>
        <p:nvPicPr>
          <p:cNvPr id="2097165" name="Image 1" descr="preencoded.png"/>
          <p:cNvPicPr>
            <a:picLocks noChangeAspect="1"/>
          </p:cNvPicPr>
          <p:nvPr/>
        </p:nvPicPr>
        <p:blipFill>
          <a:blip xmlns:r="http://schemas.openxmlformats.org/officeDocument/2006/relationships" r:embed="rId2"/>
          <a:stretch>
            <a:fillRect/>
          </a:stretch>
        </p:blipFill>
        <p:spPr>
          <a:xfrm>
            <a:off x="694730" y="6095048"/>
            <a:ext cx="4413647" cy="674846"/>
          </a:xfrm>
          <a:prstGeom prst="rect"/>
        </p:spPr>
      </p:pic>
      <p:sp>
        <p:nvSpPr>
          <p:cNvPr id="1048690" name="Text 5"/>
          <p:cNvSpPr/>
          <p:nvPr/>
        </p:nvSpPr>
        <p:spPr>
          <a:xfrm>
            <a:off x="863441" y="6895386"/>
            <a:ext cx="2425541" cy="315278"/>
          </a:xfrm>
          <a:prstGeom prst="rect"/>
          <a:noFill/>
        </p:spPr>
        <p:txBody>
          <a:bodyPr anchor="t" bIns="0" lIns="0" rIns="0" rtlCol="0" tIns="0" wrap="none"/>
          <a:p>
            <a:pPr algn="l" indent="0" marL="0">
              <a:lnSpc>
                <a:spcPts val="2450"/>
              </a:lnSpc>
              <a:buNone/>
            </a:pPr>
            <a:r>
              <a:rPr dirty="0" sz="1900" lang="en-US">
                <a:solidFill>
                  <a:srgbClr val="67534F"/>
                </a:solidFill>
                <a:latin typeface="Marcellus" pitchFamily="34" charset="0"/>
                <a:ea typeface="Marcellus" pitchFamily="34" charset="-122"/>
                <a:cs typeface="Marcellus" pitchFamily="34" charset="-120"/>
              </a:rPr>
              <a:t>Product Entry</a:t>
            </a:r>
            <a:endParaRPr dirty="0" sz="1900" lang="en-US"/>
          </a:p>
        </p:txBody>
      </p:sp>
      <p:sp>
        <p:nvSpPr>
          <p:cNvPr id="1048691" name="Text 6"/>
          <p:cNvSpPr/>
          <p:nvPr/>
        </p:nvSpPr>
        <p:spPr>
          <a:xfrm>
            <a:off x="863441" y="7285911"/>
            <a:ext cx="4076224" cy="191214"/>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Add new inventory items with complete details</a:t>
            </a:r>
            <a:endParaRPr dirty="0" sz="1300" lang="en-US"/>
          </a:p>
        </p:txBody>
      </p:sp>
      <p:pic>
        <p:nvPicPr>
          <p:cNvPr id="2097166" name="Image 2" descr="preencoded.png"/>
          <p:cNvPicPr>
            <a:picLocks noChangeAspect="1"/>
          </p:cNvPicPr>
          <p:nvPr/>
        </p:nvPicPr>
        <p:blipFill>
          <a:blip xmlns:r="http://schemas.openxmlformats.org/officeDocument/2006/relationships" r:embed="rId3"/>
          <a:stretch>
            <a:fillRect/>
          </a:stretch>
        </p:blipFill>
        <p:spPr>
          <a:xfrm>
            <a:off x="5108377" y="6095048"/>
            <a:ext cx="4413647" cy="674846"/>
          </a:xfrm>
          <a:prstGeom prst="rect"/>
        </p:spPr>
      </p:pic>
      <p:sp>
        <p:nvSpPr>
          <p:cNvPr id="1048692" name="Text 7"/>
          <p:cNvSpPr/>
          <p:nvPr/>
        </p:nvSpPr>
        <p:spPr>
          <a:xfrm>
            <a:off x="5277088" y="6895386"/>
            <a:ext cx="2425541" cy="315278"/>
          </a:xfrm>
          <a:prstGeom prst="rect"/>
          <a:noFill/>
        </p:spPr>
        <p:txBody>
          <a:bodyPr anchor="t" bIns="0" lIns="0" rIns="0" rtlCol="0" tIns="0" wrap="none"/>
          <a:p>
            <a:pPr algn="l" indent="0" marL="0">
              <a:lnSpc>
                <a:spcPts val="2450"/>
              </a:lnSpc>
              <a:buNone/>
            </a:pPr>
            <a:r>
              <a:rPr dirty="0" sz="1900" lang="en-US">
                <a:solidFill>
                  <a:srgbClr val="67534F"/>
                </a:solidFill>
                <a:latin typeface="Marcellus" pitchFamily="34" charset="0"/>
                <a:ea typeface="Marcellus" pitchFamily="34" charset="-122"/>
                <a:cs typeface="Marcellus" pitchFamily="34" charset="-120"/>
              </a:rPr>
              <a:t>Stock Updates</a:t>
            </a:r>
            <a:endParaRPr dirty="0" sz="1900" lang="en-US"/>
          </a:p>
        </p:txBody>
      </p:sp>
      <p:sp>
        <p:nvSpPr>
          <p:cNvPr id="1048693" name="Text 8"/>
          <p:cNvSpPr/>
          <p:nvPr/>
        </p:nvSpPr>
        <p:spPr>
          <a:xfrm>
            <a:off x="5277088" y="7285911"/>
            <a:ext cx="4076224" cy="191214"/>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Real-time quantity tracking and modifications</a:t>
            </a:r>
            <a:endParaRPr dirty="0" sz="1300" lang="en-US"/>
          </a:p>
        </p:txBody>
      </p:sp>
      <p:pic>
        <p:nvPicPr>
          <p:cNvPr id="2097167" name="Image 3" descr="preencoded.png"/>
          <p:cNvPicPr>
            <a:picLocks noChangeAspect="1"/>
          </p:cNvPicPr>
          <p:nvPr/>
        </p:nvPicPr>
        <p:blipFill>
          <a:blip xmlns:r="http://schemas.openxmlformats.org/officeDocument/2006/relationships" r:embed="rId4"/>
          <a:stretch>
            <a:fillRect/>
          </a:stretch>
        </p:blipFill>
        <p:spPr>
          <a:xfrm>
            <a:off x="9522023" y="6095048"/>
            <a:ext cx="4413647" cy="674846"/>
          </a:xfrm>
          <a:prstGeom prst="rect"/>
        </p:spPr>
      </p:pic>
      <p:sp>
        <p:nvSpPr>
          <p:cNvPr id="1048694" name="Text 9"/>
          <p:cNvSpPr/>
          <p:nvPr/>
        </p:nvSpPr>
        <p:spPr>
          <a:xfrm>
            <a:off x="9690735" y="6895386"/>
            <a:ext cx="2425541" cy="315278"/>
          </a:xfrm>
          <a:prstGeom prst="rect"/>
          <a:noFill/>
        </p:spPr>
        <p:txBody>
          <a:bodyPr anchor="t" bIns="0" lIns="0" rIns="0" rtlCol="0" tIns="0" wrap="none"/>
          <a:p>
            <a:pPr algn="l" indent="0" marL="0">
              <a:lnSpc>
                <a:spcPts val="2450"/>
              </a:lnSpc>
              <a:buNone/>
            </a:pPr>
            <a:r>
              <a:rPr dirty="0" sz="1900" lang="en-US">
                <a:solidFill>
                  <a:srgbClr val="67534F"/>
                </a:solidFill>
                <a:latin typeface="Marcellus" pitchFamily="34" charset="0"/>
                <a:ea typeface="Marcellus" pitchFamily="34" charset="-122"/>
                <a:cs typeface="Marcellus" pitchFamily="34" charset="-120"/>
              </a:rPr>
              <a:t>Report Generation</a:t>
            </a:r>
            <a:endParaRPr dirty="0" sz="1900" lang="en-US"/>
          </a:p>
        </p:txBody>
      </p:sp>
      <p:sp>
        <p:nvSpPr>
          <p:cNvPr id="1048695" name="Text 10"/>
          <p:cNvSpPr/>
          <p:nvPr/>
        </p:nvSpPr>
        <p:spPr>
          <a:xfrm>
            <a:off x="9690735" y="7285911"/>
            <a:ext cx="4076224" cy="191214"/>
          </a:xfrm>
          <a:prstGeom prst="rect"/>
          <a:noFill/>
        </p:spPr>
        <p:txBody>
          <a:bodyPr anchor="t" bIns="0" lIns="0" rIns="0" rtlCol="0" tIns="0" wrap="none"/>
          <a:p>
            <a:pPr algn="l" indent="0" marL="0">
              <a:lnSpc>
                <a:spcPts val="1500"/>
              </a:lnSpc>
              <a:buNone/>
            </a:pPr>
            <a:r>
              <a:rPr dirty="0" sz="1300" lang="en-US">
                <a:solidFill>
                  <a:srgbClr val="67534F"/>
                </a:solidFill>
                <a:latin typeface="Montserrat" pitchFamily="34" charset="0"/>
                <a:ea typeface="Montserrat" pitchFamily="34" charset="-122"/>
                <a:cs typeface="Montserrat" pitchFamily="34" charset="-120"/>
              </a:rPr>
              <a:t>Comprehensive inventory reports and analytics</a:t>
            </a:r>
            <a:endParaRPr dirty="0" sz="1300" lang="en-US"/>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64" name=""/>
        <p:cNvGrpSpPr/>
        <p:nvPr/>
      </p:nvGrpSpPr>
      <p:grpSpPr>
        <a:xfrm>
          <a:off x="0" y="0"/>
          <a:ext cx="0" cy="0"/>
          <a:chOff x="0" y="0"/>
          <a:chExt cx="0" cy="0"/>
        </a:xfrm>
      </p:grpSpPr>
      <p:sp>
        <p:nvSpPr>
          <p:cNvPr id="1048701" name="Text 0"/>
          <p:cNvSpPr/>
          <p:nvPr/>
        </p:nvSpPr>
        <p:spPr>
          <a:xfrm>
            <a:off x="793790" y="985242"/>
            <a:ext cx="6521291" cy="847725"/>
          </a:xfrm>
          <a:prstGeom prst="rect"/>
          <a:noFill/>
        </p:spPr>
        <p:txBody>
          <a:bodyPr anchor="t" bIns="0" lIns="0" rIns="0" rtlCol="0" tIns="0" wrap="none"/>
          <a:p>
            <a:pPr algn="l" indent="0" marL="0">
              <a:lnSpc>
                <a:spcPts val="6650"/>
              </a:lnSpc>
              <a:buNone/>
            </a:pPr>
            <a:r>
              <a:rPr dirty="0" sz="5100" lang="en-US">
                <a:solidFill>
                  <a:srgbClr val="532418"/>
                </a:solidFill>
                <a:latin typeface="Marcellus" pitchFamily="34" charset="0"/>
                <a:ea typeface="Marcellus" pitchFamily="34" charset="-122"/>
                <a:cs typeface="Marcellus" pitchFamily="34" charset="-120"/>
              </a:rPr>
              <a:t>Technologies Used</a:t>
            </a:r>
            <a:endParaRPr dirty="0" sz="5100" lang="en-US"/>
          </a:p>
        </p:txBody>
      </p:sp>
      <p:sp>
        <p:nvSpPr>
          <p:cNvPr id="1048702" name="Text 1"/>
          <p:cNvSpPr/>
          <p:nvPr/>
        </p:nvSpPr>
        <p:spPr>
          <a:xfrm>
            <a:off x="793790" y="2286595"/>
            <a:ext cx="13042821"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A modern full-stack architecture combining proven technologies for reliability and performance:</a:t>
            </a:r>
            <a:endParaRPr dirty="0" sz="1750" lang="en-US"/>
          </a:p>
        </p:txBody>
      </p:sp>
      <p:pic>
        <p:nvPicPr>
          <p:cNvPr id="2097169" name="Image 0" descr="preencoded.png"/>
          <p:cNvPicPr>
            <a:picLocks noChangeAspect="1"/>
          </p:cNvPicPr>
          <p:nvPr/>
        </p:nvPicPr>
        <p:blipFill>
          <a:blip xmlns:r="http://schemas.openxmlformats.org/officeDocument/2006/relationships" r:embed="rId1"/>
          <a:stretch>
            <a:fillRect/>
          </a:stretch>
        </p:blipFill>
        <p:spPr>
          <a:xfrm>
            <a:off x="793790" y="2836545"/>
            <a:ext cx="566976" cy="566976"/>
          </a:xfrm>
          <a:prstGeom prst="rect"/>
        </p:spPr>
      </p:pic>
      <p:sp>
        <p:nvSpPr>
          <p:cNvPr id="1048703" name="Text 2"/>
          <p:cNvSpPr/>
          <p:nvPr/>
        </p:nvSpPr>
        <p:spPr>
          <a:xfrm>
            <a:off x="1644253" y="2836545"/>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Frontend Stack</a:t>
            </a:r>
            <a:endParaRPr dirty="0" sz="2550" lang="en-US"/>
          </a:p>
        </p:txBody>
      </p:sp>
      <p:sp>
        <p:nvSpPr>
          <p:cNvPr id="1048704" name="Text 3"/>
          <p:cNvSpPr/>
          <p:nvPr/>
        </p:nvSpPr>
        <p:spPr>
          <a:xfrm>
            <a:off x="1644253" y="3396496"/>
            <a:ext cx="5529143" cy="1417082"/>
          </a:xfrm>
          <a:prstGeom prst="rect"/>
          <a:noFill/>
        </p:spPr>
        <p:txBody>
          <a:bodyPr anchor="t" bIns="0" lIns="0" rIns="0" rtlCol="0" tIns="0" wrap="square"/>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React JS for dynamic UI</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HTML &amp; CSS for structure</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JavaScript for interactivity</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Axios for API calls</a:t>
            </a:r>
            <a:endParaRPr dirty="0" sz="1750" lang="en-US"/>
          </a:p>
        </p:txBody>
      </p:sp>
      <p:pic>
        <p:nvPicPr>
          <p:cNvPr id="2097170" name="Image 1" descr="preencoded.png"/>
          <p:cNvPicPr>
            <a:picLocks noChangeAspect="1"/>
          </p:cNvPicPr>
          <p:nvPr/>
        </p:nvPicPr>
        <p:blipFill>
          <a:blip xmlns:r="http://schemas.openxmlformats.org/officeDocument/2006/relationships" r:embed="rId1"/>
          <a:stretch>
            <a:fillRect/>
          </a:stretch>
        </p:blipFill>
        <p:spPr>
          <a:xfrm>
            <a:off x="7456884" y="2836545"/>
            <a:ext cx="566976" cy="566976"/>
          </a:xfrm>
          <a:prstGeom prst="rect"/>
        </p:spPr>
      </p:pic>
      <p:sp>
        <p:nvSpPr>
          <p:cNvPr id="1048705" name="Text 4"/>
          <p:cNvSpPr/>
          <p:nvPr/>
        </p:nvSpPr>
        <p:spPr>
          <a:xfrm>
            <a:off x="8307348" y="2836545"/>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Backend Stack</a:t>
            </a:r>
            <a:endParaRPr dirty="0" sz="2550" lang="en-US"/>
          </a:p>
        </p:txBody>
      </p:sp>
      <p:sp>
        <p:nvSpPr>
          <p:cNvPr id="1048706" name="Text 5"/>
          <p:cNvSpPr/>
          <p:nvPr/>
        </p:nvSpPr>
        <p:spPr>
          <a:xfrm>
            <a:off x="8307348" y="3396496"/>
            <a:ext cx="5529263" cy="1791176"/>
          </a:xfrm>
          <a:prstGeom prst="rect"/>
          <a:noFill/>
        </p:spPr>
        <p:txBody>
          <a:bodyPr anchor="t" bIns="0" lIns="0" rIns="0" rtlCol="0" tIns="0" wrap="square"/>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Java programming language</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Spring Framework ecosystem</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Spring Boot for rapid development</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Spring Data JPA for data access</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REST API for communication</a:t>
            </a:r>
            <a:endParaRPr dirty="0" sz="1750" lang="en-US"/>
          </a:p>
        </p:txBody>
      </p:sp>
      <p:pic>
        <p:nvPicPr>
          <p:cNvPr id="2097171" name="Image 2" descr="preencoded.png"/>
          <p:cNvPicPr>
            <a:picLocks noChangeAspect="1"/>
          </p:cNvPicPr>
          <p:nvPr/>
        </p:nvPicPr>
        <p:blipFill>
          <a:blip xmlns:r="http://schemas.openxmlformats.org/officeDocument/2006/relationships" r:embed="rId1"/>
          <a:stretch>
            <a:fillRect/>
          </a:stretch>
        </p:blipFill>
        <p:spPr>
          <a:xfrm>
            <a:off x="793790" y="5641300"/>
            <a:ext cx="566976" cy="566976"/>
          </a:xfrm>
          <a:prstGeom prst="rect"/>
        </p:spPr>
      </p:pic>
      <p:sp>
        <p:nvSpPr>
          <p:cNvPr id="1048707" name="Text 6"/>
          <p:cNvSpPr/>
          <p:nvPr/>
        </p:nvSpPr>
        <p:spPr>
          <a:xfrm>
            <a:off x="1644253" y="5641300"/>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Database</a:t>
            </a:r>
            <a:endParaRPr dirty="0" sz="2550" lang="en-US"/>
          </a:p>
        </p:txBody>
      </p:sp>
      <p:sp>
        <p:nvSpPr>
          <p:cNvPr id="1048708" name="Text 7"/>
          <p:cNvSpPr/>
          <p:nvPr/>
        </p:nvSpPr>
        <p:spPr>
          <a:xfrm>
            <a:off x="1644253" y="6201251"/>
            <a:ext cx="5529143" cy="1042988"/>
          </a:xfrm>
          <a:prstGeom prst="rect"/>
          <a:noFill/>
        </p:spPr>
        <p:txBody>
          <a:bodyPr anchor="t" bIns="0" lIns="0" rIns="0" rtlCol="0" tIns="0" wrap="square"/>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MySQL for data storage</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Structured query language</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Relational data model</a:t>
            </a:r>
            <a:endParaRPr dirty="0" sz="1750" lang="en-US"/>
          </a:p>
        </p:txBody>
      </p:sp>
      <p:pic>
        <p:nvPicPr>
          <p:cNvPr id="2097172" name="Image 3" descr="preencoded.png"/>
          <p:cNvPicPr>
            <a:picLocks noChangeAspect="1"/>
          </p:cNvPicPr>
          <p:nvPr/>
        </p:nvPicPr>
        <p:blipFill>
          <a:blip xmlns:r="http://schemas.openxmlformats.org/officeDocument/2006/relationships" r:embed="rId1"/>
          <a:stretch>
            <a:fillRect/>
          </a:stretch>
        </p:blipFill>
        <p:spPr>
          <a:xfrm>
            <a:off x="7456884" y="5641300"/>
            <a:ext cx="566976" cy="566976"/>
          </a:xfrm>
          <a:prstGeom prst="rect"/>
        </p:spPr>
      </p:pic>
      <p:sp>
        <p:nvSpPr>
          <p:cNvPr id="1048709" name="Text 8"/>
          <p:cNvSpPr/>
          <p:nvPr/>
        </p:nvSpPr>
        <p:spPr>
          <a:xfrm>
            <a:off x="8307348" y="5641300"/>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Development Tools</a:t>
            </a:r>
            <a:endParaRPr dirty="0" sz="2550" lang="en-US"/>
          </a:p>
        </p:txBody>
      </p:sp>
      <p:sp>
        <p:nvSpPr>
          <p:cNvPr id="1048710" name="Text 9"/>
          <p:cNvSpPr/>
          <p:nvPr/>
        </p:nvSpPr>
        <p:spPr>
          <a:xfrm>
            <a:off x="8307348" y="6201251"/>
            <a:ext cx="5529263" cy="1042988"/>
          </a:xfrm>
          <a:prstGeom prst="rect"/>
          <a:noFill/>
        </p:spPr>
        <p:txBody>
          <a:bodyPr anchor="t" bIns="0" lIns="0" rIns="0" rtlCol="0" tIns="0" wrap="square"/>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IntelliJ IDEA for coding</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Postman for API testing</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Git &amp; GitHub for version control</a:t>
            </a:r>
            <a:endParaRPr dirty="0" sz="1750" lang="en-US"/>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68" name=""/>
        <p:cNvGrpSpPr/>
        <p:nvPr/>
      </p:nvGrpSpPr>
      <p:grpSpPr>
        <a:xfrm>
          <a:off x="0" y="0"/>
          <a:ext cx="0" cy="0"/>
          <a:chOff x="0" y="0"/>
          <a:chExt cx="0" cy="0"/>
        </a:xfrm>
      </p:grpSpPr>
      <p:sp>
        <p:nvSpPr>
          <p:cNvPr id="1048716" name="Text 0"/>
          <p:cNvSpPr/>
          <p:nvPr/>
        </p:nvSpPr>
        <p:spPr>
          <a:xfrm>
            <a:off x="669727" y="526256"/>
            <a:ext cx="3775353" cy="464939"/>
          </a:xfrm>
          <a:prstGeom prst="rect"/>
          <a:noFill/>
        </p:spPr>
        <p:txBody>
          <a:bodyPr anchor="t" bIns="0" lIns="0" rIns="0" rtlCol="0" tIns="0" wrap="none"/>
          <a:p>
            <a:pPr algn="l" indent="0" marL="0">
              <a:lnSpc>
                <a:spcPts val="3650"/>
              </a:lnSpc>
              <a:buNone/>
            </a:pPr>
            <a:r>
              <a:rPr dirty="0" sz="2800" lang="en-US">
                <a:solidFill>
                  <a:srgbClr val="532418"/>
                </a:solidFill>
                <a:latin typeface="Marcellus" pitchFamily="34" charset="0"/>
                <a:ea typeface="Marcellus" pitchFamily="34" charset="-122"/>
                <a:cs typeface="Marcellus" pitchFamily="34" charset="-120"/>
              </a:rPr>
              <a:t>Existing System Analysis</a:t>
            </a:r>
            <a:endParaRPr dirty="0" sz="2800" lang="en-US"/>
          </a:p>
        </p:txBody>
      </p:sp>
      <p:sp>
        <p:nvSpPr>
          <p:cNvPr id="1048717" name="Text 1"/>
          <p:cNvSpPr/>
          <p:nvPr/>
        </p:nvSpPr>
        <p:spPr>
          <a:xfrm>
            <a:off x="669727" y="2797731"/>
            <a:ext cx="2141101" cy="232410"/>
          </a:xfrm>
          <a:prstGeom prst="rect"/>
          <a:noFill/>
        </p:spPr>
        <p:txBody>
          <a:bodyPr anchor="t" bIns="0" lIns="0" rIns="0" rtlCol="0" tIns="0" wrap="none"/>
          <a:p>
            <a:pPr algn="l" indent="0" marL="0">
              <a:lnSpc>
                <a:spcPts val="1800"/>
              </a:lnSpc>
              <a:buNone/>
            </a:pPr>
            <a:r>
              <a:rPr dirty="0" sz="1400" lang="en-US">
                <a:solidFill>
                  <a:srgbClr val="532418"/>
                </a:solidFill>
                <a:latin typeface="Marcellus" pitchFamily="34" charset="0"/>
                <a:ea typeface="Marcellus" pitchFamily="34" charset="-122"/>
                <a:cs typeface="Marcellus" pitchFamily="34" charset="-120"/>
              </a:rPr>
              <a:t>Current Manual Approach</a:t>
            </a:r>
            <a:endParaRPr dirty="0" sz="1400" lang="en-US"/>
          </a:p>
        </p:txBody>
      </p:sp>
      <p:sp>
        <p:nvSpPr>
          <p:cNvPr id="1048718" name="Text 2"/>
          <p:cNvSpPr/>
          <p:nvPr/>
        </p:nvSpPr>
        <p:spPr>
          <a:xfrm>
            <a:off x="669727" y="3098244"/>
            <a:ext cx="8532852" cy="125135"/>
          </a:xfrm>
          <a:prstGeom prst="rect"/>
          <a:noFill/>
        </p:spPr>
        <p:txBody>
          <a:bodyPr anchor="t" bIns="0" lIns="0" rIns="0" rtlCol="0" tIns="0" wrap="none"/>
          <a:p>
            <a:pPr algn="l" indent="0" marL="0">
              <a:lnSpc>
                <a:spcPts val="950"/>
              </a:lnSpc>
              <a:buNone/>
            </a:pPr>
            <a:r>
              <a:rPr dirty="0" sz="1050" lang="en-US">
                <a:solidFill>
                  <a:srgbClr val="67534F"/>
                </a:solidFill>
                <a:latin typeface="Montserrat" pitchFamily="34" charset="0"/>
                <a:ea typeface="Montserrat" pitchFamily="34" charset="-122"/>
                <a:cs typeface="Montserrat" pitchFamily="34" charset="-120"/>
              </a:rPr>
              <a:t>Traditional inventory systems rely on paper-based </a:t>
            </a:r>
            <a:r>
              <a:rPr dirty="0" sz="1100" lang="en-US">
                <a:solidFill>
                  <a:srgbClr val="67534F"/>
                </a:solidFill>
                <a:latin typeface="Montserrat" pitchFamily="34" charset="0"/>
                <a:ea typeface="Montserrat" pitchFamily="34" charset="-122"/>
                <a:cs typeface="Montserrat" pitchFamily="34" charset="-120"/>
              </a:rPr>
              <a:t>records</a:t>
            </a:r>
            <a:r>
              <a:rPr dirty="0" sz="1050" lang="en-US">
                <a:solidFill>
                  <a:srgbClr val="67534F"/>
                </a:solidFill>
                <a:latin typeface="Montserrat" pitchFamily="34" charset="0"/>
                <a:ea typeface="Montserrat" pitchFamily="34" charset="-122"/>
                <a:cs typeface="Montserrat" pitchFamily="34" charset="-120"/>
              </a:rPr>
              <a:t> and spreadsheet files, creating multiple operational challenges:</a:t>
            </a:r>
            <a:endParaRPr dirty="0" sz="1050" lang="en-US"/>
          </a:p>
        </p:txBody>
      </p:sp>
      <p:sp>
        <p:nvSpPr>
          <p:cNvPr id="1048719" name="Text 3"/>
          <p:cNvSpPr/>
          <p:nvPr/>
        </p:nvSpPr>
        <p:spPr>
          <a:xfrm>
            <a:off x="669727" y="3284696"/>
            <a:ext cx="8532852" cy="372904"/>
          </a:xfrm>
          <a:prstGeom prst="rect"/>
          <a:noFill/>
        </p:spPr>
        <p:txBody>
          <a:bodyPr anchor="t" bIns="0" lIns="0" rIns="0" rtlCol="0" tIns="0" wrap="none"/>
          <a:p>
            <a:pPr algn="l" indent="0" marL="0">
              <a:lnSpc>
                <a:spcPts val="950"/>
              </a:lnSpc>
              <a:buNone/>
            </a:pPr>
            <a:r>
              <a:rPr b="1" dirty="0" sz="950" lang="en-US">
                <a:solidFill>
                  <a:srgbClr val="1F1F1E"/>
                </a:solidFill>
                <a:latin typeface="Montserrat" pitchFamily="34" charset="0"/>
                <a:ea typeface="Montserrat" pitchFamily="34" charset="-122"/>
                <a:cs typeface="Montserrat" pitchFamily="34" charset="-120"/>
              </a:rPr>
              <a:t>Result:</a:t>
            </a:r>
            <a:r>
              <a:rPr dirty="0" sz="950" lang="en-US">
                <a:solidFill>
                  <a:srgbClr val="67534F"/>
                </a:solidFill>
                <a:latin typeface="Montserrat" pitchFamily="34" charset="0"/>
                <a:ea typeface="Montserrat" pitchFamily="34" charset="-122"/>
                <a:cs typeface="Montserrat" pitchFamily="34" charset="-120"/>
              </a:rPr>
              <a:t> </a:t>
            </a:r>
            <a:r>
              <a:rPr dirty="0" sz="1050" lang="en-US">
                <a:solidFill>
                  <a:srgbClr val="67534F"/>
                </a:solidFill>
                <a:latin typeface="Montserrat" pitchFamily="34" charset="0"/>
                <a:ea typeface="Montserrat" pitchFamily="34" charset="-122"/>
                <a:cs typeface="Montserrat" pitchFamily="34" charset="-120"/>
              </a:rPr>
              <a:t>Less efficient, error-prone operations</a:t>
            </a:r>
            <a:endParaRPr dirty="0" sz="1050" lang="en-US"/>
          </a:p>
        </p:txBody>
      </p:sp>
      <p:pic>
        <p:nvPicPr>
          <p:cNvPr id="2097174" name="Image 0" descr="preencoded.png"/>
          <p:cNvPicPr>
            <a:picLocks noChangeAspect="1"/>
          </p:cNvPicPr>
          <p:nvPr/>
        </p:nvPicPr>
        <p:blipFill>
          <a:blip xmlns:r="http://schemas.openxmlformats.org/officeDocument/2006/relationships" r:embed="rId1"/>
          <a:stretch>
            <a:fillRect/>
          </a:stretch>
        </p:blipFill>
        <p:spPr>
          <a:xfrm>
            <a:off x="10293072" y="1170146"/>
            <a:ext cx="2895481" cy="3860602"/>
          </a:xfrm>
          <a:prstGeom prst="rect"/>
        </p:spPr>
      </p:pic>
      <p:sp>
        <p:nvSpPr>
          <p:cNvPr id="1048720" name="Shape 4"/>
          <p:cNvSpPr/>
          <p:nvPr/>
        </p:nvSpPr>
        <p:spPr>
          <a:xfrm>
            <a:off x="669727" y="5253990"/>
            <a:ext cx="62151" cy="62151"/>
          </a:xfrm>
          <a:prstGeom prst="roundRect">
            <a:avLst>
              <a:gd name="adj" fmla="val 735628"/>
            </a:avLst>
          </a:prstGeom>
          <a:solidFill>
            <a:srgbClr val="FF954F"/>
          </a:solidFill>
        </p:spPr>
      </p:sp>
      <p:sp>
        <p:nvSpPr>
          <p:cNvPr id="1048721" name="Text 5"/>
          <p:cNvSpPr/>
          <p:nvPr/>
        </p:nvSpPr>
        <p:spPr>
          <a:xfrm>
            <a:off x="799981" y="5184100"/>
            <a:ext cx="2365058" cy="232410"/>
          </a:xfrm>
          <a:prstGeom prst="rect"/>
          <a:noFill/>
        </p:spPr>
        <p:txBody>
          <a:bodyPr anchor="t" bIns="0" lIns="0" rIns="0" rtlCol="0" tIns="0" wrap="none"/>
          <a:p>
            <a:pPr algn="l" indent="0" marL="0">
              <a:lnSpc>
                <a:spcPts val="1800"/>
              </a:lnSpc>
              <a:buNone/>
            </a:pPr>
            <a:r>
              <a:rPr dirty="0" sz="1400" lang="en-US">
                <a:solidFill>
                  <a:srgbClr val="67534F"/>
                </a:solidFill>
                <a:latin typeface="Marcellus" pitchFamily="34" charset="0"/>
                <a:ea typeface="Marcellus" pitchFamily="34" charset="-122"/>
                <a:cs typeface="Marcellus" pitchFamily="34" charset="-120"/>
              </a:rPr>
              <a:t>Manual Record Maintenance</a:t>
            </a:r>
            <a:endParaRPr dirty="0" sz="1400" lang="en-US"/>
          </a:p>
        </p:txBody>
      </p:sp>
      <p:sp>
        <p:nvSpPr>
          <p:cNvPr id="1048722" name="Text 6"/>
          <p:cNvSpPr/>
          <p:nvPr/>
        </p:nvSpPr>
        <p:spPr>
          <a:xfrm>
            <a:off x="799981" y="5457349"/>
            <a:ext cx="13160693" cy="125135"/>
          </a:xfrm>
          <a:prstGeom prst="rect"/>
          <a:noFill/>
        </p:spPr>
        <p:txBody>
          <a:bodyPr anchor="t" bIns="0" lIns="0" rIns="0" rtlCol="0" tIns="0" wrap="none"/>
          <a:p>
            <a:pPr algn="l" indent="0" marL="0">
              <a:lnSpc>
                <a:spcPts val="950"/>
              </a:lnSpc>
              <a:buNone/>
            </a:pPr>
            <a:r>
              <a:rPr dirty="0" sz="950" lang="en-US">
                <a:solidFill>
                  <a:srgbClr val="67534F"/>
                </a:solidFill>
                <a:latin typeface="Montserrat" pitchFamily="34" charset="0"/>
                <a:ea typeface="Montserrat" pitchFamily="34" charset="-122"/>
                <a:cs typeface="Montserrat" pitchFamily="34" charset="-120"/>
              </a:rPr>
              <a:t>Physical registers and Excel files require hand-written entries</a:t>
            </a:r>
            <a:endParaRPr dirty="0" sz="950" lang="en-US"/>
          </a:p>
        </p:txBody>
      </p:sp>
      <p:sp>
        <p:nvSpPr>
          <p:cNvPr id="1048723" name="Shape 7"/>
          <p:cNvSpPr/>
          <p:nvPr/>
        </p:nvSpPr>
        <p:spPr>
          <a:xfrm>
            <a:off x="669727" y="5788700"/>
            <a:ext cx="62151" cy="62151"/>
          </a:xfrm>
          <a:prstGeom prst="roundRect">
            <a:avLst>
              <a:gd name="adj" fmla="val 735628"/>
            </a:avLst>
          </a:prstGeom>
          <a:solidFill>
            <a:srgbClr val="FF954F"/>
          </a:solidFill>
        </p:spPr>
      </p:sp>
      <p:sp>
        <p:nvSpPr>
          <p:cNvPr id="1048724" name="Text 8"/>
          <p:cNvSpPr/>
          <p:nvPr/>
        </p:nvSpPr>
        <p:spPr>
          <a:xfrm>
            <a:off x="799981" y="5718810"/>
            <a:ext cx="1787962" cy="232410"/>
          </a:xfrm>
          <a:prstGeom prst="rect"/>
          <a:noFill/>
        </p:spPr>
        <p:txBody>
          <a:bodyPr anchor="t" bIns="0" lIns="0" rIns="0" rtlCol="0" tIns="0" wrap="none"/>
          <a:p>
            <a:pPr algn="l" indent="0" marL="0">
              <a:lnSpc>
                <a:spcPts val="1800"/>
              </a:lnSpc>
              <a:buNone/>
            </a:pPr>
            <a:r>
              <a:rPr dirty="0" sz="1400" lang="en-US">
                <a:solidFill>
                  <a:srgbClr val="67534F"/>
                </a:solidFill>
                <a:latin typeface="Marcellus" pitchFamily="34" charset="0"/>
                <a:ea typeface="Marcellus" pitchFamily="34" charset="-122"/>
                <a:cs typeface="Marcellus" pitchFamily="34" charset="-120"/>
              </a:rPr>
              <a:t>Slow Stock Updates</a:t>
            </a:r>
            <a:endParaRPr dirty="0" sz="1400" lang="en-US"/>
          </a:p>
        </p:txBody>
      </p:sp>
      <p:sp>
        <p:nvSpPr>
          <p:cNvPr id="1048725" name="Text 9"/>
          <p:cNvSpPr/>
          <p:nvPr/>
        </p:nvSpPr>
        <p:spPr>
          <a:xfrm>
            <a:off x="799981" y="5992058"/>
            <a:ext cx="13160693" cy="125135"/>
          </a:xfrm>
          <a:prstGeom prst="rect"/>
          <a:noFill/>
        </p:spPr>
        <p:txBody>
          <a:bodyPr anchor="t" bIns="0" lIns="0" rIns="0" rtlCol="0" tIns="0" wrap="none"/>
          <a:p>
            <a:pPr algn="l" indent="0" marL="0">
              <a:lnSpc>
                <a:spcPts val="950"/>
              </a:lnSpc>
              <a:buNone/>
            </a:pPr>
            <a:r>
              <a:rPr dirty="0" sz="950" lang="en-US">
                <a:solidFill>
                  <a:srgbClr val="67534F"/>
                </a:solidFill>
                <a:latin typeface="Montserrat" pitchFamily="34" charset="0"/>
                <a:ea typeface="Montserrat" pitchFamily="34" charset="-122"/>
                <a:cs typeface="Montserrat" pitchFamily="34" charset="-120"/>
              </a:rPr>
              <a:t>Time-consuming process to update inventory quantities</a:t>
            </a:r>
            <a:endParaRPr dirty="0" sz="950" lang="en-US"/>
          </a:p>
        </p:txBody>
      </p:sp>
      <p:sp>
        <p:nvSpPr>
          <p:cNvPr id="1048726" name="Shape 10"/>
          <p:cNvSpPr/>
          <p:nvPr/>
        </p:nvSpPr>
        <p:spPr>
          <a:xfrm>
            <a:off x="669727" y="6323409"/>
            <a:ext cx="62151" cy="62151"/>
          </a:xfrm>
          <a:prstGeom prst="roundRect">
            <a:avLst>
              <a:gd name="adj" fmla="val 735628"/>
            </a:avLst>
          </a:prstGeom>
          <a:solidFill>
            <a:srgbClr val="FF954F"/>
          </a:solidFill>
        </p:spPr>
      </p:sp>
      <p:sp>
        <p:nvSpPr>
          <p:cNvPr id="1048727" name="Text 11"/>
          <p:cNvSpPr/>
          <p:nvPr/>
        </p:nvSpPr>
        <p:spPr>
          <a:xfrm>
            <a:off x="799981" y="6253520"/>
            <a:ext cx="1787962" cy="232410"/>
          </a:xfrm>
          <a:prstGeom prst="rect"/>
          <a:noFill/>
        </p:spPr>
        <p:txBody>
          <a:bodyPr anchor="t" bIns="0" lIns="0" rIns="0" rtlCol="0" tIns="0" wrap="none"/>
          <a:p>
            <a:pPr algn="l" indent="0" marL="0">
              <a:lnSpc>
                <a:spcPts val="1800"/>
              </a:lnSpc>
              <a:buNone/>
            </a:pPr>
            <a:r>
              <a:rPr dirty="0" sz="1400" lang="en-US">
                <a:solidFill>
                  <a:srgbClr val="67534F"/>
                </a:solidFill>
                <a:latin typeface="Marcellus" pitchFamily="34" charset="0"/>
                <a:ea typeface="Marcellus" pitchFamily="34" charset="-122"/>
                <a:cs typeface="Marcellus" pitchFamily="34" charset="-120"/>
              </a:rPr>
              <a:t>Difficult Reporting</a:t>
            </a:r>
            <a:endParaRPr dirty="0" sz="1400" lang="en-US"/>
          </a:p>
        </p:txBody>
      </p:sp>
      <p:sp>
        <p:nvSpPr>
          <p:cNvPr id="1048728" name="Text 12"/>
          <p:cNvSpPr/>
          <p:nvPr/>
        </p:nvSpPr>
        <p:spPr>
          <a:xfrm>
            <a:off x="799981" y="6526768"/>
            <a:ext cx="13160693" cy="125135"/>
          </a:xfrm>
          <a:prstGeom prst="rect"/>
          <a:noFill/>
        </p:spPr>
        <p:txBody>
          <a:bodyPr anchor="t" bIns="0" lIns="0" rIns="0" rtlCol="0" tIns="0" wrap="none"/>
          <a:p>
            <a:pPr algn="l" indent="0" marL="0">
              <a:lnSpc>
                <a:spcPts val="950"/>
              </a:lnSpc>
              <a:buNone/>
            </a:pPr>
            <a:r>
              <a:rPr dirty="0" sz="950" lang="en-US">
                <a:solidFill>
                  <a:srgbClr val="67534F"/>
                </a:solidFill>
                <a:latin typeface="Montserrat" pitchFamily="34" charset="0"/>
                <a:ea typeface="Montserrat" pitchFamily="34" charset="-122"/>
                <a:cs typeface="Montserrat" pitchFamily="34" charset="-120"/>
              </a:rPr>
              <a:t>Generating reports requires manual data compilation</a:t>
            </a:r>
            <a:endParaRPr dirty="0" sz="950" lang="en-US"/>
          </a:p>
        </p:txBody>
      </p:sp>
      <p:sp>
        <p:nvSpPr>
          <p:cNvPr id="1048729" name="Shape 13"/>
          <p:cNvSpPr/>
          <p:nvPr/>
        </p:nvSpPr>
        <p:spPr>
          <a:xfrm>
            <a:off x="669727" y="6858119"/>
            <a:ext cx="62151" cy="62151"/>
          </a:xfrm>
          <a:prstGeom prst="roundRect">
            <a:avLst>
              <a:gd name="adj" fmla="val 735628"/>
            </a:avLst>
          </a:prstGeom>
          <a:solidFill>
            <a:srgbClr val="FF954F"/>
          </a:solidFill>
        </p:spPr>
      </p:sp>
      <p:sp>
        <p:nvSpPr>
          <p:cNvPr id="1048730" name="Text 14"/>
          <p:cNvSpPr/>
          <p:nvPr/>
        </p:nvSpPr>
        <p:spPr>
          <a:xfrm>
            <a:off x="799981" y="6788229"/>
            <a:ext cx="1787962" cy="232410"/>
          </a:xfrm>
          <a:prstGeom prst="rect"/>
          <a:noFill/>
        </p:spPr>
        <p:txBody>
          <a:bodyPr anchor="t" bIns="0" lIns="0" rIns="0" rtlCol="0" tIns="0" wrap="none"/>
          <a:p>
            <a:pPr algn="l" indent="0" marL="0">
              <a:lnSpc>
                <a:spcPts val="1800"/>
              </a:lnSpc>
              <a:buNone/>
            </a:pPr>
            <a:r>
              <a:rPr dirty="0" sz="1400" lang="en-US">
                <a:solidFill>
                  <a:srgbClr val="67534F"/>
                </a:solidFill>
                <a:latin typeface="Marcellus" pitchFamily="34" charset="0"/>
                <a:ea typeface="Marcellus" pitchFamily="34" charset="-122"/>
                <a:cs typeface="Marcellus" pitchFamily="34" charset="-120"/>
              </a:rPr>
              <a:t>Duplicate Entry Risk</a:t>
            </a:r>
            <a:endParaRPr dirty="0" sz="1400" lang="en-US"/>
          </a:p>
        </p:txBody>
      </p:sp>
      <p:sp>
        <p:nvSpPr>
          <p:cNvPr id="1048731" name="Text 15"/>
          <p:cNvSpPr/>
          <p:nvPr/>
        </p:nvSpPr>
        <p:spPr>
          <a:xfrm>
            <a:off x="799981" y="7061478"/>
            <a:ext cx="13160693" cy="125135"/>
          </a:xfrm>
          <a:prstGeom prst="rect"/>
          <a:noFill/>
        </p:spPr>
        <p:txBody>
          <a:bodyPr anchor="t" bIns="0" lIns="0" rIns="0" rtlCol="0" tIns="0" wrap="none"/>
          <a:p>
            <a:pPr algn="l" indent="0" marL="0">
              <a:lnSpc>
                <a:spcPts val="950"/>
              </a:lnSpc>
              <a:buNone/>
            </a:pPr>
            <a:r>
              <a:rPr dirty="0" sz="950" lang="en-US">
                <a:solidFill>
                  <a:srgbClr val="67534F"/>
                </a:solidFill>
                <a:latin typeface="Montserrat" pitchFamily="34" charset="0"/>
                <a:ea typeface="Montserrat" pitchFamily="34" charset="-122"/>
                <a:cs typeface="Montserrat" pitchFamily="34" charset="-120"/>
              </a:rPr>
              <a:t>High probability of data entry errors and duplicates</a:t>
            </a:r>
            <a:endParaRPr dirty="0" sz="950" lang="en-US"/>
          </a:p>
        </p:txBody>
      </p:sp>
      <p:sp>
        <p:nvSpPr>
          <p:cNvPr id="1048732" name="Shape 16"/>
          <p:cNvSpPr/>
          <p:nvPr/>
        </p:nvSpPr>
        <p:spPr>
          <a:xfrm>
            <a:off x="669727" y="7392829"/>
            <a:ext cx="62151" cy="62151"/>
          </a:xfrm>
          <a:prstGeom prst="roundRect">
            <a:avLst>
              <a:gd name="adj" fmla="val 735628"/>
            </a:avLst>
          </a:prstGeom>
          <a:solidFill>
            <a:srgbClr val="FF954F"/>
          </a:solidFill>
        </p:spPr>
      </p:sp>
      <p:sp>
        <p:nvSpPr>
          <p:cNvPr id="1048733" name="Text 17"/>
          <p:cNvSpPr/>
          <p:nvPr/>
        </p:nvSpPr>
        <p:spPr>
          <a:xfrm>
            <a:off x="799981" y="7322939"/>
            <a:ext cx="1848207" cy="232410"/>
          </a:xfrm>
          <a:prstGeom prst="rect"/>
          <a:noFill/>
        </p:spPr>
        <p:txBody>
          <a:bodyPr anchor="t" bIns="0" lIns="0" rIns="0" rtlCol="0" tIns="0" wrap="none"/>
          <a:p>
            <a:pPr algn="l" indent="0" marL="0">
              <a:lnSpc>
                <a:spcPts val="1800"/>
              </a:lnSpc>
              <a:buNone/>
            </a:pPr>
            <a:r>
              <a:rPr dirty="0" sz="1400" lang="en-US">
                <a:solidFill>
                  <a:srgbClr val="67534F"/>
                </a:solidFill>
                <a:latin typeface="Marcellus" pitchFamily="34" charset="0"/>
                <a:ea typeface="Marcellus" pitchFamily="34" charset="-122"/>
                <a:cs typeface="Marcellus" pitchFamily="34" charset="-120"/>
              </a:rPr>
              <a:t>Availability Monitoring</a:t>
            </a:r>
            <a:endParaRPr dirty="0" sz="1400" lang="en-US"/>
          </a:p>
        </p:txBody>
      </p:sp>
      <p:sp>
        <p:nvSpPr>
          <p:cNvPr id="1048734" name="Text 18"/>
          <p:cNvSpPr/>
          <p:nvPr/>
        </p:nvSpPr>
        <p:spPr>
          <a:xfrm>
            <a:off x="799981" y="7596188"/>
            <a:ext cx="13160693" cy="125135"/>
          </a:xfrm>
          <a:prstGeom prst="rect"/>
          <a:noFill/>
        </p:spPr>
        <p:txBody>
          <a:bodyPr anchor="t" bIns="0" lIns="0" rIns="0" rtlCol="0" tIns="0" wrap="none"/>
          <a:p>
            <a:pPr algn="l" indent="0" marL="0">
              <a:lnSpc>
                <a:spcPts val="950"/>
              </a:lnSpc>
              <a:buNone/>
            </a:pPr>
            <a:r>
              <a:rPr dirty="0" sz="950" lang="en-US">
                <a:solidFill>
                  <a:srgbClr val="67534F"/>
                </a:solidFill>
                <a:latin typeface="Montserrat" pitchFamily="34" charset="0"/>
                <a:ea typeface="Montserrat" pitchFamily="34" charset="-122"/>
                <a:cs typeface="Montserrat" pitchFamily="34" charset="-120"/>
              </a:rPr>
              <a:t>Challenging to track product availability in real-time</a:t>
            </a:r>
            <a:endParaRPr dirty="0" sz="950" lang="en-US"/>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72" name=""/>
        <p:cNvGrpSpPr/>
        <p:nvPr/>
      </p:nvGrpSpPr>
      <p:grpSpPr>
        <a:xfrm>
          <a:off x="0" y="0"/>
          <a:ext cx="0" cy="0"/>
          <a:chOff x="0" y="0"/>
          <a:chExt cx="0" cy="0"/>
        </a:xfrm>
      </p:grpSpPr>
      <p:sp>
        <p:nvSpPr>
          <p:cNvPr id="1048740" name="Text 0"/>
          <p:cNvSpPr/>
          <p:nvPr/>
        </p:nvSpPr>
        <p:spPr>
          <a:xfrm>
            <a:off x="793790" y="805339"/>
            <a:ext cx="7166729" cy="805220"/>
          </a:xfrm>
          <a:prstGeom prst="rect"/>
          <a:noFill/>
        </p:spPr>
        <p:txBody>
          <a:bodyPr anchor="t" bIns="0" lIns="0" rIns="0" rtlCol="0" tIns="0" wrap="none"/>
          <a:p>
            <a:pPr algn="l" indent="0" marL="0">
              <a:lnSpc>
                <a:spcPts val="6300"/>
              </a:lnSpc>
              <a:buNone/>
            </a:pPr>
            <a:r>
              <a:rPr dirty="0" sz="4850" lang="en-US">
                <a:solidFill>
                  <a:srgbClr val="532418"/>
                </a:solidFill>
                <a:latin typeface="Marcellus" pitchFamily="34" charset="0"/>
                <a:ea typeface="Marcellus" pitchFamily="34" charset="-122"/>
                <a:cs typeface="Marcellus" pitchFamily="34" charset="-120"/>
              </a:rPr>
              <a:t>Proposed System Solution</a:t>
            </a:r>
            <a:endParaRPr dirty="0" sz="4850" lang="en-US"/>
          </a:p>
        </p:txBody>
      </p:sp>
      <p:sp>
        <p:nvSpPr>
          <p:cNvPr id="1048741" name="Text 1"/>
          <p:cNvSpPr/>
          <p:nvPr/>
        </p:nvSpPr>
        <p:spPr>
          <a:xfrm>
            <a:off x="793790" y="2019895"/>
            <a:ext cx="13042821" cy="273129"/>
          </a:xfrm>
          <a:prstGeom prst="rect"/>
          <a:noFill/>
        </p:spPr>
        <p:txBody>
          <a:bodyPr anchor="t" bIns="0" lIns="0" rIns="0" rtlCol="0" tIns="0" wrap="non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A web-based application that addresses existing system limitations through digital automation:</a:t>
            </a:r>
            <a:endParaRPr dirty="0" sz="1650" lang="en-US"/>
          </a:p>
        </p:txBody>
      </p:sp>
      <p:sp>
        <p:nvSpPr>
          <p:cNvPr id="1048742" name="Shape 2"/>
          <p:cNvSpPr/>
          <p:nvPr/>
        </p:nvSpPr>
        <p:spPr>
          <a:xfrm>
            <a:off x="793790" y="2523292"/>
            <a:ext cx="4211122" cy="2094428"/>
          </a:xfrm>
          <a:prstGeom prst="roundRect">
            <a:avLst>
              <a:gd name="adj" fmla="val 4321"/>
            </a:avLst>
          </a:prstGeom>
          <a:solidFill>
            <a:srgbClr val="FFFFF4"/>
          </a:solidFill>
          <a:ln w="22860">
            <a:solidFill>
              <a:srgbClr val="FFE0CC"/>
            </a:solidFill>
            <a:prstDash val="solid"/>
          </a:ln>
        </p:spPr>
      </p:sp>
      <p:sp>
        <p:nvSpPr>
          <p:cNvPr id="1048743" name="Text 3"/>
          <p:cNvSpPr/>
          <p:nvPr/>
        </p:nvSpPr>
        <p:spPr>
          <a:xfrm>
            <a:off x="1032034" y="2761536"/>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Digital Data Storage</a:t>
            </a:r>
            <a:endParaRPr dirty="0" sz="2400" lang="en-US"/>
          </a:p>
        </p:txBody>
      </p:sp>
      <p:sp>
        <p:nvSpPr>
          <p:cNvPr id="1048744" name="Text 4"/>
          <p:cNvSpPr/>
          <p:nvPr/>
        </p:nvSpPr>
        <p:spPr>
          <a:xfrm>
            <a:off x="1032034" y="3286958"/>
            <a:ext cx="3734633" cy="1092518"/>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Centralized database stores all inventory information securely and eliminates paper-based records</a:t>
            </a:r>
            <a:endParaRPr dirty="0" sz="1650" lang="en-US"/>
          </a:p>
        </p:txBody>
      </p:sp>
      <p:sp>
        <p:nvSpPr>
          <p:cNvPr id="1048745" name="Shape 5"/>
          <p:cNvSpPr/>
          <p:nvPr/>
        </p:nvSpPr>
        <p:spPr>
          <a:xfrm>
            <a:off x="5209580" y="2523292"/>
            <a:ext cx="4211122" cy="2094428"/>
          </a:xfrm>
          <a:prstGeom prst="roundRect">
            <a:avLst>
              <a:gd name="adj" fmla="val 4321"/>
            </a:avLst>
          </a:prstGeom>
          <a:solidFill>
            <a:srgbClr val="FFFFF4"/>
          </a:solidFill>
          <a:ln w="22860">
            <a:solidFill>
              <a:srgbClr val="FFE0CC"/>
            </a:solidFill>
            <a:prstDash val="solid"/>
          </a:ln>
        </p:spPr>
      </p:sp>
      <p:sp>
        <p:nvSpPr>
          <p:cNvPr id="1048746" name="Text 6"/>
          <p:cNvSpPr/>
          <p:nvPr/>
        </p:nvSpPr>
        <p:spPr>
          <a:xfrm>
            <a:off x="5447824" y="2761536"/>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CRUD Operations</a:t>
            </a:r>
            <a:endParaRPr dirty="0" sz="2400" lang="en-US"/>
          </a:p>
        </p:txBody>
      </p:sp>
      <p:sp>
        <p:nvSpPr>
          <p:cNvPr id="1048747" name="Text 7"/>
          <p:cNvSpPr/>
          <p:nvPr/>
        </p:nvSpPr>
        <p:spPr>
          <a:xfrm>
            <a:off x="5447824" y="3286958"/>
            <a:ext cx="3734633" cy="819388"/>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Users can create, read, update, and delete product records with simple interface actions</a:t>
            </a:r>
            <a:endParaRPr dirty="0" sz="1650" lang="en-US"/>
          </a:p>
        </p:txBody>
      </p:sp>
      <p:sp>
        <p:nvSpPr>
          <p:cNvPr id="1048748" name="Shape 8"/>
          <p:cNvSpPr/>
          <p:nvPr/>
        </p:nvSpPr>
        <p:spPr>
          <a:xfrm>
            <a:off x="9625370" y="2523292"/>
            <a:ext cx="4211122" cy="2094428"/>
          </a:xfrm>
          <a:prstGeom prst="roundRect">
            <a:avLst>
              <a:gd name="adj" fmla="val 4321"/>
            </a:avLst>
          </a:prstGeom>
          <a:solidFill>
            <a:srgbClr val="FFFFF4"/>
          </a:solidFill>
          <a:ln w="22860">
            <a:solidFill>
              <a:srgbClr val="FFE0CC"/>
            </a:solidFill>
            <a:prstDash val="solid"/>
          </a:ln>
        </p:spPr>
      </p:sp>
      <p:sp>
        <p:nvSpPr>
          <p:cNvPr id="1048749" name="Text 9"/>
          <p:cNvSpPr/>
          <p:nvPr/>
        </p:nvSpPr>
        <p:spPr>
          <a:xfrm>
            <a:off x="9863614" y="2761536"/>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Real-Time Tracking</a:t>
            </a:r>
            <a:endParaRPr dirty="0" sz="2400" lang="en-US"/>
          </a:p>
        </p:txBody>
      </p:sp>
      <p:sp>
        <p:nvSpPr>
          <p:cNvPr id="1048750" name="Text 10"/>
          <p:cNvSpPr/>
          <p:nvPr/>
        </p:nvSpPr>
        <p:spPr>
          <a:xfrm>
            <a:off x="9863614" y="3286958"/>
            <a:ext cx="3734633" cy="819388"/>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Stock quantities update instantly with every transaction, providing live inventory visibility</a:t>
            </a:r>
            <a:endParaRPr dirty="0" sz="1650" lang="en-US"/>
          </a:p>
        </p:txBody>
      </p:sp>
      <p:sp>
        <p:nvSpPr>
          <p:cNvPr id="1048751" name="Shape 11"/>
          <p:cNvSpPr/>
          <p:nvPr/>
        </p:nvSpPr>
        <p:spPr>
          <a:xfrm>
            <a:off x="793790" y="4822388"/>
            <a:ext cx="6419017" cy="1548170"/>
          </a:xfrm>
          <a:prstGeom prst="roundRect">
            <a:avLst>
              <a:gd name="adj" fmla="val 5846"/>
            </a:avLst>
          </a:prstGeom>
          <a:solidFill>
            <a:srgbClr val="FFFFF4"/>
          </a:solidFill>
          <a:ln w="22860">
            <a:solidFill>
              <a:srgbClr val="FFE0CC"/>
            </a:solidFill>
            <a:prstDash val="solid"/>
          </a:ln>
        </p:spPr>
      </p:sp>
      <p:sp>
        <p:nvSpPr>
          <p:cNvPr id="1048752" name="Text 12"/>
          <p:cNvSpPr/>
          <p:nvPr/>
        </p:nvSpPr>
        <p:spPr>
          <a:xfrm>
            <a:off x="1032034" y="5060633"/>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Storage Management</a:t>
            </a:r>
            <a:endParaRPr dirty="0" sz="2400" lang="en-US"/>
          </a:p>
        </p:txBody>
      </p:sp>
      <p:sp>
        <p:nvSpPr>
          <p:cNvPr id="1048753" name="Text 13"/>
          <p:cNvSpPr/>
          <p:nvPr/>
        </p:nvSpPr>
        <p:spPr>
          <a:xfrm>
            <a:off x="1032034" y="5586055"/>
            <a:ext cx="5942528" cy="546259"/>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Efficient organization and tracking of storage locations and product placements</a:t>
            </a:r>
            <a:endParaRPr dirty="0" sz="1650" lang="en-US"/>
          </a:p>
        </p:txBody>
      </p:sp>
      <p:sp>
        <p:nvSpPr>
          <p:cNvPr id="1048754" name="Shape 14"/>
          <p:cNvSpPr/>
          <p:nvPr/>
        </p:nvSpPr>
        <p:spPr>
          <a:xfrm>
            <a:off x="7417475" y="4822388"/>
            <a:ext cx="6419017" cy="1548170"/>
          </a:xfrm>
          <a:prstGeom prst="roundRect">
            <a:avLst>
              <a:gd name="adj" fmla="val 5846"/>
            </a:avLst>
          </a:prstGeom>
          <a:solidFill>
            <a:srgbClr val="FFFFF4"/>
          </a:solidFill>
          <a:ln w="22860">
            <a:solidFill>
              <a:srgbClr val="FFE0CC"/>
            </a:solidFill>
            <a:prstDash val="solid"/>
          </a:ln>
        </p:spPr>
      </p:sp>
      <p:sp>
        <p:nvSpPr>
          <p:cNvPr id="1048755" name="Text 15"/>
          <p:cNvSpPr/>
          <p:nvPr/>
        </p:nvSpPr>
        <p:spPr>
          <a:xfrm>
            <a:off x="7655719" y="5060633"/>
            <a:ext cx="3097530" cy="402669"/>
          </a:xfrm>
          <a:prstGeom prst="rect"/>
          <a:noFill/>
        </p:spPr>
        <p:txBody>
          <a:bodyPr anchor="t" bIns="0" lIns="0" rIns="0" rtlCol="0" tIns="0" wrap="none"/>
          <a:p>
            <a:pPr algn="l" indent="0" marL="0">
              <a:lnSpc>
                <a:spcPts val="3150"/>
              </a:lnSpc>
              <a:buNone/>
            </a:pPr>
            <a:r>
              <a:rPr dirty="0" sz="2400" lang="en-US">
                <a:solidFill>
                  <a:srgbClr val="67534F"/>
                </a:solidFill>
                <a:latin typeface="Marcellus" pitchFamily="34" charset="0"/>
                <a:ea typeface="Marcellus" pitchFamily="34" charset="-122"/>
                <a:cs typeface="Marcellus" pitchFamily="34" charset="-120"/>
              </a:rPr>
              <a:t>Secure Access</a:t>
            </a:r>
            <a:endParaRPr dirty="0" sz="2400" lang="en-US"/>
          </a:p>
        </p:txBody>
      </p:sp>
      <p:sp>
        <p:nvSpPr>
          <p:cNvPr id="1048756" name="Text 16"/>
          <p:cNvSpPr/>
          <p:nvPr/>
        </p:nvSpPr>
        <p:spPr>
          <a:xfrm>
            <a:off x="7655719" y="5586055"/>
            <a:ext cx="5942528" cy="546259"/>
          </a:xfrm>
          <a:prstGeom prst="rect"/>
          <a:noFill/>
        </p:spPr>
        <p:txBody>
          <a:bodyPr anchor="t" bIns="0" lIns="0" rIns="0" rtlCol="0" tIns="0" wrap="square"/>
          <a:p>
            <a:pPr algn="l" indent="0" marL="0">
              <a:lnSpc>
                <a:spcPts val="2150"/>
              </a:lnSpc>
              <a:buNone/>
            </a:pPr>
            <a:r>
              <a:rPr dirty="0" sz="1650" lang="en-US">
                <a:solidFill>
                  <a:srgbClr val="67534F"/>
                </a:solidFill>
                <a:latin typeface="Montserrat" pitchFamily="34" charset="0"/>
                <a:ea typeface="Montserrat" pitchFamily="34" charset="-122"/>
                <a:cs typeface="Montserrat" pitchFamily="34" charset="-120"/>
              </a:rPr>
              <a:t>Protected login system with role-based access control ensures data security</a:t>
            </a:r>
            <a:endParaRPr dirty="0" sz="1650" lang="en-US"/>
          </a:p>
        </p:txBody>
      </p:sp>
      <p:sp>
        <p:nvSpPr>
          <p:cNvPr id="1048757" name="Shape 17"/>
          <p:cNvSpPr/>
          <p:nvPr/>
        </p:nvSpPr>
        <p:spPr>
          <a:xfrm>
            <a:off x="793790" y="6600825"/>
            <a:ext cx="13042821" cy="823436"/>
          </a:xfrm>
          <a:prstGeom prst="roundRect">
            <a:avLst>
              <a:gd name="adj" fmla="val 10991"/>
            </a:avLst>
          </a:prstGeom>
          <a:solidFill>
            <a:srgbClr val="FFD1B3"/>
          </a:solidFill>
        </p:spPr>
      </p:sp>
      <p:pic>
        <p:nvPicPr>
          <p:cNvPr id="2097176" name="Image 0" descr="preencoded.png"/>
          <p:cNvPicPr>
            <a:picLocks noChangeAspect="1"/>
          </p:cNvPicPr>
          <p:nvPr/>
        </p:nvPicPr>
        <p:blipFill>
          <a:blip xmlns:r="http://schemas.openxmlformats.org/officeDocument/2006/relationships" r:embed="rId1"/>
          <a:stretch>
            <a:fillRect/>
          </a:stretch>
        </p:blipFill>
        <p:spPr>
          <a:xfrm>
            <a:off x="1009174" y="6887289"/>
            <a:ext cx="269319" cy="215384"/>
          </a:xfrm>
          <a:prstGeom prst="rect"/>
        </p:spPr>
      </p:pic>
      <p:sp>
        <p:nvSpPr>
          <p:cNvPr id="1048758" name="Text 18"/>
          <p:cNvSpPr/>
          <p:nvPr/>
        </p:nvSpPr>
        <p:spPr>
          <a:xfrm>
            <a:off x="1493877" y="6859310"/>
            <a:ext cx="12127349" cy="273129"/>
          </a:xfrm>
          <a:prstGeom prst="rect"/>
          <a:noFill/>
        </p:spPr>
        <p:txBody>
          <a:bodyPr anchor="t" bIns="0" lIns="0" rIns="0" rtlCol="0" tIns="0" wrap="none"/>
          <a:p>
            <a:pPr algn="l" indent="0" marL="0">
              <a:lnSpc>
                <a:spcPts val="2150"/>
              </a:lnSpc>
              <a:buNone/>
            </a:pPr>
            <a:r>
              <a:rPr b="1" dirty="0" sz="1650" lang="en-US">
                <a:solidFill>
                  <a:srgbClr val="000000"/>
                </a:solidFill>
                <a:latin typeface="Montserrat" pitchFamily="34" charset="0"/>
                <a:ea typeface="Montserrat" pitchFamily="34" charset="-122"/>
                <a:cs typeface="Montserrat" pitchFamily="34" charset="-120"/>
              </a:rPr>
              <a:t>Outcome:</a:t>
            </a:r>
            <a:r>
              <a:rPr dirty="0" sz="1650" lang="en-US">
                <a:solidFill>
                  <a:srgbClr val="000000"/>
                </a:solidFill>
                <a:latin typeface="Montserrat" pitchFamily="34" charset="0"/>
                <a:ea typeface="Montserrat" pitchFamily="34" charset="-122"/>
                <a:cs typeface="Montserrat" pitchFamily="34" charset="-120"/>
              </a:rPr>
              <a:t> Enhanced performance, accuracy, and productivity through digital transformation</a:t>
            </a:r>
            <a:endParaRPr dirty="0" sz="1650" lang="en-US"/>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76" name=""/>
        <p:cNvGrpSpPr/>
        <p:nvPr/>
      </p:nvGrpSpPr>
      <p:grpSpPr>
        <a:xfrm>
          <a:off x="0" y="0"/>
          <a:ext cx="0" cy="0"/>
          <a:chOff x="0" y="0"/>
          <a:chExt cx="0" cy="0"/>
        </a:xfrm>
      </p:grpSpPr>
      <p:sp>
        <p:nvSpPr>
          <p:cNvPr id="1048764" name="Text 0"/>
          <p:cNvSpPr/>
          <p:nvPr/>
        </p:nvSpPr>
        <p:spPr>
          <a:xfrm>
            <a:off x="793790" y="634127"/>
            <a:ext cx="5869067" cy="762833"/>
          </a:xfrm>
          <a:prstGeom prst="rect"/>
          <a:noFill/>
        </p:spPr>
        <p:txBody>
          <a:bodyPr anchor="t" bIns="0" lIns="0" rIns="0" rtlCol="0" tIns="0" wrap="none"/>
          <a:p>
            <a:pPr algn="l" indent="0" marL="0">
              <a:lnSpc>
                <a:spcPts val="6000"/>
              </a:lnSpc>
              <a:buNone/>
            </a:pPr>
            <a:r>
              <a:rPr dirty="0" sz="4600" lang="en-US">
                <a:solidFill>
                  <a:srgbClr val="532418"/>
                </a:solidFill>
                <a:latin typeface="Marcellus" pitchFamily="34" charset="0"/>
                <a:ea typeface="Marcellus" pitchFamily="34" charset="-122"/>
                <a:cs typeface="Marcellus" pitchFamily="34" charset="-120"/>
              </a:rPr>
              <a:t>System Architecture</a:t>
            </a:r>
            <a:endParaRPr dirty="0" sz="4600" lang="en-US"/>
          </a:p>
        </p:txBody>
      </p:sp>
      <p:sp>
        <p:nvSpPr>
          <p:cNvPr id="1048765" name="Text 1"/>
          <p:cNvSpPr/>
          <p:nvPr/>
        </p:nvSpPr>
        <p:spPr>
          <a:xfrm>
            <a:off x="793790" y="1764387"/>
            <a:ext cx="13042821" cy="252174"/>
          </a:xfrm>
          <a:prstGeom prst="rect"/>
          <a:noFill/>
        </p:spPr>
        <p:txBody>
          <a:bodyPr anchor="t" bIns="0" lIns="0" rIns="0" rtlCol="0" tIns="0" wrap="none"/>
          <a:p>
            <a:pPr algn="l" indent="0" marL="0">
              <a:lnSpc>
                <a:spcPts val="1950"/>
              </a:lnSpc>
              <a:buNone/>
            </a:pPr>
            <a:r>
              <a:rPr dirty="0" sz="1600" lang="en-US">
                <a:solidFill>
                  <a:srgbClr val="67534F"/>
                </a:solidFill>
                <a:latin typeface="Montserrat" pitchFamily="34" charset="0"/>
                <a:ea typeface="Montserrat" pitchFamily="34" charset="-122"/>
                <a:cs typeface="Montserrat" pitchFamily="34" charset="-120"/>
              </a:rPr>
              <a:t>A layered architecture ensuring separation of concerns and maintainable code structure:</a:t>
            </a:r>
            <a:endParaRPr dirty="0" sz="1600" lang="en-US"/>
          </a:p>
        </p:txBody>
      </p:sp>
      <p:pic>
        <p:nvPicPr>
          <p:cNvPr id="2097178" name="Image 0" descr="preencoded.png"/>
          <p:cNvPicPr>
            <a:picLocks noChangeAspect="1"/>
          </p:cNvPicPr>
          <p:nvPr/>
        </p:nvPicPr>
        <p:blipFill>
          <a:blip xmlns:r="http://schemas.openxmlformats.org/officeDocument/2006/relationships" r:embed="rId1"/>
          <a:stretch>
            <a:fillRect/>
          </a:stretch>
        </p:blipFill>
        <p:spPr>
          <a:xfrm>
            <a:off x="1445895" y="2223254"/>
            <a:ext cx="11738491" cy="5372100"/>
          </a:xfrm>
          <a:prstGeom prst="rect"/>
        </p:spPr>
      </p:pic>
      <p:sp>
        <p:nvSpPr>
          <p:cNvPr id="1048766" name="Text 2"/>
          <p:cNvSpPr/>
          <p:nvPr/>
        </p:nvSpPr>
        <p:spPr>
          <a:xfrm>
            <a:off x="10044406" y="2885382"/>
            <a:ext cx="2862132" cy="388061"/>
          </a:xfrm>
          <a:prstGeom prst="rect"/>
          <a:noFill/>
        </p:spPr>
        <p:txBody>
          <a:bodyPr anchor="t" bIns="0" lIns="0" rIns="0" rtlCol="0" tIns="0" wrap="none"/>
          <a:p>
            <a:pPr algn="l" indent="0" marL="0">
              <a:lnSpc>
                <a:spcPts val="3050"/>
              </a:lnSpc>
              <a:buNone/>
            </a:pPr>
            <a:r>
              <a:rPr dirty="0" sz="2350" lang="en-US">
                <a:solidFill>
                  <a:srgbClr val="67534F"/>
                </a:solidFill>
                <a:latin typeface="Marcellus" pitchFamily="34" charset="0"/>
                <a:ea typeface="Marcellus" pitchFamily="34" charset="-122"/>
                <a:cs typeface="Marcellus" pitchFamily="34" charset="-120"/>
              </a:rPr>
              <a:t>Data Layer</a:t>
            </a:r>
            <a:endParaRPr dirty="0" sz="2350" lang="en-US"/>
          </a:p>
        </p:txBody>
      </p:sp>
      <p:sp>
        <p:nvSpPr>
          <p:cNvPr id="1048767" name="Text 3"/>
          <p:cNvSpPr/>
          <p:nvPr/>
        </p:nvSpPr>
        <p:spPr>
          <a:xfrm>
            <a:off x="10044406" y="3365770"/>
            <a:ext cx="2862132" cy="493372"/>
          </a:xfrm>
          <a:prstGeom prst="rect"/>
          <a:noFill/>
        </p:spPr>
        <p:txBody>
          <a:bodyPr anchor="t" bIns="0" lIns="0" rIns="0" rtlCol="0" tIns="0" wrap="square"/>
          <a:p>
            <a:pPr algn="l" indent="0" marL="0">
              <a:lnSpc>
                <a:spcPts val="1900"/>
              </a:lnSpc>
              <a:buNone/>
            </a:pPr>
            <a:r>
              <a:rPr dirty="0" sz="1600" lang="en-US">
                <a:solidFill>
                  <a:srgbClr val="67534F"/>
                </a:solidFill>
                <a:latin typeface="Montserrat" pitchFamily="34" charset="0"/>
                <a:ea typeface="Montserrat" pitchFamily="34" charset="-122"/>
                <a:cs typeface="Montserrat" pitchFamily="34" charset="-120"/>
              </a:rPr>
              <a:t>MySQL database storing persistent data</a:t>
            </a:r>
            <a:endParaRPr dirty="0" sz="1600" lang="en-US"/>
          </a:p>
        </p:txBody>
      </p:sp>
      <p:sp>
        <p:nvSpPr>
          <p:cNvPr id="1048768" name="Text 4"/>
          <p:cNvSpPr/>
          <p:nvPr/>
        </p:nvSpPr>
        <p:spPr>
          <a:xfrm>
            <a:off x="1723451" y="4651132"/>
            <a:ext cx="2631314" cy="388061"/>
          </a:xfrm>
          <a:prstGeom prst="rect"/>
          <a:noFill/>
        </p:spPr>
        <p:txBody>
          <a:bodyPr anchor="t" bIns="0" lIns="0" rIns="0" rtlCol="0" tIns="0" wrap="none"/>
          <a:p>
            <a:pPr algn="r" indent="0" marL="0">
              <a:lnSpc>
                <a:spcPts val="3050"/>
              </a:lnSpc>
              <a:buNone/>
            </a:pPr>
            <a:r>
              <a:rPr dirty="0" sz="2350" lang="en-US">
                <a:solidFill>
                  <a:srgbClr val="67534F"/>
                </a:solidFill>
                <a:latin typeface="Marcellus" pitchFamily="34" charset="0"/>
                <a:ea typeface="Marcellus" pitchFamily="34" charset="-122"/>
                <a:cs typeface="Marcellus" pitchFamily="34" charset="-120"/>
              </a:rPr>
              <a:t>Application Layer</a:t>
            </a:r>
            <a:endParaRPr dirty="0" sz="2350" lang="en-US"/>
          </a:p>
        </p:txBody>
      </p:sp>
      <p:sp>
        <p:nvSpPr>
          <p:cNvPr id="1048769" name="Text 5"/>
          <p:cNvSpPr/>
          <p:nvPr/>
        </p:nvSpPr>
        <p:spPr>
          <a:xfrm>
            <a:off x="1723451" y="5131520"/>
            <a:ext cx="2631314" cy="493372"/>
          </a:xfrm>
          <a:prstGeom prst="rect"/>
          <a:noFill/>
        </p:spPr>
        <p:txBody>
          <a:bodyPr anchor="t" bIns="0" lIns="0" rIns="0" rtlCol="0" tIns="0" wrap="square"/>
          <a:p>
            <a:pPr algn="r" indent="0" marL="0">
              <a:lnSpc>
                <a:spcPts val="1900"/>
              </a:lnSpc>
              <a:buNone/>
            </a:pPr>
            <a:r>
              <a:rPr dirty="0" sz="1600" lang="en-US">
                <a:solidFill>
                  <a:srgbClr val="67534F"/>
                </a:solidFill>
                <a:latin typeface="Montserrat" pitchFamily="34" charset="0"/>
                <a:ea typeface="Montserrat" pitchFamily="34" charset="-122"/>
                <a:cs typeface="Montserrat" pitchFamily="34" charset="-120"/>
              </a:rPr>
              <a:t>Spring Boot REST API for business logic</a:t>
            </a:r>
            <a:endParaRPr dirty="0" sz="1600" lang="en-US"/>
          </a:p>
        </p:txBody>
      </p:sp>
      <p:sp>
        <p:nvSpPr>
          <p:cNvPr id="1048770" name="Text 6"/>
          <p:cNvSpPr/>
          <p:nvPr/>
        </p:nvSpPr>
        <p:spPr>
          <a:xfrm>
            <a:off x="10044406" y="5562860"/>
            <a:ext cx="2862132" cy="388061"/>
          </a:xfrm>
          <a:prstGeom prst="rect"/>
          <a:noFill/>
        </p:spPr>
        <p:txBody>
          <a:bodyPr anchor="t" bIns="0" lIns="0" rIns="0" rtlCol="0" tIns="0" wrap="none"/>
          <a:p>
            <a:pPr algn="l" indent="0" marL="0">
              <a:lnSpc>
                <a:spcPts val="3050"/>
              </a:lnSpc>
              <a:buNone/>
            </a:pPr>
            <a:r>
              <a:rPr dirty="0" sz="2350" lang="en-US">
                <a:solidFill>
                  <a:srgbClr val="67534F"/>
                </a:solidFill>
                <a:latin typeface="Marcellus" pitchFamily="34" charset="0"/>
                <a:ea typeface="Marcellus" pitchFamily="34" charset="-122"/>
                <a:cs typeface="Marcellus" pitchFamily="34" charset="-120"/>
              </a:rPr>
              <a:t>Client Layer</a:t>
            </a:r>
            <a:endParaRPr dirty="0" sz="2350" lang="en-US"/>
          </a:p>
        </p:txBody>
      </p:sp>
      <p:sp>
        <p:nvSpPr>
          <p:cNvPr id="1048771" name="Text 7"/>
          <p:cNvSpPr/>
          <p:nvPr/>
        </p:nvSpPr>
        <p:spPr>
          <a:xfrm>
            <a:off x="10044406" y="6043248"/>
            <a:ext cx="2862132" cy="493371"/>
          </a:xfrm>
          <a:prstGeom prst="rect"/>
          <a:noFill/>
        </p:spPr>
        <p:txBody>
          <a:bodyPr anchor="t" bIns="0" lIns="0" rIns="0" rtlCol="0" tIns="0" wrap="square"/>
          <a:p>
            <a:pPr algn="l" indent="0" marL="0">
              <a:lnSpc>
                <a:spcPts val="1900"/>
              </a:lnSpc>
              <a:buNone/>
            </a:pPr>
            <a:r>
              <a:rPr dirty="0" sz="1600" lang="en-US">
                <a:solidFill>
                  <a:srgbClr val="67534F"/>
                </a:solidFill>
                <a:latin typeface="Montserrat" pitchFamily="34" charset="0"/>
                <a:ea typeface="Montserrat" pitchFamily="34" charset="-122"/>
                <a:cs typeface="Montserrat" pitchFamily="34" charset="-120"/>
              </a:rPr>
              <a:t>React frontend handling UI and interactions</a:t>
            </a:r>
            <a:endParaRPr dirty="0" sz="1600" lang="en-US"/>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pic>
        <p:nvPicPr>
          <p:cNvPr id="2097179" name="Image 0" descr="preencoded.png"/>
          <p:cNvPicPr>
            <a:picLocks noChangeAspect="1"/>
          </p:cNvPicPr>
          <p:nvPr/>
        </p:nvPicPr>
        <p:blipFill>
          <a:blip xmlns:r="http://schemas.openxmlformats.org/officeDocument/2006/relationships" r:embed="rId1"/>
          <a:stretch>
            <a:fillRect/>
          </a:stretch>
        </p:blipFill>
        <p:spPr>
          <a:xfrm>
            <a:off x="0" y="0"/>
            <a:ext cx="5760720" cy="8229600"/>
          </a:xfrm>
          <a:prstGeom prst="rect"/>
        </p:spPr>
      </p:pic>
      <p:sp>
        <p:nvSpPr>
          <p:cNvPr id="1048775" name="Text 0"/>
          <p:cNvSpPr/>
          <p:nvPr/>
        </p:nvSpPr>
        <p:spPr>
          <a:xfrm>
            <a:off x="6280190" y="679609"/>
            <a:ext cx="6068258" cy="720566"/>
          </a:xfrm>
          <a:prstGeom prst="rect"/>
          <a:noFill/>
        </p:spPr>
        <p:txBody>
          <a:bodyPr anchor="t" bIns="0" lIns="0" rIns="0" rtlCol="0" tIns="0" wrap="none"/>
          <a:p>
            <a:pPr algn="l" indent="0" marL="0">
              <a:lnSpc>
                <a:spcPts val="5650"/>
              </a:lnSpc>
              <a:buNone/>
            </a:pPr>
            <a:r>
              <a:rPr dirty="0" sz="4350" lang="en-US">
                <a:solidFill>
                  <a:srgbClr val="532418"/>
                </a:solidFill>
                <a:latin typeface="Marcellus" pitchFamily="34" charset="0"/>
                <a:ea typeface="Marcellus" pitchFamily="34" charset="-122"/>
                <a:cs typeface="Marcellus" pitchFamily="34" charset="-120"/>
              </a:rPr>
              <a:t>Why React for Frontend</a:t>
            </a:r>
            <a:endParaRPr dirty="0" sz="4350" lang="en-US"/>
          </a:p>
        </p:txBody>
      </p:sp>
      <p:sp>
        <p:nvSpPr>
          <p:cNvPr id="1048776" name="Shape 1"/>
          <p:cNvSpPr/>
          <p:nvPr/>
        </p:nvSpPr>
        <p:spPr>
          <a:xfrm>
            <a:off x="6280190" y="1645920"/>
            <a:ext cx="7556421" cy="1353145"/>
          </a:xfrm>
          <a:prstGeom prst="roundRect">
            <a:avLst>
              <a:gd name="adj" fmla="val 5984"/>
            </a:avLst>
          </a:prstGeom>
          <a:solidFill>
            <a:srgbClr val="FFFFF4"/>
          </a:solidFill>
          <a:ln w="22860">
            <a:solidFill>
              <a:srgbClr val="FFE0CC"/>
            </a:solidFill>
            <a:prstDash val="solid"/>
          </a:ln>
        </p:spPr>
      </p:sp>
      <p:sp>
        <p:nvSpPr>
          <p:cNvPr id="1048777" name="Text 2"/>
          <p:cNvSpPr/>
          <p:nvPr/>
        </p:nvSpPr>
        <p:spPr>
          <a:xfrm>
            <a:off x="6495812" y="1861542"/>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Reusable Components</a:t>
            </a:r>
            <a:endParaRPr dirty="0" sz="2150" lang="en-US"/>
          </a:p>
        </p:txBody>
      </p:sp>
      <p:sp>
        <p:nvSpPr>
          <p:cNvPr id="1048778" name="Text 3"/>
          <p:cNvSpPr/>
          <p:nvPr/>
        </p:nvSpPr>
        <p:spPr>
          <a:xfrm>
            <a:off x="6495812" y="2320052"/>
            <a:ext cx="7125176" cy="463391"/>
          </a:xfrm>
          <a:prstGeom prst="rect"/>
          <a:noFill/>
        </p:spPr>
        <p:txBody>
          <a:bodyPr anchor="t" bIns="0" lIns="0" rIns="0" rtlCol="0" tIns="0" wrap="squar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Build UI elements once and reuse them throughout your application, saving development time and ensuring consistency</a:t>
            </a:r>
            <a:endParaRPr dirty="0" sz="1500" lang="en-US"/>
          </a:p>
        </p:txBody>
      </p:sp>
      <p:sp>
        <p:nvSpPr>
          <p:cNvPr id="1048779" name="Shape 4"/>
          <p:cNvSpPr/>
          <p:nvPr/>
        </p:nvSpPr>
        <p:spPr>
          <a:xfrm>
            <a:off x="6280190" y="3162895"/>
            <a:ext cx="7556421" cy="1353145"/>
          </a:xfrm>
          <a:prstGeom prst="roundRect">
            <a:avLst>
              <a:gd name="adj" fmla="val 5984"/>
            </a:avLst>
          </a:prstGeom>
          <a:solidFill>
            <a:srgbClr val="FFFFF4"/>
          </a:solidFill>
          <a:ln w="22860">
            <a:solidFill>
              <a:srgbClr val="FFE0CC"/>
            </a:solidFill>
            <a:prstDash val="solid"/>
          </a:ln>
        </p:spPr>
      </p:sp>
      <p:sp>
        <p:nvSpPr>
          <p:cNvPr id="1048780" name="Text 5"/>
          <p:cNvSpPr/>
          <p:nvPr/>
        </p:nvSpPr>
        <p:spPr>
          <a:xfrm>
            <a:off x="6495812" y="3378518"/>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Fast Rendering</a:t>
            </a:r>
            <a:endParaRPr dirty="0" sz="2150" lang="en-US"/>
          </a:p>
        </p:txBody>
      </p:sp>
      <p:sp>
        <p:nvSpPr>
          <p:cNvPr id="1048781" name="Text 6"/>
          <p:cNvSpPr/>
          <p:nvPr/>
        </p:nvSpPr>
        <p:spPr>
          <a:xfrm>
            <a:off x="6495812" y="3837027"/>
            <a:ext cx="7125176" cy="463391"/>
          </a:xfrm>
          <a:prstGeom prst="rect"/>
          <a:noFill/>
        </p:spPr>
        <p:txBody>
          <a:bodyPr anchor="t" bIns="0" lIns="0" rIns="0" rtlCol="0" tIns="0" wrap="squar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Virtual DOM technology ensures lightning-fast updates and smooth user interactions without full page reloads</a:t>
            </a:r>
            <a:endParaRPr dirty="0" sz="1500" lang="en-US"/>
          </a:p>
        </p:txBody>
      </p:sp>
      <p:sp>
        <p:nvSpPr>
          <p:cNvPr id="1048782" name="Shape 7"/>
          <p:cNvSpPr/>
          <p:nvPr/>
        </p:nvSpPr>
        <p:spPr>
          <a:xfrm>
            <a:off x="6280190" y="4679871"/>
            <a:ext cx="7556421" cy="1353145"/>
          </a:xfrm>
          <a:prstGeom prst="roundRect">
            <a:avLst>
              <a:gd name="adj" fmla="val 5984"/>
            </a:avLst>
          </a:prstGeom>
          <a:solidFill>
            <a:srgbClr val="FFFFF4"/>
          </a:solidFill>
          <a:ln w="22860">
            <a:solidFill>
              <a:srgbClr val="FFE0CC"/>
            </a:solidFill>
            <a:prstDash val="solid"/>
          </a:ln>
        </p:spPr>
      </p:sp>
      <p:sp>
        <p:nvSpPr>
          <p:cNvPr id="1048783" name="Text 8"/>
          <p:cNvSpPr/>
          <p:nvPr/>
        </p:nvSpPr>
        <p:spPr>
          <a:xfrm>
            <a:off x="6495812" y="4895493"/>
            <a:ext cx="2880360"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Single-Page Experience</a:t>
            </a:r>
            <a:endParaRPr dirty="0" sz="2150" lang="en-US"/>
          </a:p>
        </p:txBody>
      </p:sp>
      <p:sp>
        <p:nvSpPr>
          <p:cNvPr id="1048784" name="Text 9"/>
          <p:cNvSpPr/>
          <p:nvPr/>
        </p:nvSpPr>
        <p:spPr>
          <a:xfrm>
            <a:off x="6495812" y="5354002"/>
            <a:ext cx="7125176" cy="463391"/>
          </a:xfrm>
          <a:prstGeom prst="rect"/>
          <a:noFill/>
        </p:spPr>
        <p:txBody>
          <a:bodyPr anchor="t" bIns="0" lIns="0" rIns="0" rtlCol="0" tIns="0" wrap="squar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Create seamless, app-like experiences that respond instantly to user actions</a:t>
            </a:r>
            <a:endParaRPr dirty="0" sz="1500" lang="en-US"/>
          </a:p>
        </p:txBody>
      </p:sp>
      <p:sp>
        <p:nvSpPr>
          <p:cNvPr id="1048785" name="Shape 10"/>
          <p:cNvSpPr/>
          <p:nvPr/>
        </p:nvSpPr>
        <p:spPr>
          <a:xfrm>
            <a:off x="6280190" y="6196846"/>
            <a:ext cx="7556421" cy="1353145"/>
          </a:xfrm>
          <a:prstGeom prst="roundRect">
            <a:avLst>
              <a:gd name="adj" fmla="val 5984"/>
            </a:avLst>
          </a:prstGeom>
          <a:solidFill>
            <a:srgbClr val="FFFFF4"/>
          </a:solidFill>
          <a:ln w="22860">
            <a:solidFill>
              <a:srgbClr val="FFE0CC"/>
            </a:solidFill>
            <a:prstDash val="solid"/>
          </a:ln>
        </p:spPr>
      </p:sp>
      <p:sp>
        <p:nvSpPr>
          <p:cNvPr id="1048786" name="Text 11"/>
          <p:cNvSpPr/>
          <p:nvPr/>
        </p:nvSpPr>
        <p:spPr>
          <a:xfrm>
            <a:off x="6495812" y="6412468"/>
            <a:ext cx="3095030"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Structured Development</a:t>
            </a:r>
            <a:endParaRPr dirty="0" sz="2150" lang="en-US"/>
          </a:p>
        </p:txBody>
      </p:sp>
      <p:sp>
        <p:nvSpPr>
          <p:cNvPr id="1048787" name="Text 12"/>
          <p:cNvSpPr/>
          <p:nvPr/>
        </p:nvSpPr>
        <p:spPr>
          <a:xfrm>
            <a:off x="6495812" y="6870978"/>
            <a:ext cx="7125176" cy="463391"/>
          </a:xfrm>
          <a:prstGeom prst="rect"/>
          <a:noFill/>
        </p:spPr>
        <p:txBody>
          <a:bodyPr anchor="t" bIns="0" lIns="0" rIns="0" rtlCol="0" tIns="0" wrap="squar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Component-based architecture makes frontend code organized, maintainable, and easy to scale</a:t>
            </a:r>
            <a:endParaRPr dirty="0" sz="1500" lang="en-US"/>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91" name="Text 0"/>
          <p:cNvSpPr/>
          <p:nvPr/>
        </p:nvSpPr>
        <p:spPr>
          <a:xfrm>
            <a:off x="793790" y="942499"/>
            <a:ext cx="8692396" cy="847725"/>
          </a:xfrm>
          <a:prstGeom prst="rect"/>
          <a:noFill/>
        </p:spPr>
        <p:txBody>
          <a:bodyPr anchor="t" bIns="0" lIns="0" rIns="0" rtlCol="0" tIns="0" wrap="none"/>
          <a:p>
            <a:pPr algn="l" indent="0" marL="0">
              <a:lnSpc>
                <a:spcPts val="6650"/>
              </a:lnSpc>
              <a:buNone/>
            </a:pPr>
            <a:r>
              <a:rPr dirty="0" sz="5100" lang="en-US">
                <a:solidFill>
                  <a:srgbClr val="532418"/>
                </a:solidFill>
                <a:latin typeface="Marcellus" pitchFamily="34" charset="0"/>
                <a:ea typeface="Marcellus" pitchFamily="34" charset="-122"/>
                <a:cs typeface="Marcellus" pitchFamily="34" charset="-120"/>
              </a:rPr>
              <a:t>Why Spring Boot for Backend</a:t>
            </a:r>
            <a:endParaRPr dirty="0" sz="5100" lang="en-US"/>
          </a:p>
        </p:txBody>
      </p:sp>
      <p:pic>
        <p:nvPicPr>
          <p:cNvPr id="2097180" name="Image 0" descr="preencoded.png"/>
          <p:cNvPicPr>
            <a:picLocks noChangeAspect="1"/>
          </p:cNvPicPr>
          <p:nvPr/>
        </p:nvPicPr>
        <p:blipFill>
          <a:blip xmlns:r="http://schemas.openxmlformats.org/officeDocument/2006/relationships" r:embed="rId1"/>
          <a:stretch>
            <a:fillRect/>
          </a:stretch>
        </p:blipFill>
        <p:spPr>
          <a:xfrm>
            <a:off x="793790" y="2243852"/>
            <a:ext cx="566976" cy="566976"/>
          </a:xfrm>
          <a:prstGeom prst="rect"/>
        </p:spPr>
      </p:pic>
      <p:sp>
        <p:nvSpPr>
          <p:cNvPr id="1048792" name="Text 1"/>
          <p:cNvSpPr/>
          <p:nvPr/>
        </p:nvSpPr>
        <p:spPr>
          <a:xfrm>
            <a:off x="793790" y="3094315"/>
            <a:ext cx="3498294"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Simplified Development</a:t>
            </a:r>
            <a:endParaRPr dirty="0" sz="2550" lang="en-US"/>
          </a:p>
        </p:txBody>
      </p:sp>
      <p:sp>
        <p:nvSpPr>
          <p:cNvPr id="1048793" name="Text 2"/>
          <p:cNvSpPr/>
          <p:nvPr/>
        </p:nvSpPr>
        <p:spPr>
          <a:xfrm>
            <a:off x="793790" y="3654266"/>
            <a:ext cx="6379607" cy="884396"/>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Auto-configuration and convention-over-configuration reduce boilerplate code, letting developers focus on business logic</a:t>
            </a:r>
            <a:endParaRPr dirty="0" sz="1750" lang="en-US"/>
          </a:p>
        </p:txBody>
      </p:sp>
      <p:pic>
        <p:nvPicPr>
          <p:cNvPr id="2097181" name="Image 1" descr="preencoded.png"/>
          <p:cNvPicPr>
            <a:picLocks noChangeAspect="1"/>
          </p:cNvPicPr>
          <p:nvPr/>
        </p:nvPicPr>
        <p:blipFill>
          <a:blip xmlns:r="http://schemas.openxmlformats.org/officeDocument/2006/relationships" r:embed="rId1"/>
          <a:stretch>
            <a:fillRect/>
          </a:stretch>
        </p:blipFill>
        <p:spPr>
          <a:xfrm>
            <a:off x="7456884" y="2243852"/>
            <a:ext cx="566976" cy="566976"/>
          </a:xfrm>
          <a:prstGeom prst="rect"/>
        </p:spPr>
      </p:pic>
      <p:sp>
        <p:nvSpPr>
          <p:cNvPr id="1048794" name="Text 3"/>
          <p:cNvSpPr/>
          <p:nvPr/>
        </p:nvSpPr>
        <p:spPr>
          <a:xfrm>
            <a:off x="7456884" y="3094315"/>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RESTful Services</a:t>
            </a:r>
            <a:endParaRPr dirty="0" sz="2550" lang="en-US"/>
          </a:p>
        </p:txBody>
      </p:sp>
      <p:sp>
        <p:nvSpPr>
          <p:cNvPr id="1048795" name="Text 4"/>
          <p:cNvSpPr/>
          <p:nvPr/>
        </p:nvSpPr>
        <p:spPr>
          <a:xfrm>
            <a:off x="7456884" y="3654266"/>
            <a:ext cx="6379726" cy="589598"/>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Built-in support for creating REST APIs with minimal configuration and maximum flexibility</a:t>
            </a:r>
            <a:endParaRPr dirty="0" sz="1750" lang="en-US"/>
          </a:p>
        </p:txBody>
      </p:sp>
      <p:pic>
        <p:nvPicPr>
          <p:cNvPr id="2097182" name="Image 2" descr="preencoded.png"/>
          <p:cNvPicPr>
            <a:picLocks noChangeAspect="1"/>
          </p:cNvPicPr>
          <p:nvPr/>
        </p:nvPicPr>
        <p:blipFill>
          <a:blip xmlns:r="http://schemas.openxmlformats.org/officeDocument/2006/relationships" r:embed="rId1"/>
          <a:stretch>
            <a:fillRect/>
          </a:stretch>
        </p:blipFill>
        <p:spPr>
          <a:xfrm>
            <a:off x="793790" y="4992291"/>
            <a:ext cx="566976" cy="566976"/>
          </a:xfrm>
          <a:prstGeom prst="rect"/>
        </p:spPr>
      </p:pic>
      <p:sp>
        <p:nvSpPr>
          <p:cNvPr id="1048796" name="Text 5"/>
          <p:cNvSpPr/>
          <p:nvPr/>
        </p:nvSpPr>
        <p:spPr>
          <a:xfrm>
            <a:off x="793790" y="5842754"/>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Dependency Injection</a:t>
            </a:r>
            <a:endParaRPr dirty="0" sz="2550" lang="en-US"/>
          </a:p>
        </p:txBody>
      </p:sp>
      <p:sp>
        <p:nvSpPr>
          <p:cNvPr id="1048797" name="Text 6"/>
          <p:cNvSpPr/>
          <p:nvPr/>
        </p:nvSpPr>
        <p:spPr>
          <a:xfrm>
            <a:off x="793790" y="6402705"/>
            <a:ext cx="6379607" cy="884396"/>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Spring's powerful DI container manages component dependencies automatically, promoting loose coupling and testability</a:t>
            </a:r>
            <a:endParaRPr dirty="0" sz="1750" lang="en-US"/>
          </a:p>
        </p:txBody>
      </p:sp>
      <p:pic>
        <p:nvPicPr>
          <p:cNvPr id="2097183" name="Image 3" descr="preencoded.png"/>
          <p:cNvPicPr>
            <a:picLocks noChangeAspect="1"/>
          </p:cNvPicPr>
          <p:nvPr/>
        </p:nvPicPr>
        <p:blipFill>
          <a:blip xmlns:r="http://schemas.openxmlformats.org/officeDocument/2006/relationships" r:embed="rId1"/>
          <a:stretch>
            <a:fillRect/>
          </a:stretch>
        </p:blipFill>
        <p:spPr>
          <a:xfrm>
            <a:off x="7456884" y="4992291"/>
            <a:ext cx="566976" cy="566976"/>
          </a:xfrm>
          <a:prstGeom prst="rect"/>
        </p:spPr>
      </p:pic>
      <p:sp>
        <p:nvSpPr>
          <p:cNvPr id="1048798" name="Text 7"/>
          <p:cNvSpPr/>
          <p:nvPr/>
        </p:nvSpPr>
        <p:spPr>
          <a:xfrm>
            <a:off x="7456884" y="5842754"/>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Security &amp; Scalability</a:t>
            </a:r>
            <a:endParaRPr dirty="0" sz="2550" lang="en-US"/>
          </a:p>
        </p:txBody>
      </p:sp>
      <p:sp>
        <p:nvSpPr>
          <p:cNvPr id="1048799" name="Text 8"/>
          <p:cNvSpPr/>
          <p:nvPr/>
        </p:nvSpPr>
        <p:spPr>
          <a:xfrm>
            <a:off x="7456884" y="6402705"/>
            <a:ext cx="6379726" cy="884396"/>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Enterprise-grade security features and seamless database integration create robust, production-ready applications</a:t>
            </a:r>
            <a:endParaRPr dirty="0" sz="1750" lang="en-US"/>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803" name="Text 0"/>
          <p:cNvSpPr/>
          <p:nvPr/>
        </p:nvSpPr>
        <p:spPr>
          <a:xfrm>
            <a:off x="793790" y="703302"/>
            <a:ext cx="5742980" cy="720566"/>
          </a:xfrm>
          <a:prstGeom prst="rect"/>
          <a:noFill/>
        </p:spPr>
        <p:txBody>
          <a:bodyPr anchor="t" bIns="0" lIns="0" rIns="0" rtlCol="0" tIns="0" wrap="none"/>
          <a:p>
            <a:pPr algn="l" indent="0" marL="0">
              <a:lnSpc>
                <a:spcPts val="5650"/>
              </a:lnSpc>
              <a:buNone/>
            </a:pPr>
            <a:r>
              <a:rPr dirty="0" sz="4350" lang="en-US">
                <a:solidFill>
                  <a:srgbClr val="532418"/>
                </a:solidFill>
                <a:latin typeface="Marcellus" pitchFamily="34" charset="0"/>
                <a:ea typeface="Marcellus" pitchFamily="34" charset="-122"/>
                <a:cs typeface="Marcellus" pitchFamily="34" charset="-120"/>
              </a:rPr>
              <a:t>Modules of the System</a:t>
            </a:r>
            <a:endParaRPr dirty="0" sz="4350" lang="en-US"/>
          </a:p>
        </p:txBody>
      </p:sp>
      <p:sp>
        <p:nvSpPr>
          <p:cNvPr id="1048804" name="Text 1"/>
          <p:cNvSpPr/>
          <p:nvPr/>
        </p:nvSpPr>
        <p:spPr>
          <a:xfrm>
            <a:off x="793790" y="1751528"/>
            <a:ext cx="1304282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A comprehensive inventory management solution organized into specialized modules, each handling specific operational tasks</a:t>
            </a:r>
            <a:endParaRPr dirty="0" sz="1500" lang="en-US"/>
          </a:p>
        </p:txBody>
      </p:sp>
      <p:sp>
        <p:nvSpPr>
          <p:cNvPr id="1048805" name="Shape 2"/>
          <p:cNvSpPr/>
          <p:nvPr/>
        </p:nvSpPr>
        <p:spPr>
          <a:xfrm>
            <a:off x="793790" y="2456736"/>
            <a:ext cx="6439495" cy="1387793"/>
          </a:xfrm>
          <a:prstGeom prst="roundRect">
            <a:avLst>
              <a:gd name="adj" fmla="val 7907"/>
            </a:avLst>
          </a:prstGeom>
          <a:solidFill>
            <a:srgbClr val="FFFFF4">
              <a:alpha val="95000"/>
            </a:srgbClr>
          </a:solidFill>
        </p:spPr>
      </p:sp>
      <p:sp>
        <p:nvSpPr>
          <p:cNvPr id="1048806" name="Shape 3"/>
          <p:cNvSpPr/>
          <p:nvPr/>
        </p:nvSpPr>
        <p:spPr>
          <a:xfrm>
            <a:off x="793790" y="2433876"/>
            <a:ext cx="6439495" cy="91440"/>
          </a:xfrm>
          <a:prstGeom prst="roundRect">
            <a:avLst>
              <a:gd name="adj" fmla="val 88558"/>
            </a:avLst>
          </a:prstGeom>
          <a:solidFill>
            <a:srgbClr val="FF954F"/>
          </a:solidFill>
        </p:spPr>
      </p:sp>
      <p:sp>
        <p:nvSpPr>
          <p:cNvPr id="1048807" name="Shape 4"/>
          <p:cNvSpPr/>
          <p:nvPr/>
        </p:nvSpPr>
        <p:spPr>
          <a:xfrm>
            <a:off x="3724275" y="2167533"/>
            <a:ext cx="578406" cy="578406"/>
          </a:xfrm>
          <a:prstGeom prst="roundRect">
            <a:avLst>
              <a:gd name="adj" fmla="val 158090"/>
            </a:avLst>
          </a:prstGeom>
          <a:solidFill>
            <a:srgbClr val="FF954F"/>
          </a:solidFill>
        </p:spPr>
      </p:sp>
      <p:sp>
        <p:nvSpPr>
          <p:cNvPr id="1048808" name="Text 5"/>
          <p:cNvSpPr/>
          <p:nvPr/>
        </p:nvSpPr>
        <p:spPr>
          <a:xfrm>
            <a:off x="3897749" y="2306360"/>
            <a:ext cx="231338" cy="300752"/>
          </a:xfrm>
          <a:prstGeom prst="rect"/>
          <a:noFill/>
        </p:spPr>
        <p:txBody>
          <a:bodyPr anchor="t" bIns="0" lIns="0" rIns="0" rtlCol="0" tIns="0" wrap="none"/>
          <a:p>
            <a:pPr algn="l" indent="0" marL="0">
              <a:lnSpc>
                <a:spcPts val="2150"/>
              </a:lnSpc>
              <a:buNone/>
            </a:pPr>
            <a:r>
              <a:rPr dirty="0" sz="1800" lang="en-US">
                <a:solidFill>
                  <a:srgbClr val="000000"/>
                </a:solidFill>
                <a:latin typeface="Marcellus" pitchFamily="34" charset="0"/>
                <a:ea typeface="Marcellus" pitchFamily="34" charset="-122"/>
                <a:cs typeface="Marcellus" pitchFamily="34" charset="-120"/>
              </a:rPr>
              <a:t>1</a:t>
            </a:r>
            <a:endParaRPr dirty="0" sz="1800" lang="en-US"/>
          </a:p>
        </p:txBody>
      </p:sp>
      <p:sp>
        <p:nvSpPr>
          <p:cNvPr id="1048809" name="Text 6"/>
          <p:cNvSpPr/>
          <p:nvPr/>
        </p:nvSpPr>
        <p:spPr>
          <a:xfrm>
            <a:off x="1009412" y="2938701"/>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User Authentication</a:t>
            </a:r>
            <a:endParaRPr dirty="0" sz="2150" lang="en-US"/>
          </a:p>
        </p:txBody>
      </p:sp>
      <p:sp>
        <p:nvSpPr>
          <p:cNvPr id="1048810" name="Text 7"/>
          <p:cNvSpPr/>
          <p:nvPr/>
        </p:nvSpPr>
        <p:spPr>
          <a:xfrm>
            <a:off x="1009412" y="3397210"/>
            <a:ext cx="600825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Secure login and access control</a:t>
            </a:r>
            <a:endParaRPr dirty="0" sz="1500" lang="en-US"/>
          </a:p>
        </p:txBody>
      </p:sp>
      <p:sp>
        <p:nvSpPr>
          <p:cNvPr id="1048811" name="Shape 8"/>
          <p:cNvSpPr/>
          <p:nvPr/>
        </p:nvSpPr>
        <p:spPr>
          <a:xfrm>
            <a:off x="7397115" y="2456736"/>
            <a:ext cx="6439495" cy="1387793"/>
          </a:xfrm>
          <a:prstGeom prst="roundRect">
            <a:avLst>
              <a:gd name="adj" fmla="val 7907"/>
            </a:avLst>
          </a:prstGeom>
          <a:solidFill>
            <a:srgbClr val="FFFFF4">
              <a:alpha val="95000"/>
            </a:srgbClr>
          </a:solidFill>
        </p:spPr>
      </p:sp>
      <p:sp>
        <p:nvSpPr>
          <p:cNvPr id="1048812" name="Shape 9"/>
          <p:cNvSpPr/>
          <p:nvPr/>
        </p:nvSpPr>
        <p:spPr>
          <a:xfrm>
            <a:off x="7397115" y="2433876"/>
            <a:ext cx="6439495" cy="91440"/>
          </a:xfrm>
          <a:prstGeom prst="roundRect">
            <a:avLst>
              <a:gd name="adj" fmla="val 88558"/>
            </a:avLst>
          </a:prstGeom>
          <a:solidFill>
            <a:srgbClr val="FF954F"/>
          </a:solidFill>
        </p:spPr>
      </p:sp>
      <p:sp>
        <p:nvSpPr>
          <p:cNvPr id="1048813" name="Shape 10"/>
          <p:cNvSpPr/>
          <p:nvPr/>
        </p:nvSpPr>
        <p:spPr>
          <a:xfrm>
            <a:off x="10327600" y="2167533"/>
            <a:ext cx="578406" cy="578406"/>
          </a:xfrm>
          <a:prstGeom prst="roundRect">
            <a:avLst>
              <a:gd name="adj" fmla="val 158090"/>
            </a:avLst>
          </a:prstGeom>
          <a:solidFill>
            <a:srgbClr val="FF954F"/>
          </a:solidFill>
        </p:spPr>
      </p:sp>
      <p:sp>
        <p:nvSpPr>
          <p:cNvPr id="1048814" name="Text 11"/>
          <p:cNvSpPr/>
          <p:nvPr/>
        </p:nvSpPr>
        <p:spPr>
          <a:xfrm>
            <a:off x="10501074" y="2306360"/>
            <a:ext cx="231338" cy="300752"/>
          </a:xfrm>
          <a:prstGeom prst="rect"/>
          <a:noFill/>
        </p:spPr>
        <p:txBody>
          <a:bodyPr anchor="t" bIns="0" lIns="0" rIns="0" rtlCol="0" tIns="0" wrap="none"/>
          <a:p>
            <a:pPr algn="l" indent="0" marL="0">
              <a:lnSpc>
                <a:spcPts val="2150"/>
              </a:lnSpc>
              <a:buNone/>
            </a:pPr>
            <a:r>
              <a:rPr dirty="0" sz="1800" lang="en-US">
                <a:solidFill>
                  <a:srgbClr val="000000"/>
                </a:solidFill>
                <a:latin typeface="Marcellus" pitchFamily="34" charset="0"/>
                <a:ea typeface="Marcellus" pitchFamily="34" charset="-122"/>
                <a:cs typeface="Marcellus" pitchFamily="34" charset="-120"/>
              </a:rPr>
              <a:t>2</a:t>
            </a:r>
            <a:endParaRPr dirty="0" sz="1800" lang="en-US"/>
          </a:p>
        </p:txBody>
      </p:sp>
      <p:sp>
        <p:nvSpPr>
          <p:cNvPr id="1048815" name="Text 12"/>
          <p:cNvSpPr/>
          <p:nvPr/>
        </p:nvSpPr>
        <p:spPr>
          <a:xfrm>
            <a:off x="7612737" y="2938701"/>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Product Management</a:t>
            </a:r>
            <a:endParaRPr dirty="0" sz="2150" lang="en-US"/>
          </a:p>
        </p:txBody>
      </p:sp>
      <p:sp>
        <p:nvSpPr>
          <p:cNvPr id="1048816" name="Text 13"/>
          <p:cNvSpPr/>
          <p:nvPr/>
        </p:nvSpPr>
        <p:spPr>
          <a:xfrm>
            <a:off x="7612737" y="3397210"/>
            <a:ext cx="600825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Central catalog of all inventory items</a:t>
            </a:r>
            <a:endParaRPr dirty="0" sz="1500" lang="en-US"/>
          </a:p>
        </p:txBody>
      </p:sp>
      <p:sp>
        <p:nvSpPr>
          <p:cNvPr id="1048817" name="Shape 14"/>
          <p:cNvSpPr/>
          <p:nvPr/>
        </p:nvSpPr>
        <p:spPr>
          <a:xfrm>
            <a:off x="793790" y="4297561"/>
            <a:ext cx="6439495" cy="1387793"/>
          </a:xfrm>
          <a:prstGeom prst="roundRect">
            <a:avLst>
              <a:gd name="adj" fmla="val 7907"/>
            </a:avLst>
          </a:prstGeom>
          <a:solidFill>
            <a:srgbClr val="FFFFF4">
              <a:alpha val="95000"/>
            </a:srgbClr>
          </a:solidFill>
        </p:spPr>
      </p:sp>
      <p:sp>
        <p:nvSpPr>
          <p:cNvPr id="1048818" name="Shape 15"/>
          <p:cNvSpPr/>
          <p:nvPr/>
        </p:nvSpPr>
        <p:spPr>
          <a:xfrm>
            <a:off x="793790" y="4274701"/>
            <a:ext cx="6439495" cy="91440"/>
          </a:xfrm>
          <a:prstGeom prst="roundRect">
            <a:avLst>
              <a:gd name="adj" fmla="val 88558"/>
            </a:avLst>
          </a:prstGeom>
          <a:solidFill>
            <a:srgbClr val="FF954F"/>
          </a:solidFill>
        </p:spPr>
      </p:sp>
      <p:sp>
        <p:nvSpPr>
          <p:cNvPr id="1048819" name="Shape 16"/>
          <p:cNvSpPr/>
          <p:nvPr/>
        </p:nvSpPr>
        <p:spPr>
          <a:xfrm>
            <a:off x="3724275" y="4008358"/>
            <a:ext cx="578406" cy="578406"/>
          </a:xfrm>
          <a:prstGeom prst="roundRect">
            <a:avLst>
              <a:gd name="adj" fmla="val 158090"/>
            </a:avLst>
          </a:prstGeom>
          <a:solidFill>
            <a:srgbClr val="FF954F"/>
          </a:solidFill>
        </p:spPr>
      </p:sp>
      <p:sp>
        <p:nvSpPr>
          <p:cNvPr id="1048820" name="Text 17"/>
          <p:cNvSpPr/>
          <p:nvPr/>
        </p:nvSpPr>
        <p:spPr>
          <a:xfrm>
            <a:off x="3897749" y="4147185"/>
            <a:ext cx="231338" cy="300752"/>
          </a:xfrm>
          <a:prstGeom prst="rect"/>
          <a:noFill/>
        </p:spPr>
        <p:txBody>
          <a:bodyPr anchor="t" bIns="0" lIns="0" rIns="0" rtlCol="0" tIns="0" wrap="none"/>
          <a:p>
            <a:pPr algn="l" indent="0" marL="0">
              <a:lnSpc>
                <a:spcPts val="2150"/>
              </a:lnSpc>
              <a:buNone/>
            </a:pPr>
            <a:r>
              <a:rPr dirty="0" sz="1800" lang="en-US">
                <a:solidFill>
                  <a:srgbClr val="000000"/>
                </a:solidFill>
                <a:latin typeface="Marcellus" pitchFamily="34" charset="0"/>
                <a:ea typeface="Marcellus" pitchFamily="34" charset="-122"/>
                <a:cs typeface="Marcellus" pitchFamily="34" charset="-120"/>
              </a:rPr>
              <a:t>3</a:t>
            </a:r>
            <a:endParaRPr dirty="0" sz="1800" lang="en-US"/>
          </a:p>
        </p:txBody>
      </p:sp>
      <p:sp>
        <p:nvSpPr>
          <p:cNvPr id="1048821" name="Text 18"/>
          <p:cNvSpPr/>
          <p:nvPr/>
        </p:nvSpPr>
        <p:spPr>
          <a:xfrm>
            <a:off x="1009412" y="4779526"/>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Stock Management</a:t>
            </a:r>
            <a:endParaRPr dirty="0" sz="2150" lang="en-US"/>
          </a:p>
        </p:txBody>
      </p:sp>
      <p:sp>
        <p:nvSpPr>
          <p:cNvPr id="1048822" name="Text 19"/>
          <p:cNvSpPr/>
          <p:nvPr/>
        </p:nvSpPr>
        <p:spPr>
          <a:xfrm>
            <a:off x="1009412" y="5238036"/>
            <a:ext cx="600825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Real-time inventory tracking</a:t>
            </a:r>
            <a:endParaRPr dirty="0" sz="1500" lang="en-US"/>
          </a:p>
        </p:txBody>
      </p:sp>
      <p:sp>
        <p:nvSpPr>
          <p:cNvPr id="1048823" name="Shape 20"/>
          <p:cNvSpPr/>
          <p:nvPr/>
        </p:nvSpPr>
        <p:spPr>
          <a:xfrm>
            <a:off x="7397115" y="4297561"/>
            <a:ext cx="6439495" cy="1387793"/>
          </a:xfrm>
          <a:prstGeom prst="roundRect">
            <a:avLst>
              <a:gd name="adj" fmla="val 7907"/>
            </a:avLst>
          </a:prstGeom>
          <a:solidFill>
            <a:srgbClr val="FFFFF4">
              <a:alpha val="95000"/>
            </a:srgbClr>
          </a:solidFill>
        </p:spPr>
      </p:sp>
      <p:sp>
        <p:nvSpPr>
          <p:cNvPr id="1048824" name="Shape 21"/>
          <p:cNvSpPr/>
          <p:nvPr/>
        </p:nvSpPr>
        <p:spPr>
          <a:xfrm>
            <a:off x="7397115" y="4274701"/>
            <a:ext cx="6439495" cy="91440"/>
          </a:xfrm>
          <a:prstGeom prst="roundRect">
            <a:avLst>
              <a:gd name="adj" fmla="val 88558"/>
            </a:avLst>
          </a:prstGeom>
          <a:solidFill>
            <a:srgbClr val="FF954F"/>
          </a:solidFill>
        </p:spPr>
      </p:sp>
      <p:sp>
        <p:nvSpPr>
          <p:cNvPr id="1048825" name="Shape 22"/>
          <p:cNvSpPr/>
          <p:nvPr/>
        </p:nvSpPr>
        <p:spPr>
          <a:xfrm>
            <a:off x="10327600" y="4008358"/>
            <a:ext cx="578406" cy="578406"/>
          </a:xfrm>
          <a:prstGeom prst="roundRect">
            <a:avLst>
              <a:gd name="adj" fmla="val 158090"/>
            </a:avLst>
          </a:prstGeom>
          <a:solidFill>
            <a:srgbClr val="FF954F"/>
          </a:solidFill>
        </p:spPr>
      </p:sp>
      <p:sp>
        <p:nvSpPr>
          <p:cNvPr id="1048826" name="Text 23"/>
          <p:cNvSpPr/>
          <p:nvPr/>
        </p:nvSpPr>
        <p:spPr>
          <a:xfrm>
            <a:off x="10501074" y="4147185"/>
            <a:ext cx="231338" cy="300752"/>
          </a:xfrm>
          <a:prstGeom prst="rect"/>
          <a:noFill/>
        </p:spPr>
        <p:txBody>
          <a:bodyPr anchor="t" bIns="0" lIns="0" rIns="0" rtlCol="0" tIns="0" wrap="none"/>
          <a:p>
            <a:pPr algn="l" indent="0" marL="0">
              <a:lnSpc>
                <a:spcPts val="2150"/>
              </a:lnSpc>
              <a:buNone/>
            </a:pPr>
            <a:r>
              <a:rPr dirty="0" sz="1800" lang="en-US">
                <a:solidFill>
                  <a:srgbClr val="000000"/>
                </a:solidFill>
                <a:latin typeface="Marcellus" pitchFamily="34" charset="0"/>
                <a:ea typeface="Marcellus" pitchFamily="34" charset="-122"/>
                <a:cs typeface="Marcellus" pitchFamily="34" charset="-120"/>
              </a:rPr>
              <a:t>4</a:t>
            </a:r>
            <a:endParaRPr dirty="0" sz="1800" lang="en-US"/>
          </a:p>
        </p:txBody>
      </p:sp>
      <p:sp>
        <p:nvSpPr>
          <p:cNvPr id="1048827" name="Text 24"/>
          <p:cNvSpPr/>
          <p:nvPr/>
        </p:nvSpPr>
        <p:spPr>
          <a:xfrm>
            <a:off x="7612737" y="4779526"/>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Storage Management</a:t>
            </a:r>
            <a:endParaRPr dirty="0" sz="2150" lang="en-US"/>
          </a:p>
        </p:txBody>
      </p:sp>
      <p:sp>
        <p:nvSpPr>
          <p:cNvPr id="1048828" name="Text 25"/>
          <p:cNvSpPr/>
          <p:nvPr/>
        </p:nvSpPr>
        <p:spPr>
          <a:xfrm>
            <a:off x="7612737" y="5238036"/>
            <a:ext cx="600825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Warehouse organization and location tracking</a:t>
            </a:r>
            <a:endParaRPr dirty="0" sz="1500" lang="en-US"/>
          </a:p>
        </p:txBody>
      </p:sp>
      <p:sp>
        <p:nvSpPr>
          <p:cNvPr id="1048829" name="Shape 26"/>
          <p:cNvSpPr/>
          <p:nvPr/>
        </p:nvSpPr>
        <p:spPr>
          <a:xfrm>
            <a:off x="793790" y="6138386"/>
            <a:ext cx="6439495" cy="1387793"/>
          </a:xfrm>
          <a:prstGeom prst="roundRect">
            <a:avLst>
              <a:gd name="adj" fmla="val 7907"/>
            </a:avLst>
          </a:prstGeom>
          <a:solidFill>
            <a:srgbClr val="FFFFF4">
              <a:alpha val="95000"/>
            </a:srgbClr>
          </a:solidFill>
        </p:spPr>
      </p:sp>
      <p:sp>
        <p:nvSpPr>
          <p:cNvPr id="1048830" name="Shape 27"/>
          <p:cNvSpPr/>
          <p:nvPr/>
        </p:nvSpPr>
        <p:spPr>
          <a:xfrm>
            <a:off x="793790" y="6115526"/>
            <a:ext cx="6439495" cy="91440"/>
          </a:xfrm>
          <a:prstGeom prst="roundRect">
            <a:avLst>
              <a:gd name="adj" fmla="val 88558"/>
            </a:avLst>
          </a:prstGeom>
          <a:solidFill>
            <a:srgbClr val="FF954F"/>
          </a:solidFill>
        </p:spPr>
      </p:sp>
      <p:sp>
        <p:nvSpPr>
          <p:cNvPr id="1048831" name="Shape 28"/>
          <p:cNvSpPr/>
          <p:nvPr/>
        </p:nvSpPr>
        <p:spPr>
          <a:xfrm>
            <a:off x="3724275" y="5849183"/>
            <a:ext cx="578406" cy="578406"/>
          </a:xfrm>
          <a:prstGeom prst="roundRect">
            <a:avLst>
              <a:gd name="adj" fmla="val 158090"/>
            </a:avLst>
          </a:prstGeom>
          <a:solidFill>
            <a:srgbClr val="FF954F"/>
          </a:solidFill>
        </p:spPr>
      </p:sp>
      <p:sp>
        <p:nvSpPr>
          <p:cNvPr id="1048832" name="Text 29"/>
          <p:cNvSpPr/>
          <p:nvPr/>
        </p:nvSpPr>
        <p:spPr>
          <a:xfrm>
            <a:off x="3897749" y="5988010"/>
            <a:ext cx="231338" cy="300752"/>
          </a:xfrm>
          <a:prstGeom prst="rect"/>
          <a:noFill/>
        </p:spPr>
        <p:txBody>
          <a:bodyPr anchor="t" bIns="0" lIns="0" rIns="0" rtlCol="0" tIns="0" wrap="none"/>
          <a:p>
            <a:pPr algn="l" indent="0" marL="0">
              <a:lnSpc>
                <a:spcPts val="2150"/>
              </a:lnSpc>
              <a:buNone/>
            </a:pPr>
            <a:r>
              <a:rPr dirty="0" sz="1800" lang="en-US">
                <a:solidFill>
                  <a:srgbClr val="000000"/>
                </a:solidFill>
                <a:latin typeface="Marcellus" pitchFamily="34" charset="0"/>
                <a:ea typeface="Marcellus" pitchFamily="34" charset="-122"/>
                <a:cs typeface="Marcellus" pitchFamily="34" charset="-120"/>
              </a:rPr>
              <a:t>5</a:t>
            </a:r>
            <a:endParaRPr dirty="0" sz="1800" lang="en-US"/>
          </a:p>
        </p:txBody>
      </p:sp>
      <p:sp>
        <p:nvSpPr>
          <p:cNvPr id="1048833" name="Text 30"/>
          <p:cNvSpPr/>
          <p:nvPr/>
        </p:nvSpPr>
        <p:spPr>
          <a:xfrm>
            <a:off x="1009412" y="6620351"/>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Supplier/Category</a:t>
            </a:r>
            <a:endParaRPr dirty="0" sz="2150" lang="en-US"/>
          </a:p>
        </p:txBody>
      </p:sp>
      <p:sp>
        <p:nvSpPr>
          <p:cNvPr id="1048834" name="Text 31"/>
          <p:cNvSpPr/>
          <p:nvPr/>
        </p:nvSpPr>
        <p:spPr>
          <a:xfrm>
            <a:off x="1009412" y="7078861"/>
            <a:ext cx="600825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Vendor and classification system</a:t>
            </a:r>
            <a:endParaRPr dirty="0" sz="1500" lang="en-US"/>
          </a:p>
        </p:txBody>
      </p:sp>
      <p:sp>
        <p:nvSpPr>
          <p:cNvPr id="1048835" name="Shape 32"/>
          <p:cNvSpPr/>
          <p:nvPr/>
        </p:nvSpPr>
        <p:spPr>
          <a:xfrm>
            <a:off x="7397115" y="6138386"/>
            <a:ext cx="6439495" cy="1387793"/>
          </a:xfrm>
          <a:prstGeom prst="roundRect">
            <a:avLst>
              <a:gd name="adj" fmla="val 7907"/>
            </a:avLst>
          </a:prstGeom>
          <a:solidFill>
            <a:srgbClr val="FFFFF4">
              <a:alpha val="95000"/>
            </a:srgbClr>
          </a:solidFill>
        </p:spPr>
      </p:sp>
      <p:sp>
        <p:nvSpPr>
          <p:cNvPr id="1048836" name="Shape 33"/>
          <p:cNvSpPr/>
          <p:nvPr/>
        </p:nvSpPr>
        <p:spPr>
          <a:xfrm>
            <a:off x="7397115" y="6115526"/>
            <a:ext cx="6439495" cy="91440"/>
          </a:xfrm>
          <a:prstGeom prst="roundRect">
            <a:avLst>
              <a:gd name="adj" fmla="val 88558"/>
            </a:avLst>
          </a:prstGeom>
          <a:solidFill>
            <a:srgbClr val="FF954F"/>
          </a:solidFill>
        </p:spPr>
      </p:sp>
      <p:sp>
        <p:nvSpPr>
          <p:cNvPr id="1048837" name="Shape 34"/>
          <p:cNvSpPr/>
          <p:nvPr/>
        </p:nvSpPr>
        <p:spPr>
          <a:xfrm>
            <a:off x="10327600" y="5849183"/>
            <a:ext cx="578406" cy="578406"/>
          </a:xfrm>
          <a:prstGeom prst="roundRect">
            <a:avLst>
              <a:gd name="adj" fmla="val 158090"/>
            </a:avLst>
          </a:prstGeom>
          <a:solidFill>
            <a:srgbClr val="FF954F"/>
          </a:solidFill>
        </p:spPr>
      </p:sp>
      <p:sp>
        <p:nvSpPr>
          <p:cNvPr id="1048838" name="Text 35"/>
          <p:cNvSpPr/>
          <p:nvPr/>
        </p:nvSpPr>
        <p:spPr>
          <a:xfrm>
            <a:off x="10501074" y="5988010"/>
            <a:ext cx="231338" cy="300752"/>
          </a:xfrm>
          <a:prstGeom prst="rect"/>
          <a:noFill/>
        </p:spPr>
        <p:txBody>
          <a:bodyPr anchor="t" bIns="0" lIns="0" rIns="0" rtlCol="0" tIns="0" wrap="none"/>
          <a:p>
            <a:pPr algn="l" indent="0" marL="0">
              <a:lnSpc>
                <a:spcPts val="2150"/>
              </a:lnSpc>
              <a:buNone/>
            </a:pPr>
            <a:r>
              <a:rPr dirty="0" sz="1800" lang="en-US">
                <a:solidFill>
                  <a:srgbClr val="000000"/>
                </a:solidFill>
                <a:latin typeface="Marcellus" pitchFamily="34" charset="0"/>
                <a:ea typeface="Marcellus" pitchFamily="34" charset="-122"/>
                <a:cs typeface="Marcellus" pitchFamily="34" charset="-120"/>
              </a:rPr>
              <a:t>6</a:t>
            </a:r>
            <a:endParaRPr dirty="0" sz="1800" lang="en-US"/>
          </a:p>
        </p:txBody>
      </p:sp>
      <p:sp>
        <p:nvSpPr>
          <p:cNvPr id="1048839" name="Text 36"/>
          <p:cNvSpPr/>
          <p:nvPr/>
        </p:nvSpPr>
        <p:spPr>
          <a:xfrm>
            <a:off x="7612737" y="6620351"/>
            <a:ext cx="2771537" cy="360283"/>
          </a:xfrm>
          <a:prstGeom prst="rect"/>
          <a:noFill/>
        </p:spPr>
        <p:txBody>
          <a:bodyPr anchor="t" bIns="0" lIns="0" rIns="0" rtlCol="0" tIns="0" wrap="none"/>
          <a:p>
            <a:pPr algn="l" indent="0" marL="0">
              <a:lnSpc>
                <a:spcPts val="2800"/>
              </a:lnSpc>
              <a:buNone/>
            </a:pPr>
            <a:r>
              <a:rPr dirty="0" sz="2150" lang="en-US">
                <a:solidFill>
                  <a:srgbClr val="67534F"/>
                </a:solidFill>
                <a:latin typeface="Marcellus" pitchFamily="34" charset="0"/>
                <a:ea typeface="Marcellus" pitchFamily="34" charset="-122"/>
                <a:cs typeface="Marcellus" pitchFamily="34" charset="-120"/>
              </a:rPr>
              <a:t>Reporting</a:t>
            </a:r>
            <a:endParaRPr dirty="0" sz="2150" lang="en-US"/>
          </a:p>
        </p:txBody>
      </p:sp>
      <p:sp>
        <p:nvSpPr>
          <p:cNvPr id="1048840" name="Text 37"/>
          <p:cNvSpPr/>
          <p:nvPr/>
        </p:nvSpPr>
        <p:spPr>
          <a:xfrm>
            <a:off x="7612737" y="7078861"/>
            <a:ext cx="6008251" cy="231696"/>
          </a:xfrm>
          <a:prstGeom prst="rect"/>
          <a:noFill/>
        </p:spPr>
        <p:txBody>
          <a:bodyPr anchor="t" bIns="0" lIns="0" rIns="0" rtlCol="0" tIns="0" wrap="none"/>
          <a:p>
            <a:pPr algn="l" indent="0" marL="0">
              <a:lnSpc>
                <a:spcPts val="1800"/>
              </a:lnSpc>
              <a:buNone/>
            </a:pPr>
            <a:r>
              <a:rPr dirty="0" sz="1500" lang="en-US">
                <a:solidFill>
                  <a:srgbClr val="67534F"/>
                </a:solidFill>
                <a:latin typeface="Montserrat" pitchFamily="34" charset="0"/>
                <a:ea typeface="Montserrat" pitchFamily="34" charset="-122"/>
                <a:cs typeface="Montserrat" pitchFamily="34" charset="-120"/>
              </a:rPr>
              <a:t>Data analytics and insights</a:t>
            </a:r>
            <a:endParaRPr dirty="0" sz="1500" lang="en-US"/>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pic>
        <p:nvPicPr>
          <p:cNvPr id="2097184" name="Image 0" descr="preencoded.png"/>
          <p:cNvPicPr>
            <a:picLocks noChangeAspect="1"/>
          </p:cNvPicPr>
          <p:nvPr/>
        </p:nvPicPr>
        <p:blipFill>
          <a:blip xmlns:r="http://schemas.openxmlformats.org/officeDocument/2006/relationships" r:embed="rId1"/>
          <a:stretch>
            <a:fillRect/>
          </a:stretch>
        </p:blipFill>
        <p:spPr>
          <a:xfrm>
            <a:off x="0" y="0"/>
            <a:ext cx="5760720" cy="8229600"/>
          </a:xfrm>
          <a:prstGeom prst="rect"/>
        </p:spPr>
      </p:pic>
      <p:sp>
        <p:nvSpPr>
          <p:cNvPr id="1048844" name="Text 0"/>
          <p:cNvSpPr/>
          <p:nvPr/>
        </p:nvSpPr>
        <p:spPr>
          <a:xfrm>
            <a:off x="6280190" y="1762601"/>
            <a:ext cx="7556421" cy="1695450"/>
          </a:xfrm>
          <a:prstGeom prst="rect"/>
          <a:noFill/>
        </p:spPr>
        <p:txBody>
          <a:bodyPr anchor="t" bIns="0" lIns="0" rIns="0" rtlCol="0" tIns="0" wrap="square"/>
          <a:p>
            <a:pPr algn="l" indent="0" marL="0">
              <a:lnSpc>
                <a:spcPts val="6650"/>
              </a:lnSpc>
              <a:buNone/>
            </a:pPr>
            <a:r>
              <a:rPr dirty="0" sz="5100" lang="en-US">
                <a:solidFill>
                  <a:srgbClr val="532418"/>
                </a:solidFill>
                <a:latin typeface="Marcellus" pitchFamily="34" charset="0"/>
                <a:ea typeface="Marcellus" pitchFamily="34" charset="-122"/>
                <a:cs typeface="Marcellus" pitchFamily="34" charset="-120"/>
              </a:rPr>
              <a:t>User Authentication Module</a:t>
            </a:r>
            <a:endParaRPr dirty="0" sz="5100" lang="en-US"/>
          </a:p>
        </p:txBody>
      </p:sp>
      <p:sp>
        <p:nvSpPr>
          <p:cNvPr id="1048845" name="Text 1"/>
          <p:cNvSpPr/>
          <p:nvPr/>
        </p:nvSpPr>
        <p:spPr>
          <a:xfrm>
            <a:off x="6280190" y="4025027"/>
            <a:ext cx="3260646" cy="423863"/>
          </a:xfrm>
          <a:prstGeom prst="rect"/>
          <a:noFill/>
        </p:spPr>
        <p:txBody>
          <a:bodyPr anchor="t" bIns="0" lIns="0" rIns="0" rtlCol="0" tIns="0" wrap="none"/>
          <a:p>
            <a:pPr algn="l" indent="0" marL="0">
              <a:lnSpc>
                <a:spcPts val="3300"/>
              </a:lnSpc>
              <a:buNone/>
            </a:pPr>
            <a:r>
              <a:rPr dirty="0" sz="2550" lang="en-US">
                <a:solidFill>
                  <a:srgbClr val="532418"/>
                </a:solidFill>
                <a:latin typeface="Marcellus" pitchFamily="34" charset="0"/>
                <a:ea typeface="Marcellus" pitchFamily="34" charset="-122"/>
                <a:cs typeface="Marcellus" pitchFamily="34" charset="-120"/>
              </a:rPr>
              <a:t>Security Features</a:t>
            </a:r>
            <a:endParaRPr dirty="0" sz="2550" lang="en-US"/>
          </a:p>
        </p:txBody>
      </p:sp>
      <p:sp>
        <p:nvSpPr>
          <p:cNvPr id="1048846" name="Text 2"/>
          <p:cNvSpPr/>
          <p:nvPr/>
        </p:nvSpPr>
        <p:spPr>
          <a:xfrm>
            <a:off x="6280190" y="4675703"/>
            <a:ext cx="3501509" cy="1711881"/>
          </a:xfrm>
          <a:prstGeom prst="rect"/>
          <a:noFill/>
        </p:spPr>
        <p:txBody>
          <a:bodyPr anchor="t" bIns="0" lIns="0" rIns="0" rtlCol="0" tIns="0" wrap="square"/>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Encrypted password storage</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Role-based access control</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Session management</a:t>
            </a:r>
            <a:endParaRPr dirty="0" sz="1750" lang="en-US"/>
          </a:p>
          <a:p>
            <a:pPr algn="l" indent="-342900" marL="342900">
              <a:lnSpc>
                <a:spcPts val="2300"/>
              </a:lnSpc>
              <a:buSzPct val="100000"/>
              <a:buChar char="•"/>
            </a:pPr>
            <a:r>
              <a:rPr dirty="0" sz="1750" lang="en-US">
                <a:solidFill>
                  <a:srgbClr val="67534F"/>
                </a:solidFill>
                <a:latin typeface="Montserrat" pitchFamily="34" charset="0"/>
                <a:ea typeface="Montserrat" pitchFamily="34" charset="-122"/>
                <a:cs typeface="Montserrat" pitchFamily="34" charset="-120"/>
              </a:rPr>
              <a:t>Secure API endpoints</a:t>
            </a:r>
            <a:endParaRPr dirty="0" sz="1750" lang="en-US"/>
          </a:p>
        </p:txBody>
      </p:sp>
      <p:sp>
        <p:nvSpPr>
          <p:cNvPr id="1048847" name="Text 3"/>
          <p:cNvSpPr/>
          <p:nvPr/>
        </p:nvSpPr>
        <p:spPr>
          <a:xfrm>
            <a:off x="10342721" y="4025027"/>
            <a:ext cx="3260646" cy="423863"/>
          </a:xfrm>
          <a:prstGeom prst="rect"/>
          <a:noFill/>
        </p:spPr>
        <p:txBody>
          <a:bodyPr anchor="t" bIns="0" lIns="0" rIns="0" rtlCol="0" tIns="0" wrap="none"/>
          <a:p>
            <a:pPr algn="l" indent="0" marL="0">
              <a:lnSpc>
                <a:spcPts val="3300"/>
              </a:lnSpc>
              <a:buNone/>
            </a:pPr>
            <a:r>
              <a:rPr dirty="0" sz="2550" lang="en-US">
                <a:solidFill>
                  <a:srgbClr val="532418"/>
                </a:solidFill>
                <a:latin typeface="Marcellus" pitchFamily="34" charset="0"/>
                <a:ea typeface="Marcellus" pitchFamily="34" charset="-122"/>
                <a:cs typeface="Marcellus" pitchFamily="34" charset="-120"/>
              </a:rPr>
              <a:t>Key Benefits</a:t>
            </a:r>
            <a:endParaRPr dirty="0" sz="2550" lang="en-US"/>
          </a:p>
        </p:txBody>
      </p:sp>
      <p:sp>
        <p:nvSpPr>
          <p:cNvPr id="1048848" name="Text 4"/>
          <p:cNvSpPr/>
          <p:nvPr/>
        </p:nvSpPr>
        <p:spPr>
          <a:xfrm>
            <a:off x="10342721" y="4675703"/>
            <a:ext cx="3501509" cy="1473994"/>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Ensures only authorized personnel can access sensitive inventory data while maintaining audit trails of all user activities</a:t>
            </a:r>
            <a:endParaRPr dirty="0" sz="1750" lang="en-US"/>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pic>
        <p:nvPicPr>
          <p:cNvPr id="2097185" name="Image 0" descr="preencoded.png"/>
          <p:cNvPicPr>
            <a:picLocks noChangeAspect="1"/>
          </p:cNvPicPr>
          <p:nvPr/>
        </p:nvPicPr>
        <p:blipFill>
          <a:blip xmlns:r="http://schemas.openxmlformats.org/officeDocument/2006/relationships" r:embed="rId1"/>
          <a:stretch>
            <a:fillRect/>
          </a:stretch>
        </p:blipFill>
        <p:spPr>
          <a:xfrm>
            <a:off x="8869680" y="0"/>
            <a:ext cx="5760720" cy="8229600"/>
          </a:xfrm>
          <a:prstGeom prst="rect"/>
        </p:spPr>
      </p:pic>
      <p:sp>
        <p:nvSpPr>
          <p:cNvPr id="1048852" name="Text 0"/>
          <p:cNvSpPr/>
          <p:nvPr/>
        </p:nvSpPr>
        <p:spPr>
          <a:xfrm>
            <a:off x="793790" y="719733"/>
            <a:ext cx="7231380" cy="678180"/>
          </a:xfrm>
          <a:prstGeom prst="rect"/>
          <a:noFill/>
        </p:spPr>
        <p:txBody>
          <a:bodyPr anchor="t" bIns="0" lIns="0" rIns="0" rtlCol="0" tIns="0" wrap="none"/>
          <a:p>
            <a:pPr algn="l" indent="0" marL="0">
              <a:lnSpc>
                <a:spcPts val="5300"/>
              </a:lnSpc>
              <a:buNone/>
            </a:pPr>
            <a:r>
              <a:rPr dirty="0" sz="4100" lang="en-US">
                <a:solidFill>
                  <a:srgbClr val="532418"/>
                </a:solidFill>
                <a:latin typeface="Marcellus" pitchFamily="34" charset="0"/>
                <a:ea typeface="Marcellus" pitchFamily="34" charset="-122"/>
                <a:cs typeface="Marcellus" pitchFamily="34" charset="-120"/>
              </a:rPr>
              <a:t>Product Management Module</a:t>
            </a:r>
            <a:endParaRPr dirty="0" sz="4100" lang="en-US"/>
          </a:p>
        </p:txBody>
      </p:sp>
      <p:pic>
        <p:nvPicPr>
          <p:cNvPr id="2097186" name="Image 1" descr="preencoded.png"/>
          <p:cNvPicPr>
            <a:picLocks noChangeAspect="1"/>
          </p:cNvPicPr>
          <p:nvPr/>
        </p:nvPicPr>
        <p:blipFill>
          <a:blip xmlns:r="http://schemas.openxmlformats.org/officeDocument/2006/relationships" r:embed="rId2"/>
          <a:stretch>
            <a:fillRect/>
          </a:stretch>
        </p:blipFill>
        <p:spPr>
          <a:xfrm>
            <a:off x="793790" y="1642705"/>
            <a:ext cx="181451" cy="181451"/>
          </a:xfrm>
          <a:prstGeom prst="rect"/>
        </p:spPr>
      </p:pic>
      <p:sp>
        <p:nvSpPr>
          <p:cNvPr id="1048853" name="Shape 1"/>
          <p:cNvSpPr/>
          <p:nvPr/>
        </p:nvSpPr>
        <p:spPr>
          <a:xfrm>
            <a:off x="793790" y="1910120"/>
            <a:ext cx="7556421" cy="22860"/>
          </a:xfrm>
          <a:prstGeom prst="rect"/>
          <a:solidFill>
            <a:srgbClr val="FF954F"/>
          </a:solidFill>
        </p:spPr>
      </p:sp>
      <p:sp>
        <p:nvSpPr>
          <p:cNvPr id="1048854" name="Text 2"/>
          <p:cNvSpPr/>
          <p:nvPr/>
        </p:nvSpPr>
        <p:spPr>
          <a:xfrm>
            <a:off x="793790" y="2046565"/>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Add Products</a:t>
            </a:r>
            <a:endParaRPr dirty="0" sz="2050" lang="en-US"/>
          </a:p>
        </p:txBody>
      </p:sp>
      <p:sp>
        <p:nvSpPr>
          <p:cNvPr id="1048855" name="Text 3"/>
          <p:cNvSpPr/>
          <p:nvPr/>
        </p:nvSpPr>
        <p:spPr>
          <a:xfrm>
            <a:off x="793790" y="2472690"/>
            <a:ext cx="7556421"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Register new inventory items with complete details including SKU, name, category, and pricing</a:t>
            </a:r>
            <a:endParaRPr dirty="0" sz="1400" lang="en-US"/>
          </a:p>
        </p:txBody>
      </p:sp>
      <p:pic>
        <p:nvPicPr>
          <p:cNvPr id="2097187" name="Image 2" descr="preencoded.png"/>
          <p:cNvPicPr>
            <a:picLocks noChangeAspect="1"/>
          </p:cNvPicPr>
          <p:nvPr/>
        </p:nvPicPr>
        <p:blipFill>
          <a:blip xmlns:r="http://schemas.openxmlformats.org/officeDocument/2006/relationships" r:embed="rId2"/>
          <a:stretch>
            <a:fillRect/>
          </a:stretch>
        </p:blipFill>
        <p:spPr>
          <a:xfrm>
            <a:off x="793790" y="3205639"/>
            <a:ext cx="181451" cy="181451"/>
          </a:xfrm>
          <a:prstGeom prst="rect"/>
        </p:spPr>
      </p:pic>
      <p:sp>
        <p:nvSpPr>
          <p:cNvPr id="1048856" name="Shape 4"/>
          <p:cNvSpPr/>
          <p:nvPr/>
        </p:nvSpPr>
        <p:spPr>
          <a:xfrm>
            <a:off x="793790" y="3473053"/>
            <a:ext cx="7556421" cy="22860"/>
          </a:xfrm>
          <a:prstGeom prst="rect"/>
          <a:solidFill>
            <a:srgbClr val="FF954F"/>
          </a:solidFill>
        </p:spPr>
      </p:sp>
      <p:sp>
        <p:nvSpPr>
          <p:cNvPr id="1048857" name="Text 5"/>
          <p:cNvSpPr/>
          <p:nvPr/>
        </p:nvSpPr>
        <p:spPr>
          <a:xfrm>
            <a:off x="793790" y="3609499"/>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Update Details</a:t>
            </a:r>
            <a:endParaRPr dirty="0" sz="2050" lang="en-US"/>
          </a:p>
        </p:txBody>
      </p:sp>
      <p:sp>
        <p:nvSpPr>
          <p:cNvPr id="1048858" name="Text 6"/>
          <p:cNvSpPr/>
          <p:nvPr/>
        </p:nvSpPr>
        <p:spPr>
          <a:xfrm>
            <a:off x="793790" y="4035623"/>
            <a:ext cx="7556421"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Modify product information, adjust pricing, or update specifications as business needs change</a:t>
            </a:r>
            <a:endParaRPr dirty="0" sz="1400" lang="en-US"/>
          </a:p>
        </p:txBody>
      </p:sp>
      <p:pic>
        <p:nvPicPr>
          <p:cNvPr id="2097188" name="Image 3" descr="preencoded.png"/>
          <p:cNvPicPr>
            <a:picLocks noChangeAspect="1"/>
          </p:cNvPicPr>
          <p:nvPr/>
        </p:nvPicPr>
        <p:blipFill>
          <a:blip xmlns:r="http://schemas.openxmlformats.org/officeDocument/2006/relationships" r:embed="rId2"/>
          <a:stretch>
            <a:fillRect/>
          </a:stretch>
        </p:blipFill>
        <p:spPr>
          <a:xfrm>
            <a:off x="793790" y="4768572"/>
            <a:ext cx="181451" cy="181451"/>
          </a:xfrm>
          <a:prstGeom prst="rect"/>
        </p:spPr>
      </p:pic>
      <p:sp>
        <p:nvSpPr>
          <p:cNvPr id="1048859" name="Shape 7"/>
          <p:cNvSpPr/>
          <p:nvPr/>
        </p:nvSpPr>
        <p:spPr>
          <a:xfrm>
            <a:off x="793790" y="5035987"/>
            <a:ext cx="7556421" cy="22860"/>
          </a:xfrm>
          <a:prstGeom prst="rect"/>
          <a:solidFill>
            <a:srgbClr val="FF954F"/>
          </a:solidFill>
        </p:spPr>
      </p:sp>
      <p:sp>
        <p:nvSpPr>
          <p:cNvPr id="1048860" name="Text 8"/>
          <p:cNvSpPr/>
          <p:nvPr/>
        </p:nvSpPr>
        <p:spPr>
          <a:xfrm>
            <a:off x="793790" y="5172432"/>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Search &amp; View</a:t>
            </a:r>
            <a:endParaRPr dirty="0" sz="2050" lang="en-US"/>
          </a:p>
        </p:txBody>
      </p:sp>
      <p:sp>
        <p:nvSpPr>
          <p:cNvPr id="1048861" name="Text 9"/>
          <p:cNvSpPr/>
          <p:nvPr/>
        </p:nvSpPr>
        <p:spPr>
          <a:xfrm>
            <a:off x="793790" y="5598557"/>
            <a:ext cx="7556421"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Quickly locate products and access complete records including current stock levels and storage locations</a:t>
            </a:r>
            <a:endParaRPr dirty="0" sz="1400" lang="en-US"/>
          </a:p>
        </p:txBody>
      </p:sp>
      <p:pic>
        <p:nvPicPr>
          <p:cNvPr id="2097189" name="Image 4" descr="preencoded.png"/>
          <p:cNvPicPr>
            <a:picLocks noChangeAspect="1"/>
          </p:cNvPicPr>
          <p:nvPr/>
        </p:nvPicPr>
        <p:blipFill>
          <a:blip xmlns:r="http://schemas.openxmlformats.org/officeDocument/2006/relationships" r:embed="rId2"/>
          <a:stretch>
            <a:fillRect/>
          </a:stretch>
        </p:blipFill>
        <p:spPr>
          <a:xfrm>
            <a:off x="793790" y="6331506"/>
            <a:ext cx="181451" cy="181451"/>
          </a:xfrm>
          <a:prstGeom prst="rect"/>
        </p:spPr>
      </p:pic>
      <p:sp>
        <p:nvSpPr>
          <p:cNvPr id="1048862" name="Shape 10"/>
          <p:cNvSpPr/>
          <p:nvPr/>
        </p:nvSpPr>
        <p:spPr>
          <a:xfrm>
            <a:off x="793790" y="6598920"/>
            <a:ext cx="7556421" cy="22860"/>
          </a:xfrm>
          <a:prstGeom prst="rect"/>
          <a:solidFill>
            <a:srgbClr val="FF954F"/>
          </a:solidFill>
        </p:spPr>
      </p:sp>
      <p:sp>
        <p:nvSpPr>
          <p:cNvPr id="1048863" name="Text 11"/>
          <p:cNvSpPr/>
          <p:nvPr/>
        </p:nvSpPr>
        <p:spPr>
          <a:xfrm>
            <a:off x="793790" y="6735366"/>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Delete Products</a:t>
            </a:r>
            <a:endParaRPr dirty="0" sz="2050" lang="en-US"/>
          </a:p>
        </p:txBody>
      </p:sp>
      <p:sp>
        <p:nvSpPr>
          <p:cNvPr id="1048864" name="Text 12"/>
          <p:cNvSpPr/>
          <p:nvPr/>
        </p:nvSpPr>
        <p:spPr>
          <a:xfrm>
            <a:off x="793790" y="7161490"/>
            <a:ext cx="7556421"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Remove discontinued items while maintaining historical transaction records</a:t>
            </a:r>
            <a:endParaRPr dirty="0" sz="1400" lang="en-US"/>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68" name="Text 0"/>
          <p:cNvSpPr/>
          <p:nvPr/>
        </p:nvSpPr>
        <p:spPr>
          <a:xfrm>
            <a:off x="793790" y="1050012"/>
            <a:ext cx="7884795" cy="805220"/>
          </a:xfrm>
          <a:prstGeom prst="rect"/>
          <a:noFill/>
        </p:spPr>
        <p:txBody>
          <a:bodyPr anchor="t" bIns="0" lIns="0" rIns="0" rtlCol="0" tIns="0" wrap="none"/>
          <a:p>
            <a:pPr algn="l" indent="0" marL="0">
              <a:lnSpc>
                <a:spcPts val="6300"/>
              </a:lnSpc>
              <a:buNone/>
            </a:pPr>
            <a:r>
              <a:rPr dirty="0" sz="4850" lang="en-US">
                <a:solidFill>
                  <a:srgbClr val="532418"/>
                </a:solidFill>
                <a:latin typeface="Marcellus" pitchFamily="34" charset="0"/>
                <a:ea typeface="Marcellus" pitchFamily="34" charset="-122"/>
                <a:cs typeface="Marcellus" pitchFamily="34" charset="-120"/>
              </a:rPr>
              <a:t>Stock Management Module</a:t>
            </a:r>
            <a:endParaRPr dirty="0" sz="4850" lang="en-US"/>
          </a:p>
        </p:txBody>
      </p:sp>
      <p:pic>
        <p:nvPicPr>
          <p:cNvPr id="2097190" name="Image 0" descr="preencoded.png"/>
          <p:cNvPicPr>
            <a:picLocks noChangeAspect="1"/>
          </p:cNvPicPr>
          <p:nvPr/>
        </p:nvPicPr>
        <p:blipFill>
          <a:blip xmlns:r="http://schemas.openxmlformats.org/officeDocument/2006/relationships" r:embed="rId1"/>
          <a:stretch>
            <a:fillRect/>
          </a:stretch>
        </p:blipFill>
        <p:spPr>
          <a:xfrm>
            <a:off x="1001078" y="2472095"/>
            <a:ext cx="7879080" cy="4397573"/>
          </a:xfrm>
          <a:prstGeom prst="rect"/>
        </p:spPr>
      </p:pic>
      <p:sp>
        <p:nvSpPr>
          <p:cNvPr id="1048869" name="Text 1"/>
          <p:cNvSpPr/>
          <p:nvPr/>
        </p:nvSpPr>
        <p:spPr>
          <a:xfrm>
            <a:off x="9620964" y="2366962"/>
            <a:ext cx="3097530" cy="402669"/>
          </a:xfrm>
          <a:prstGeom prst="rect"/>
          <a:noFill/>
        </p:spPr>
        <p:txBody>
          <a:bodyPr anchor="t" bIns="0" lIns="0" rIns="0" rtlCol="0" tIns="0" wrap="none"/>
          <a:p>
            <a:pPr algn="l" indent="0" marL="0">
              <a:lnSpc>
                <a:spcPts val="3150"/>
              </a:lnSpc>
              <a:buNone/>
            </a:pPr>
            <a:r>
              <a:rPr dirty="0" sz="2400" lang="en-US">
                <a:solidFill>
                  <a:srgbClr val="532418"/>
                </a:solidFill>
                <a:latin typeface="Marcellus" pitchFamily="34" charset="0"/>
                <a:ea typeface="Marcellus" pitchFamily="34" charset="-122"/>
                <a:cs typeface="Marcellus" pitchFamily="34" charset="-120"/>
              </a:rPr>
              <a:t>Core Responsibilities</a:t>
            </a:r>
            <a:endParaRPr dirty="0" sz="2400" lang="en-US"/>
          </a:p>
        </p:txBody>
      </p:sp>
      <p:sp>
        <p:nvSpPr>
          <p:cNvPr id="1048870" name="Text 2"/>
          <p:cNvSpPr/>
          <p:nvPr/>
        </p:nvSpPr>
        <p:spPr>
          <a:xfrm>
            <a:off x="9620964" y="2974300"/>
            <a:ext cx="4223147" cy="3017520"/>
          </a:xfrm>
          <a:prstGeom prst="rect"/>
          <a:noFill/>
        </p:spPr>
        <p:txBody>
          <a:bodyPr anchor="t" bIns="0" lIns="0" rIns="0" rtlCol="0" tIns="0" wrap="square"/>
          <a:p>
            <a:pPr algn="l" indent="-342900" marL="342900">
              <a:lnSpc>
                <a:spcPts val="2150"/>
              </a:lnSpc>
              <a:buSzPct val="100000"/>
              <a:buChar char="•"/>
            </a:pPr>
            <a:r>
              <a:rPr dirty="0" sz="1650" lang="en-US">
                <a:solidFill>
                  <a:srgbClr val="67534F"/>
                </a:solidFill>
                <a:latin typeface="Montserrat" pitchFamily="34" charset="0"/>
                <a:ea typeface="Montserrat" pitchFamily="34" charset="-122"/>
                <a:cs typeface="Montserrat" pitchFamily="34" charset="-120"/>
              </a:rPr>
              <a:t>Real-time tracking of available inventory quantities</a:t>
            </a:r>
            <a:endParaRPr dirty="0" sz="1650" lang="en-US"/>
          </a:p>
          <a:p>
            <a:pPr algn="l" indent="-342900" marL="342900">
              <a:lnSpc>
                <a:spcPts val="2150"/>
              </a:lnSpc>
              <a:buSzPct val="100000"/>
              <a:buChar char="•"/>
            </a:pPr>
            <a:r>
              <a:rPr dirty="0" sz="1650" lang="en-US">
                <a:solidFill>
                  <a:srgbClr val="67534F"/>
                </a:solidFill>
                <a:latin typeface="Montserrat" pitchFamily="34" charset="0"/>
                <a:ea typeface="Montserrat" pitchFamily="34" charset="-122"/>
                <a:cs typeface="Montserrat" pitchFamily="34" charset="-120"/>
              </a:rPr>
              <a:t>Automatic stock updates during purchases and sales</a:t>
            </a:r>
            <a:endParaRPr dirty="0" sz="1650" lang="en-US"/>
          </a:p>
          <a:p>
            <a:pPr algn="l" indent="-342900" marL="342900">
              <a:lnSpc>
                <a:spcPts val="2150"/>
              </a:lnSpc>
              <a:buSzPct val="100000"/>
              <a:buChar char="•"/>
            </a:pPr>
            <a:r>
              <a:rPr dirty="0" sz="1650" lang="en-US">
                <a:solidFill>
                  <a:srgbClr val="67534F"/>
                </a:solidFill>
                <a:latin typeface="Montserrat" pitchFamily="34" charset="0"/>
                <a:ea typeface="Montserrat" pitchFamily="34" charset="-122"/>
                <a:cs typeface="Montserrat" pitchFamily="34" charset="-120"/>
              </a:rPr>
              <a:t>Comprehensive stock-in and stock-out management</a:t>
            </a:r>
            <a:endParaRPr dirty="0" sz="1650" lang="en-US"/>
          </a:p>
          <a:p>
            <a:pPr algn="l" indent="-342900" marL="342900">
              <a:lnSpc>
                <a:spcPts val="2150"/>
              </a:lnSpc>
              <a:buSzPct val="100000"/>
              <a:buChar char="•"/>
            </a:pPr>
            <a:r>
              <a:rPr dirty="0" sz="1650" lang="en-US">
                <a:solidFill>
                  <a:srgbClr val="67534F"/>
                </a:solidFill>
                <a:latin typeface="Montserrat" pitchFamily="34" charset="0"/>
                <a:ea typeface="Montserrat" pitchFamily="34" charset="-122"/>
                <a:cs typeface="Montserrat" pitchFamily="34" charset="-120"/>
              </a:rPr>
              <a:t>Data validation to prevent inventory mismatches</a:t>
            </a:r>
            <a:endParaRPr dirty="0" sz="1650" lang="en-US"/>
          </a:p>
          <a:p>
            <a:pPr algn="l" indent="-342900" marL="342900">
              <a:lnSpc>
                <a:spcPts val="2150"/>
              </a:lnSpc>
              <a:buSzPct val="100000"/>
              <a:buChar char="•"/>
            </a:pPr>
            <a:r>
              <a:rPr dirty="0" sz="1650" lang="en-US">
                <a:solidFill>
                  <a:srgbClr val="67534F"/>
                </a:solidFill>
                <a:latin typeface="Montserrat" pitchFamily="34" charset="0"/>
                <a:ea typeface="Montserrat" pitchFamily="34" charset="-122"/>
                <a:cs typeface="Montserrat" pitchFamily="34" charset="-120"/>
              </a:rPr>
              <a:t>Low-stock alerts to prevent running out of critical items</a:t>
            </a:r>
            <a:endParaRPr dirty="0" sz="1650" lang="en-US"/>
          </a:p>
        </p:txBody>
      </p:sp>
      <p:sp>
        <p:nvSpPr>
          <p:cNvPr id="1048871" name="Text 3"/>
          <p:cNvSpPr/>
          <p:nvPr/>
        </p:nvSpPr>
        <p:spPr>
          <a:xfrm>
            <a:off x="9620964" y="6176010"/>
            <a:ext cx="4223147" cy="819388"/>
          </a:xfrm>
          <a:prstGeom prst="rect"/>
          <a:noFill/>
        </p:spPr>
        <p:txBody>
          <a:bodyPr anchor="t" bIns="0" lIns="0" rIns="0" rtlCol="0" tIns="0" wrap="square"/>
          <a:p>
            <a:pPr algn="l" indent="0" marL="0">
              <a:lnSpc>
                <a:spcPts val="2150"/>
              </a:lnSpc>
              <a:buNone/>
            </a:pPr>
            <a:r>
              <a:rPr b="1" dirty="0" sz="1650" lang="en-US">
                <a:solidFill>
                  <a:srgbClr val="E1E1DF"/>
                </a:solidFill>
                <a:latin typeface="Montserrat" pitchFamily="34" charset="0"/>
                <a:ea typeface="Montserrat" pitchFamily="34" charset="-122"/>
                <a:cs typeface="Montserrat" pitchFamily="34" charset="-120"/>
              </a:rPr>
              <a:t>Maintains accurate, up-to-the-minute inventory counts across all locations</a:t>
            </a:r>
            <a:endParaRPr dirty="0" sz="1650" lang="en-US"/>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pic>
        <p:nvPicPr>
          <p:cNvPr id="2097191" name="Image 0" descr="preencoded.png"/>
          <p:cNvPicPr>
            <a:picLocks noChangeAspect="1"/>
          </p:cNvPicPr>
          <p:nvPr/>
        </p:nvPicPr>
        <p:blipFill>
          <a:blip xmlns:r="http://schemas.openxmlformats.org/officeDocument/2006/relationships" r:embed="rId1"/>
          <a:stretch>
            <a:fillRect/>
          </a:stretch>
        </p:blipFill>
        <p:spPr>
          <a:xfrm>
            <a:off x="8869680" y="0"/>
            <a:ext cx="5760720" cy="8229600"/>
          </a:xfrm>
          <a:prstGeom prst="rect"/>
        </p:spPr>
      </p:pic>
      <p:sp>
        <p:nvSpPr>
          <p:cNvPr id="1048875" name="Text 0"/>
          <p:cNvSpPr/>
          <p:nvPr/>
        </p:nvSpPr>
        <p:spPr>
          <a:xfrm>
            <a:off x="793790" y="633293"/>
            <a:ext cx="7556421" cy="1695450"/>
          </a:xfrm>
          <a:prstGeom prst="rect"/>
          <a:noFill/>
        </p:spPr>
        <p:txBody>
          <a:bodyPr anchor="t" bIns="0" lIns="0" rIns="0" rtlCol="0" tIns="0" wrap="square"/>
          <a:p>
            <a:pPr algn="l" indent="0" marL="0">
              <a:lnSpc>
                <a:spcPts val="6650"/>
              </a:lnSpc>
              <a:buNone/>
            </a:pPr>
            <a:r>
              <a:rPr dirty="0" sz="5100" lang="en-US">
                <a:solidFill>
                  <a:srgbClr val="532418"/>
                </a:solidFill>
                <a:latin typeface="Marcellus" pitchFamily="34" charset="0"/>
                <a:ea typeface="Marcellus" pitchFamily="34" charset="-122"/>
                <a:cs typeface="Marcellus" pitchFamily="34" charset="-120"/>
              </a:rPr>
              <a:t>Storage Management Module</a:t>
            </a:r>
            <a:endParaRPr dirty="0" sz="5100" lang="en-US"/>
          </a:p>
        </p:txBody>
      </p:sp>
      <p:pic>
        <p:nvPicPr>
          <p:cNvPr id="2097192" name="Image 1" descr="preencoded.png"/>
          <p:cNvPicPr>
            <a:picLocks noChangeAspect="1"/>
          </p:cNvPicPr>
          <p:nvPr/>
        </p:nvPicPr>
        <p:blipFill>
          <a:blip xmlns:r="http://schemas.openxmlformats.org/officeDocument/2006/relationships" r:embed="rId2"/>
          <a:stretch>
            <a:fillRect/>
          </a:stretch>
        </p:blipFill>
        <p:spPr>
          <a:xfrm>
            <a:off x="793790" y="2668905"/>
            <a:ext cx="1134070" cy="1360884"/>
          </a:xfrm>
          <a:prstGeom prst="rect"/>
        </p:spPr>
      </p:pic>
      <p:sp>
        <p:nvSpPr>
          <p:cNvPr id="1048876" name="Text 1"/>
          <p:cNvSpPr/>
          <p:nvPr/>
        </p:nvSpPr>
        <p:spPr>
          <a:xfrm>
            <a:off x="2154674" y="2895719"/>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Location Setup</a:t>
            </a:r>
            <a:endParaRPr dirty="0" sz="2550" lang="en-US"/>
          </a:p>
        </p:txBody>
      </p:sp>
      <p:sp>
        <p:nvSpPr>
          <p:cNvPr id="1048877" name="Text 2"/>
          <p:cNvSpPr/>
          <p:nvPr/>
        </p:nvSpPr>
        <p:spPr>
          <a:xfrm>
            <a:off x="2154674" y="3455670"/>
            <a:ext cx="6195536"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Define warehouse sections, aisles, and storage zones</a:t>
            </a:r>
            <a:endParaRPr dirty="0" sz="1750" lang="en-US"/>
          </a:p>
        </p:txBody>
      </p:sp>
      <p:pic>
        <p:nvPicPr>
          <p:cNvPr id="2097193" name="Image 2" descr="preencoded.png"/>
          <p:cNvPicPr>
            <a:picLocks noChangeAspect="1"/>
          </p:cNvPicPr>
          <p:nvPr/>
        </p:nvPicPr>
        <p:blipFill>
          <a:blip xmlns:r="http://schemas.openxmlformats.org/officeDocument/2006/relationships" r:embed="rId3"/>
          <a:stretch>
            <a:fillRect/>
          </a:stretch>
        </p:blipFill>
        <p:spPr>
          <a:xfrm>
            <a:off x="793790" y="4029789"/>
            <a:ext cx="1134070" cy="1360884"/>
          </a:xfrm>
          <a:prstGeom prst="rect"/>
        </p:spPr>
      </p:pic>
      <p:sp>
        <p:nvSpPr>
          <p:cNvPr id="1048878" name="Text 3"/>
          <p:cNvSpPr/>
          <p:nvPr/>
        </p:nvSpPr>
        <p:spPr>
          <a:xfrm>
            <a:off x="2154674" y="4256603"/>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Product Placement</a:t>
            </a:r>
            <a:endParaRPr dirty="0" sz="2550" lang="en-US"/>
          </a:p>
        </p:txBody>
      </p:sp>
      <p:sp>
        <p:nvSpPr>
          <p:cNvPr id="1048879" name="Text 4"/>
          <p:cNvSpPr/>
          <p:nvPr/>
        </p:nvSpPr>
        <p:spPr>
          <a:xfrm>
            <a:off x="2154674" y="4816554"/>
            <a:ext cx="6195536"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Assign specific locations to each inventory item</a:t>
            </a:r>
            <a:endParaRPr dirty="0" sz="1750" lang="en-US"/>
          </a:p>
        </p:txBody>
      </p:sp>
      <p:pic>
        <p:nvPicPr>
          <p:cNvPr id="2097194" name="Image 3" descr="preencoded.png"/>
          <p:cNvPicPr>
            <a:picLocks noChangeAspect="1"/>
          </p:cNvPicPr>
          <p:nvPr/>
        </p:nvPicPr>
        <p:blipFill>
          <a:blip xmlns:r="http://schemas.openxmlformats.org/officeDocument/2006/relationships" r:embed="rId4"/>
          <a:stretch>
            <a:fillRect/>
          </a:stretch>
        </p:blipFill>
        <p:spPr>
          <a:xfrm>
            <a:off x="793790" y="5390674"/>
            <a:ext cx="1134070" cy="1360884"/>
          </a:xfrm>
          <a:prstGeom prst="rect"/>
        </p:spPr>
      </p:pic>
      <p:sp>
        <p:nvSpPr>
          <p:cNvPr id="1048880" name="Text 5"/>
          <p:cNvSpPr/>
          <p:nvPr/>
        </p:nvSpPr>
        <p:spPr>
          <a:xfrm>
            <a:off x="2154674" y="5617488"/>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Quick Retrieval</a:t>
            </a:r>
            <a:endParaRPr dirty="0" sz="2550" lang="en-US"/>
          </a:p>
        </p:txBody>
      </p:sp>
      <p:sp>
        <p:nvSpPr>
          <p:cNvPr id="1048881" name="Text 6"/>
          <p:cNvSpPr/>
          <p:nvPr/>
        </p:nvSpPr>
        <p:spPr>
          <a:xfrm>
            <a:off x="2154674" y="6177439"/>
            <a:ext cx="6195536"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Guide staff to exact storage positions instantly</a:t>
            </a:r>
            <a:endParaRPr dirty="0" sz="1750" lang="en-US"/>
          </a:p>
        </p:txBody>
      </p:sp>
      <p:sp>
        <p:nvSpPr>
          <p:cNvPr id="1048882" name="Text 7"/>
          <p:cNvSpPr/>
          <p:nvPr/>
        </p:nvSpPr>
        <p:spPr>
          <a:xfrm>
            <a:off x="793790" y="7006709"/>
            <a:ext cx="7556421" cy="589598"/>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Optimizes warehouse space utilization and reduces product search time, improving operational efficiency</a:t>
            </a:r>
            <a:endParaRPr dirty="0" sz="1750" lang="en-US"/>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86" name="Text 0"/>
          <p:cNvSpPr/>
          <p:nvPr/>
        </p:nvSpPr>
        <p:spPr>
          <a:xfrm>
            <a:off x="793790" y="906661"/>
            <a:ext cx="6521291" cy="847725"/>
          </a:xfrm>
          <a:prstGeom prst="rect"/>
          <a:noFill/>
        </p:spPr>
        <p:txBody>
          <a:bodyPr anchor="t" bIns="0" lIns="0" rIns="0" rtlCol="0" tIns="0" wrap="none"/>
          <a:p>
            <a:pPr algn="l" indent="0" marL="0">
              <a:lnSpc>
                <a:spcPts val="6650"/>
              </a:lnSpc>
              <a:buNone/>
            </a:pPr>
            <a:r>
              <a:rPr dirty="0" sz="5100" lang="en-US">
                <a:solidFill>
                  <a:srgbClr val="532418"/>
                </a:solidFill>
                <a:latin typeface="Marcellus" pitchFamily="34" charset="0"/>
                <a:ea typeface="Marcellus" pitchFamily="34" charset="-122"/>
                <a:cs typeface="Marcellus" pitchFamily="34" charset="-120"/>
              </a:rPr>
              <a:t>Database Design</a:t>
            </a:r>
            <a:endParaRPr dirty="0" sz="5100" lang="en-US"/>
          </a:p>
        </p:txBody>
      </p:sp>
      <p:sp>
        <p:nvSpPr>
          <p:cNvPr id="1048887" name="Text 1"/>
          <p:cNvSpPr/>
          <p:nvPr/>
        </p:nvSpPr>
        <p:spPr>
          <a:xfrm>
            <a:off x="793790" y="2208014"/>
            <a:ext cx="13042821"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A well-structured relational database ensures data integrity, consistency, and efficient querying</a:t>
            </a:r>
            <a:endParaRPr dirty="0" sz="1750" lang="en-US"/>
          </a:p>
        </p:txBody>
      </p:sp>
      <p:sp>
        <p:nvSpPr>
          <p:cNvPr id="1048888" name="Text 2"/>
          <p:cNvSpPr/>
          <p:nvPr/>
        </p:nvSpPr>
        <p:spPr>
          <a:xfrm>
            <a:off x="1772007" y="3239333"/>
            <a:ext cx="3260646" cy="423863"/>
          </a:xfrm>
          <a:prstGeom prst="rect"/>
          <a:noFill/>
        </p:spPr>
        <p:txBody>
          <a:bodyPr anchor="t" bIns="0" lIns="0" rIns="0" rtlCol="0" tIns="0" wrap="none"/>
          <a:p>
            <a:pPr algn="r" indent="0" marL="0">
              <a:lnSpc>
                <a:spcPts val="3300"/>
              </a:lnSpc>
              <a:buNone/>
            </a:pPr>
            <a:r>
              <a:rPr dirty="0" sz="2550" lang="en-US">
                <a:solidFill>
                  <a:srgbClr val="67534F"/>
                </a:solidFill>
                <a:latin typeface="Marcellus" pitchFamily="34" charset="0"/>
                <a:ea typeface="Marcellus" pitchFamily="34" charset="-122"/>
                <a:cs typeface="Marcellus" pitchFamily="34" charset="-120"/>
              </a:rPr>
              <a:t>Users</a:t>
            </a:r>
            <a:endParaRPr dirty="0" sz="2550" lang="en-US"/>
          </a:p>
        </p:txBody>
      </p:sp>
      <p:sp>
        <p:nvSpPr>
          <p:cNvPr id="1048889" name="Text 3"/>
          <p:cNvSpPr/>
          <p:nvPr/>
        </p:nvSpPr>
        <p:spPr>
          <a:xfrm>
            <a:off x="793790" y="3799284"/>
            <a:ext cx="4238863" cy="589598"/>
          </a:xfrm>
          <a:prstGeom prst="rect"/>
          <a:noFill/>
        </p:spPr>
        <p:txBody>
          <a:bodyPr anchor="t" bIns="0" lIns="0" rIns="0" rtlCol="0" tIns="0" wrap="square"/>
          <a:p>
            <a:pPr algn="r"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Authentication credentials and access permissions</a:t>
            </a:r>
            <a:endParaRPr dirty="0" sz="1750" lang="en-US"/>
          </a:p>
        </p:txBody>
      </p:sp>
      <p:pic>
        <p:nvPicPr>
          <p:cNvPr id="2097195" name="Image 0" descr="preencoded.png"/>
          <p:cNvPicPr>
            <a:picLocks noChangeAspect="1"/>
          </p:cNvPicPr>
          <p:nvPr/>
        </p:nvPicPr>
        <p:blipFill>
          <a:blip xmlns:r="http://schemas.openxmlformats.org/officeDocument/2006/relationships" r:embed="rId1"/>
          <a:stretch>
            <a:fillRect/>
          </a:stretch>
        </p:blipFill>
        <p:spPr>
          <a:xfrm>
            <a:off x="5032653" y="2757964"/>
            <a:ext cx="4564975" cy="4564975"/>
          </a:xfrm>
          <a:prstGeom prst="rect"/>
        </p:spPr>
      </p:pic>
      <p:pic>
        <p:nvPicPr>
          <p:cNvPr id="2097196" name="Image 1" descr="preencoded.png"/>
          <p:cNvPicPr>
            <a:picLocks noChangeAspect="1"/>
          </p:cNvPicPr>
          <p:nvPr/>
        </p:nvPicPr>
        <p:blipFill>
          <a:blip xmlns:r="http://schemas.openxmlformats.org/officeDocument/2006/relationships" r:embed="rId2"/>
          <a:stretch>
            <a:fillRect/>
          </a:stretch>
        </p:blipFill>
        <p:spPr>
          <a:xfrm>
            <a:off x="6204585" y="4189928"/>
            <a:ext cx="318968" cy="318968"/>
          </a:xfrm>
          <a:prstGeom prst="rect"/>
        </p:spPr>
      </p:pic>
      <p:sp>
        <p:nvSpPr>
          <p:cNvPr id="1048890" name="Text 4"/>
          <p:cNvSpPr/>
          <p:nvPr/>
        </p:nvSpPr>
        <p:spPr>
          <a:xfrm>
            <a:off x="9597628" y="2879765"/>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Products</a:t>
            </a:r>
            <a:endParaRPr dirty="0" sz="2550" lang="en-US"/>
          </a:p>
        </p:txBody>
      </p:sp>
      <p:sp>
        <p:nvSpPr>
          <p:cNvPr id="1048891" name="Text 5"/>
          <p:cNvSpPr/>
          <p:nvPr/>
        </p:nvSpPr>
        <p:spPr>
          <a:xfrm>
            <a:off x="9597628" y="3439716"/>
            <a:ext cx="4238982" cy="589598"/>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Complete inventory catalog with attributes</a:t>
            </a:r>
            <a:endParaRPr dirty="0" sz="1750" lang="en-US"/>
          </a:p>
        </p:txBody>
      </p:sp>
      <p:pic>
        <p:nvPicPr>
          <p:cNvPr id="2097197" name="Image 2" descr="preencoded.png"/>
          <p:cNvPicPr>
            <a:picLocks noChangeAspect="1"/>
          </p:cNvPicPr>
          <p:nvPr/>
        </p:nvPicPr>
        <p:blipFill>
          <a:blip xmlns:r="http://schemas.openxmlformats.org/officeDocument/2006/relationships" r:embed="rId3"/>
          <a:stretch>
            <a:fillRect/>
          </a:stretch>
        </p:blipFill>
        <p:spPr>
          <a:xfrm>
            <a:off x="5032653" y="2757964"/>
            <a:ext cx="4564975" cy="4564975"/>
          </a:xfrm>
          <a:prstGeom prst="rect"/>
        </p:spPr>
      </p:pic>
      <p:pic>
        <p:nvPicPr>
          <p:cNvPr id="2097198" name="Image 3" descr="preencoded.png"/>
          <p:cNvPicPr>
            <a:picLocks noChangeAspect="1"/>
          </p:cNvPicPr>
          <p:nvPr/>
        </p:nvPicPr>
        <p:blipFill>
          <a:blip xmlns:r="http://schemas.openxmlformats.org/officeDocument/2006/relationships" r:embed="rId2"/>
          <a:stretch>
            <a:fillRect/>
          </a:stretch>
        </p:blipFill>
        <p:spPr>
          <a:xfrm>
            <a:off x="7518797" y="3762851"/>
            <a:ext cx="318968" cy="318968"/>
          </a:xfrm>
          <a:prstGeom prst="rect"/>
        </p:spPr>
      </p:pic>
      <p:sp>
        <p:nvSpPr>
          <p:cNvPr id="1048892" name="Text 6"/>
          <p:cNvSpPr/>
          <p:nvPr/>
        </p:nvSpPr>
        <p:spPr>
          <a:xfrm>
            <a:off x="10051256" y="4613077"/>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Categories</a:t>
            </a:r>
            <a:endParaRPr dirty="0" sz="2550" lang="en-US"/>
          </a:p>
        </p:txBody>
      </p:sp>
      <p:sp>
        <p:nvSpPr>
          <p:cNvPr id="1048893" name="Text 7"/>
          <p:cNvSpPr/>
          <p:nvPr/>
        </p:nvSpPr>
        <p:spPr>
          <a:xfrm>
            <a:off x="10051256" y="5173028"/>
            <a:ext cx="3785354"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Product classification system</a:t>
            </a:r>
            <a:endParaRPr dirty="0" sz="1750" lang="en-US"/>
          </a:p>
        </p:txBody>
      </p:sp>
      <p:pic>
        <p:nvPicPr>
          <p:cNvPr id="2097199" name="Image 4" descr="preencoded.png"/>
          <p:cNvPicPr>
            <a:picLocks noChangeAspect="1"/>
          </p:cNvPicPr>
          <p:nvPr/>
        </p:nvPicPr>
        <p:blipFill>
          <a:blip xmlns:r="http://schemas.openxmlformats.org/officeDocument/2006/relationships" r:embed="rId4"/>
          <a:stretch>
            <a:fillRect/>
          </a:stretch>
        </p:blipFill>
        <p:spPr>
          <a:xfrm>
            <a:off x="5032653" y="2757964"/>
            <a:ext cx="4564975" cy="4564975"/>
          </a:xfrm>
          <a:prstGeom prst="rect"/>
        </p:spPr>
      </p:pic>
      <p:pic>
        <p:nvPicPr>
          <p:cNvPr id="2097200" name="Image 5" descr="preencoded.png"/>
          <p:cNvPicPr>
            <a:picLocks noChangeAspect="1"/>
          </p:cNvPicPr>
          <p:nvPr/>
        </p:nvPicPr>
        <p:blipFill>
          <a:blip xmlns:r="http://schemas.openxmlformats.org/officeDocument/2006/relationships" r:embed="rId2"/>
          <a:stretch>
            <a:fillRect/>
          </a:stretch>
        </p:blipFill>
        <p:spPr>
          <a:xfrm>
            <a:off x="8331041" y="4880848"/>
            <a:ext cx="318968" cy="318968"/>
          </a:xfrm>
          <a:prstGeom prst="rect"/>
        </p:spPr>
      </p:pic>
      <p:sp>
        <p:nvSpPr>
          <p:cNvPr id="1048894" name="Text 8"/>
          <p:cNvSpPr/>
          <p:nvPr/>
        </p:nvSpPr>
        <p:spPr>
          <a:xfrm>
            <a:off x="9597628" y="6051590"/>
            <a:ext cx="3260646" cy="423863"/>
          </a:xfrm>
          <a:prstGeom prst="rect"/>
          <a:noFill/>
        </p:spPr>
        <p:txBody>
          <a:bodyPr anchor="t" bIns="0" lIns="0" rIns="0" rtlCol="0" tIns="0" wrap="none"/>
          <a:p>
            <a:pPr algn="l" indent="0" marL="0">
              <a:lnSpc>
                <a:spcPts val="3300"/>
              </a:lnSpc>
              <a:buNone/>
            </a:pPr>
            <a:r>
              <a:rPr dirty="0" sz="2550" lang="en-US">
                <a:solidFill>
                  <a:srgbClr val="67534F"/>
                </a:solidFill>
                <a:latin typeface="Marcellus" pitchFamily="34" charset="0"/>
                <a:ea typeface="Marcellus" pitchFamily="34" charset="-122"/>
                <a:cs typeface="Marcellus" pitchFamily="34" charset="-120"/>
              </a:rPr>
              <a:t>Stock</a:t>
            </a:r>
            <a:endParaRPr dirty="0" sz="2550" lang="en-US"/>
          </a:p>
        </p:txBody>
      </p:sp>
      <p:sp>
        <p:nvSpPr>
          <p:cNvPr id="1048895" name="Text 9"/>
          <p:cNvSpPr/>
          <p:nvPr/>
        </p:nvSpPr>
        <p:spPr>
          <a:xfrm>
            <a:off x="9597628" y="6611541"/>
            <a:ext cx="4238982" cy="589598"/>
          </a:xfrm>
          <a:prstGeom prst="rect"/>
          <a:noFill/>
        </p:spPr>
        <p:txBody>
          <a:bodyPr anchor="t" bIns="0" lIns="0" rIns="0" rtlCol="0" tIns="0" wrap="squar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Quantity tracking and movement history</a:t>
            </a:r>
            <a:endParaRPr dirty="0" sz="1750" lang="en-US"/>
          </a:p>
        </p:txBody>
      </p:sp>
      <p:pic>
        <p:nvPicPr>
          <p:cNvPr id="2097201" name="Image 6" descr="preencoded.png"/>
          <p:cNvPicPr>
            <a:picLocks noChangeAspect="1"/>
          </p:cNvPicPr>
          <p:nvPr/>
        </p:nvPicPr>
        <p:blipFill>
          <a:blip xmlns:r="http://schemas.openxmlformats.org/officeDocument/2006/relationships" r:embed="rId5"/>
          <a:stretch>
            <a:fillRect/>
          </a:stretch>
        </p:blipFill>
        <p:spPr>
          <a:xfrm>
            <a:off x="5032653" y="2757964"/>
            <a:ext cx="4564975" cy="4564975"/>
          </a:xfrm>
          <a:prstGeom prst="rect"/>
        </p:spPr>
      </p:pic>
      <p:pic>
        <p:nvPicPr>
          <p:cNvPr id="2097202" name="Image 7" descr="preencoded.png"/>
          <p:cNvPicPr>
            <a:picLocks noChangeAspect="1"/>
          </p:cNvPicPr>
          <p:nvPr/>
        </p:nvPicPr>
        <p:blipFill>
          <a:blip xmlns:r="http://schemas.openxmlformats.org/officeDocument/2006/relationships" r:embed="rId2"/>
          <a:stretch>
            <a:fillRect/>
          </a:stretch>
        </p:blipFill>
        <p:spPr>
          <a:xfrm>
            <a:off x="7518797" y="5998845"/>
            <a:ext cx="318968" cy="318968"/>
          </a:xfrm>
          <a:prstGeom prst="rect"/>
        </p:spPr>
      </p:pic>
      <p:sp>
        <p:nvSpPr>
          <p:cNvPr id="1048896" name="Text 10"/>
          <p:cNvSpPr/>
          <p:nvPr/>
        </p:nvSpPr>
        <p:spPr>
          <a:xfrm>
            <a:off x="1772007" y="5691902"/>
            <a:ext cx="3260646" cy="423863"/>
          </a:xfrm>
          <a:prstGeom prst="rect"/>
          <a:noFill/>
        </p:spPr>
        <p:txBody>
          <a:bodyPr anchor="t" bIns="0" lIns="0" rIns="0" rtlCol="0" tIns="0" wrap="none"/>
          <a:p>
            <a:pPr algn="r" indent="0" marL="0">
              <a:lnSpc>
                <a:spcPts val="3300"/>
              </a:lnSpc>
              <a:buNone/>
            </a:pPr>
            <a:r>
              <a:rPr dirty="0" sz="2550" lang="en-US">
                <a:solidFill>
                  <a:srgbClr val="67534F"/>
                </a:solidFill>
                <a:latin typeface="Marcellus" pitchFamily="34" charset="0"/>
                <a:ea typeface="Marcellus" pitchFamily="34" charset="-122"/>
                <a:cs typeface="Marcellus" pitchFamily="34" charset="-120"/>
              </a:rPr>
              <a:t>Storage</a:t>
            </a:r>
            <a:endParaRPr dirty="0" sz="2550" lang="en-US"/>
          </a:p>
        </p:txBody>
      </p:sp>
      <p:sp>
        <p:nvSpPr>
          <p:cNvPr id="1048897" name="Text 11"/>
          <p:cNvSpPr/>
          <p:nvPr/>
        </p:nvSpPr>
        <p:spPr>
          <a:xfrm>
            <a:off x="793790" y="6251853"/>
            <a:ext cx="4238863" cy="589598"/>
          </a:xfrm>
          <a:prstGeom prst="rect"/>
          <a:noFill/>
        </p:spPr>
        <p:txBody>
          <a:bodyPr anchor="t" bIns="0" lIns="0" rIns="0" rtlCol="0" tIns="0" wrap="square"/>
          <a:p>
            <a:pPr algn="r"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Physical location mapping and organization</a:t>
            </a:r>
            <a:endParaRPr dirty="0" sz="1750" lang="en-US"/>
          </a:p>
        </p:txBody>
      </p:sp>
      <p:pic>
        <p:nvPicPr>
          <p:cNvPr id="2097203" name="Image 8" descr="preencoded.png"/>
          <p:cNvPicPr>
            <a:picLocks noChangeAspect="1"/>
          </p:cNvPicPr>
          <p:nvPr/>
        </p:nvPicPr>
        <p:blipFill>
          <a:blip xmlns:r="http://schemas.openxmlformats.org/officeDocument/2006/relationships" r:embed="rId6"/>
          <a:stretch>
            <a:fillRect/>
          </a:stretch>
        </p:blipFill>
        <p:spPr>
          <a:xfrm>
            <a:off x="5032653" y="2757964"/>
            <a:ext cx="4564975" cy="4564975"/>
          </a:xfrm>
          <a:prstGeom prst="rect"/>
        </p:spPr>
      </p:pic>
      <p:pic>
        <p:nvPicPr>
          <p:cNvPr id="2097204" name="Image 9" descr="preencoded.png"/>
          <p:cNvPicPr>
            <a:picLocks noChangeAspect="1"/>
          </p:cNvPicPr>
          <p:nvPr/>
        </p:nvPicPr>
        <p:blipFill>
          <a:blip xmlns:r="http://schemas.openxmlformats.org/officeDocument/2006/relationships" r:embed="rId2"/>
          <a:stretch>
            <a:fillRect/>
          </a:stretch>
        </p:blipFill>
        <p:spPr>
          <a:xfrm>
            <a:off x="6204585" y="5571768"/>
            <a:ext cx="318968" cy="318968"/>
          </a:xfrm>
          <a:prstGeom prst="rect"/>
        </p:spPr>
      </p:pic>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901" name="Text 0"/>
          <p:cNvSpPr/>
          <p:nvPr/>
        </p:nvSpPr>
        <p:spPr>
          <a:xfrm>
            <a:off x="793790" y="757238"/>
            <a:ext cx="5216962" cy="678180"/>
          </a:xfrm>
          <a:prstGeom prst="rect"/>
          <a:noFill/>
        </p:spPr>
        <p:txBody>
          <a:bodyPr anchor="t" bIns="0" lIns="0" rIns="0" rtlCol="0" tIns="0" wrap="none"/>
          <a:p>
            <a:pPr algn="l" indent="0" marL="0">
              <a:lnSpc>
                <a:spcPts val="5300"/>
              </a:lnSpc>
              <a:buNone/>
            </a:pPr>
            <a:r>
              <a:rPr dirty="0" sz="4100" lang="en-US">
                <a:solidFill>
                  <a:srgbClr val="532418"/>
                </a:solidFill>
                <a:latin typeface="Marcellus" pitchFamily="34" charset="0"/>
                <a:ea typeface="Marcellus" pitchFamily="34" charset="-122"/>
                <a:cs typeface="Marcellus" pitchFamily="34" charset="-120"/>
              </a:rPr>
              <a:t>API Integration</a:t>
            </a:r>
            <a:endParaRPr dirty="0" sz="4100" lang="en-US"/>
          </a:p>
        </p:txBody>
      </p:sp>
      <p:sp>
        <p:nvSpPr>
          <p:cNvPr id="1048902" name="Text 1"/>
          <p:cNvSpPr/>
          <p:nvPr/>
        </p:nvSpPr>
        <p:spPr>
          <a:xfrm>
            <a:off x="793790" y="2159556"/>
            <a:ext cx="2816185" cy="339090"/>
          </a:xfrm>
          <a:prstGeom prst="rect"/>
          <a:noFill/>
        </p:spPr>
        <p:txBody>
          <a:bodyPr anchor="t" bIns="0" lIns="0" rIns="0" rtlCol="0" tIns="0" wrap="none"/>
          <a:p>
            <a:pPr algn="l" indent="0" marL="0">
              <a:lnSpc>
                <a:spcPts val="2650"/>
              </a:lnSpc>
              <a:buNone/>
            </a:pPr>
            <a:r>
              <a:rPr dirty="0" sz="2050" lang="en-US">
                <a:solidFill>
                  <a:srgbClr val="532418"/>
                </a:solidFill>
                <a:latin typeface="Marcellus" pitchFamily="34" charset="0"/>
                <a:ea typeface="Marcellus" pitchFamily="34" charset="-122"/>
                <a:cs typeface="Marcellus" pitchFamily="34" charset="-120"/>
              </a:rPr>
              <a:t>RESTful Communication</a:t>
            </a:r>
            <a:endParaRPr dirty="0" sz="2050" lang="en-US"/>
          </a:p>
        </p:txBody>
      </p:sp>
      <p:sp>
        <p:nvSpPr>
          <p:cNvPr id="1048903" name="Text 2"/>
          <p:cNvSpPr/>
          <p:nvPr/>
        </p:nvSpPr>
        <p:spPr>
          <a:xfrm>
            <a:off x="793790" y="2643783"/>
            <a:ext cx="8322826"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The React frontend communicates with the Spring Boot backend through standardized HTTP REST APIs, enabling seamless data exchange</a:t>
            </a:r>
            <a:endParaRPr dirty="0" sz="1400" lang="en-US"/>
          </a:p>
        </p:txBody>
      </p:sp>
      <p:pic>
        <p:nvPicPr>
          <p:cNvPr id="2097205" name="Image 0" descr="preencoded.png"/>
          <p:cNvPicPr>
            <a:picLocks noChangeAspect="1"/>
          </p:cNvPicPr>
          <p:nvPr/>
        </p:nvPicPr>
        <p:blipFill>
          <a:blip xmlns:r="http://schemas.openxmlformats.org/officeDocument/2006/relationships" r:embed="rId1"/>
          <a:stretch>
            <a:fillRect/>
          </a:stretch>
        </p:blipFill>
        <p:spPr>
          <a:xfrm>
            <a:off x="1626037" y="3231594"/>
            <a:ext cx="6658213" cy="3716179"/>
          </a:xfrm>
          <a:prstGeom prst="rect"/>
        </p:spPr>
      </p:pic>
      <p:sp>
        <p:nvSpPr>
          <p:cNvPr id="1048904" name="Shape 3"/>
          <p:cNvSpPr/>
          <p:nvPr/>
        </p:nvSpPr>
        <p:spPr>
          <a:xfrm>
            <a:off x="9566910" y="1816298"/>
            <a:ext cx="4277201" cy="1317427"/>
          </a:xfrm>
          <a:prstGeom prst="roundRect">
            <a:avLst>
              <a:gd name="adj" fmla="val 5785"/>
            </a:avLst>
          </a:prstGeom>
          <a:solidFill>
            <a:srgbClr val="FFFFF4">
              <a:alpha val="95000"/>
            </a:srgbClr>
          </a:solidFill>
          <a:ln w="22860">
            <a:solidFill>
              <a:srgbClr val="FFE0CC"/>
            </a:solidFill>
            <a:prstDash val="solid"/>
          </a:ln>
        </p:spPr>
      </p:sp>
      <p:sp>
        <p:nvSpPr>
          <p:cNvPr id="1048905" name="Text 4"/>
          <p:cNvSpPr/>
          <p:nvPr/>
        </p:nvSpPr>
        <p:spPr>
          <a:xfrm>
            <a:off x="9771221" y="2020610"/>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GET</a:t>
            </a:r>
            <a:endParaRPr dirty="0" sz="2050" lang="en-US"/>
          </a:p>
        </p:txBody>
      </p:sp>
      <p:sp>
        <p:nvSpPr>
          <p:cNvPr id="1048906" name="Text 5"/>
          <p:cNvSpPr/>
          <p:nvPr/>
        </p:nvSpPr>
        <p:spPr>
          <a:xfrm>
            <a:off x="9771221" y="2504837"/>
            <a:ext cx="3868579"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Retrieve product lists, stock levels, and user data</a:t>
            </a:r>
            <a:endParaRPr dirty="0" sz="1400" lang="en-US"/>
          </a:p>
        </p:txBody>
      </p:sp>
      <p:sp>
        <p:nvSpPr>
          <p:cNvPr id="1048907" name="Shape 6"/>
          <p:cNvSpPr/>
          <p:nvPr/>
        </p:nvSpPr>
        <p:spPr>
          <a:xfrm>
            <a:off x="9566910" y="3278862"/>
            <a:ext cx="4277201" cy="1317427"/>
          </a:xfrm>
          <a:prstGeom prst="roundRect">
            <a:avLst>
              <a:gd name="adj" fmla="val 5785"/>
            </a:avLst>
          </a:prstGeom>
          <a:solidFill>
            <a:srgbClr val="FFFFF4">
              <a:alpha val="95000"/>
            </a:srgbClr>
          </a:solidFill>
          <a:ln w="22860">
            <a:solidFill>
              <a:srgbClr val="FFE0CC"/>
            </a:solidFill>
            <a:prstDash val="solid"/>
          </a:ln>
        </p:spPr>
      </p:sp>
      <p:sp>
        <p:nvSpPr>
          <p:cNvPr id="1048908" name="Text 7"/>
          <p:cNvSpPr/>
          <p:nvPr/>
        </p:nvSpPr>
        <p:spPr>
          <a:xfrm>
            <a:off x="9771221" y="3483173"/>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POST</a:t>
            </a:r>
            <a:endParaRPr dirty="0" sz="2050" lang="en-US"/>
          </a:p>
        </p:txBody>
      </p:sp>
      <p:sp>
        <p:nvSpPr>
          <p:cNvPr id="1048909" name="Text 8"/>
          <p:cNvSpPr/>
          <p:nvPr/>
        </p:nvSpPr>
        <p:spPr>
          <a:xfrm>
            <a:off x="9771221" y="3967401"/>
            <a:ext cx="3868579"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Create new products, users, and inventory records</a:t>
            </a:r>
            <a:endParaRPr dirty="0" sz="1400" lang="en-US"/>
          </a:p>
        </p:txBody>
      </p:sp>
      <p:sp>
        <p:nvSpPr>
          <p:cNvPr id="1048910" name="Shape 9"/>
          <p:cNvSpPr/>
          <p:nvPr/>
        </p:nvSpPr>
        <p:spPr>
          <a:xfrm>
            <a:off x="9566910" y="4741426"/>
            <a:ext cx="4277201" cy="1317427"/>
          </a:xfrm>
          <a:prstGeom prst="roundRect">
            <a:avLst>
              <a:gd name="adj" fmla="val 5785"/>
            </a:avLst>
          </a:prstGeom>
          <a:solidFill>
            <a:srgbClr val="FFFFF4">
              <a:alpha val="95000"/>
            </a:srgbClr>
          </a:solidFill>
          <a:ln w="22860">
            <a:solidFill>
              <a:srgbClr val="FFE0CC"/>
            </a:solidFill>
            <a:prstDash val="solid"/>
          </a:ln>
        </p:spPr>
      </p:sp>
      <p:sp>
        <p:nvSpPr>
          <p:cNvPr id="1048911" name="Text 10"/>
          <p:cNvSpPr/>
          <p:nvPr/>
        </p:nvSpPr>
        <p:spPr>
          <a:xfrm>
            <a:off x="9771221" y="4945737"/>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PUT</a:t>
            </a:r>
            <a:endParaRPr dirty="0" sz="2050" lang="en-US"/>
          </a:p>
        </p:txBody>
      </p:sp>
      <p:sp>
        <p:nvSpPr>
          <p:cNvPr id="1048912" name="Text 11"/>
          <p:cNvSpPr/>
          <p:nvPr/>
        </p:nvSpPr>
        <p:spPr>
          <a:xfrm>
            <a:off x="9771221" y="5429964"/>
            <a:ext cx="3868579"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Update existing product details and attributes</a:t>
            </a:r>
            <a:endParaRPr dirty="0" sz="1400" lang="en-US"/>
          </a:p>
        </p:txBody>
      </p:sp>
      <p:sp>
        <p:nvSpPr>
          <p:cNvPr id="1048913" name="Shape 12"/>
          <p:cNvSpPr/>
          <p:nvPr/>
        </p:nvSpPr>
        <p:spPr>
          <a:xfrm>
            <a:off x="9566910" y="6203990"/>
            <a:ext cx="4277201" cy="1105138"/>
          </a:xfrm>
          <a:prstGeom prst="roundRect">
            <a:avLst>
              <a:gd name="adj" fmla="val 6896"/>
            </a:avLst>
          </a:prstGeom>
          <a:solidFill>
            <a:srgbClr val="FFFFF4">
              <a:alpha val="95000"/>
            </a:srgbClr>
          </a:solidFill>
          <a:ln w="22860">
            <a:solidFill>
              <a:srgbClr val="FFE0CC"/>
            </a:solidFill>
            <a:prstDash val="solid"/>
          </a:ln>
        </p:spPr>
      </p:sp>
      <p:sp>
        <p:nvSpPr>
          <p:cNvPr id="1048914" name="Text 13"/>
          <p:cNvSpPr/>
          <p:nvPr/>
        </p:nvSpPr>
        <p:spPr>
          <a:xfrm>
            <a:off x="9771221" y="6408301"/>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DELETE</a:t>
            </a:r>
            <a:endParaRPr dirty="0" sz="2050" lang="en-US"/>
          </a:p>
        </p:txBody>
      </p:sp>
      <p:sp>
        <p:nvSpPr>
          <p:cNvPr id="1048915" name="Text 14"/>
          <p:cNvSpPr/>
          <p:nvPr/>
        </p:nvSpPr>
        <p:spPr>
          <a:xfrm>
            <a:off x="9771221" y="6892528"/>
            <a:ext cx="3868579"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Remove products and archive records</a:t>
            </a:r>
            <a:endParaRPr dirty="0" sz="1400" lang="en-US"/>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919" name="Text 0"/>
          <p:cNvSpPr/>
          <p:nvPr/>
        </p:nvSpPr>
        <p:spPr>
          <a:xfrm>
            <a:off x="793790" y="715685"/>
            <a:ext cx="5216962" cy="678180"/>
          </a:xfrm>
          <a:prstGeom prst="rect"/>
          <a:noFill/>
        </p:spPr>
        <p:txBody>
          <a:bodyPr anchor="t" bIns="0" lIns="0" rIns="0" rtlCol="0" tIns="0" wrap="none"/>
          <a:p>
            <a:pPr algn="l" indent="0" marL="0">
              <a:lnSpc>
                <a:spcPts val="5300"/>
              </a:lnSpc>
              <a:buNone/>
            </a:pPr>
            <a:r>
              <a:rPr dirty="0" sz="4100" lang="en-US">
                <a:solidFill>
                  <a:srgbClr val="532418"/>
                </a:solidFill>
                <a:latin typeface="Marcellus" pitchFamily="34" charset="0"/>
                <a:ea typeface="Marcellus" pitchFamily="34" charset="-122"/>
                <a:cs typeface="Marcellus" pitchFamily="34" charset="-120"/>
              </a:rPr>
              <a:t>Key Features</a:t>
            </a:r>
            <a:endParaRPr dirty="0" sz="4100" lang="en-US"/>
          </a:p>
        </p:txBody>
      </p:sp>
      <p:sp>
        <p:nvSpPr>
          <p:cNvPr id="1048920" name="Text 1"/>
          <p:cNvSpPr/>
          <p:nvPr/>
        </p:nvSpPr>
        <p:spPr>
          <a:xfrm>
            <a:off x="793790" y="1684139"/>
            <a:ext cx="13042821"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A complete inventory solution designed for real-world business needs</a:t>
            </a:r>
            <a:endParaRPr dirty="0" sz="1400" lang="en-US"/>
          </a:p>
        </p:txBody>
      </p:sp>
      <p:sp>
        <p:nvSpPr>
          <p:cNvPr id="1048921" name="Shape 2"/>
          <p:cNvSpPr/>
          <p:nvPr/>
        </p:nvSpPr>
        <p:spPr>
          <a:xfrm>
            <a:off x="793790" y="2059662"/>
            <a:ext cx="6448782" cy="1721287"/>
          </a:xfrm>
          <a:prstGeom prst="roundRect">
            <a:avLst>
              <a:gd name="adj" fmla="val 4428"/>
            </a:avLst>
          </a:prstGeom>
          <a:solidFill>
            <a:srgbClr val="FFFFF4"/>
          </a:solidFill>
          <a:ln w="15240">
            <a:solidFill>
              <a:srgbClr val="FFE0CC"/>
            </a:solidFill>
            <a:prstDash val="solid"/>
          </a:ln>
        </p:spPr>
      </p:sp>
      <p:sp>
        <p:nvSpPr>
          <p:cNvPr id="1048922" name="Shape 3"/>
          <p:cNvSpPr/>
          <p:nvPr/>
        </p:nvSpPr>
        <p:spPr>
          <a:xfrm>
            <a:off x="990481" y="2256353"/>
            <a:ext cx="544354" cy="544354"/>
          </a:xfrm>
          <a:prstGeom prst="roundRect">
            <a:avLst>
              <a:gd name="adj" fmla="val 16796213"/>
            </a:avLst>
          </a:prstGeom>
          <a:solidFill>
            <a:srgbClr val="FF954F"/>
          </a:solidFill>
        </p:spPr>
      </p:sp>
      <p:pic>
        <p:nvPicPr>
          <p:cNvPr id="2097206" name="Image 0" descr="preencoded.png"/>
          <p:cNvPicPr>
            <a:picLocks noChangeAspect="1"/>
          </p:cNvPicPr>
          <p:nvPr/>
        </p:nvPicPr>
        <p:blipFill>
          <a:blip xmlns:r="http://schemas.openxmlformats.org/officeDocument/2006/relationships" r:embed="rId1"/>
          <a:stretch>
            <a:fillRect/>
          </a:stretch>
        </p:blipFill>
        <p:spPr>
          <a:xfrm>
            <a:off x="1140143" y="2406015"/>
            <a:ext cx="244912" cy="244912"/>
          </a:xfrm>
          <a:prstGeom prst="rect"/>
        </p:spPr>
      </p:pic>
      <p:sp>
        <p:nvSpPr>
          <p:cNvPr id="1048923" name="Text 4"/>
          <p:cNvSpPr/>
          <p:nvPr/>
        </p:nvSpPr>
        <p:spPr>
          <a:xfrm>
            <a:off x="990481" y="2945844"/>
            <a:ext cx="2682597"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User-Friendly Interface</a:t>
            </a:r>
            <a:endParaRPr dirty="0" sz="2050" lang="en-US"/>
          </a:p>
        </p:txBody>
      </p:sp>
      <p:sp>
        <p:nvSpPr>
          <p:cNvPr id="1048924" name="Text 5"/>
          <p:cNvSpPr/>
          <p:nvPr/>
        </p:nvSpPr>
        <p:spPr>
          <a:xfrm>
            <a:off x="990481" y="3371969"/>
            <a:ext cx="6055400"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Intuitive design that requires minimal training</a:t>
            </a:r>
            <a:endParaRPr dirty="0" sz="1400" lang="en-US"/>
          </a:p>
        </p:txBody>
      </p:sp>
      <p:sp>
        <p:nvSpPr>
          <p:cNvPr id="1048925" name="Shape 6"/>
          <p:cNvSpPr/>
          <p:nvPr/>
        </p:nvSpPr>
        <p:spPr>
          <a:xfrm>
            <a:off x="7387709" y="2059662"/>
            <a:ext cx="6448901" cy="1721287"/>
          </a:xfrm>
          <a:prstGeom prst="roundRect">
            <a:avLst>
              <a:gd name="adj" fmla="val 4428"/>
            </a:avLst>
          </a:prstGeom>
          <a:solidFill>
            <a:srgbClr val="FFFFF4"/>
          </a:solidFill>
          <a:ln w="15240">
            <a:solidFill>
              <a:srgbClr val="FFE0CC"/>
            </a:solidFill>
            <a:prstDash val="solid"/>
          </a:ln>
        </p:spPr>
      </p:sp>
      <p:sp>
        <p:nvSpPr>
          <p:cNvPr id="1048926" name="Shape 7"/>
          <p:cNvSpPr/>
          <p:nvPr/>
        </p:nvSpPr>
        <p:spPr>
          <a:xfrm>
            <a:off x="7584400" y="2256353"/>
            <a:ext cx="544354" cy="544354"/>
          </a:xfrm>
          <a:prstGeom prst="roundRect">
            <a:avLst>
              <a:gd name="adj" fmla="val 16796213"/>
            </a:avLst>
          </a:prstGeom>
          <a:solidFill>
            <a:srgbClr val="FF954F"/>
          </a:solidFill>
        </p:spPr>
      </p:sp>
      <p:pic>
        <p:nvPicPr>
          <p:cNvPr id="2097207" name="Image 1" descr="preencoded.png"/>
          <p:cNvPicPr>
            <a:picLocks noChangeAspect="1"/>
          </p:cNvPicPr>
          <p:nvPr/>
        </p:nvPicPr>
        <p:blipFill>
          <a:blip xmlns:r="http://schemas.openxmlformats.org/officeDocument/2006/relationships" r:embed="rId1"/>
          <a:stretch>
            <a:fillRect/>
          </a:stretch>
        </p:blipFill>
        <p:spPr>
          <a:xfrm>
            <a:off x="7734062" y="2406015"/>
            <a:ext cx="244912" cy="244912"/>
          </a:xfrm>
          <a:prstGeom prst="rect"/>
        </p:spPr>
      </p:pic>
      <p:sp>
        <p:nvSpPr>
          <p:cNvPr id="1048927" name="Text 8"/>
          <p:cNvSpPr/>
          <p:nvPr/>
        </p:nvSpPr>
        <p:spPr>
          <a:xfrm>
            <a:off x="7584400" y="2945844"/>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Full CRUD Operations</a:t>
            </a:r>
            <a:endParaRPr dirty="0" sz="2050" lang="en-US"/>
          </a:p>
        </p:txBody>
      </p:sp>
      <p:sp>
        <p:nvSpPr>
          <p:cNvPr id="1048928" name="Text 9"/>
          <p:cNvSpPr/>
          <p:nvPr/>
        </p:nvSpPr>
        <p:spPr>
          <a:xfrm>
            <a:off x="7584400" y="3371969"/>
            <a:ext cx="6055519"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Create, read, update, and delete inventory data</a:t>
            </a:r>
            <a:endParaRPr dirty="0" sz="1400" lang="en-US"/>
          </a:p>
        </p:txBody>
      </p:sp>
      <p:sp>
        <p:nvSpPr>
          <p:cNvPr id="1048929" name="Shape 10"/>
          <p:cNvSpPr/>
          <p:nvPr/>
        </p:nvSpPr>
        <p:spPr>
          <a:xfrm>
            <a:off x="793790" y="3926086"/>
            <a:ext cx="6448782" cy="1721287"/>
          </a:xfrm>
          <a:prstGeom prst="roundRect">
            <a:avLst>
              <a:gd name="adj" fmla="val 4428"/>
            </a:avLst>
          </a:prstGeom>
          <a:solidFill>
            <a:srgbClr val="FFFFF4"/>
          </a:solidFill>
          <a:ln w="15240">
            <a:solidFill>
              <a:srgbClr val="FFE0CC"/>
            </a:solidFill>
            <a:prstDash val="solid"/>
          </a:ln>
        </p:spPr>
      </p:sp>
      <p:sp>
        <p:nvSpPr>
          <p:cNvPr id="1048930" name="Shape 11"/>
          <p:cNvSpPr/>
          <p:nvPr/>
        </p:nvSpPr>
        <p:spPr>
          <a:xfrm>
            <a:off x="990481" y="4122777"/>
            <a:ext cx="544354" cy="544354"/>
          </a:xfrm>
          <a:prstGeom prst="roundRect">
            <a:avLst>
              <a:gd name="adj" fmla="val 16796213"/>
            </a:avLst>
          </a:prstGeom>
          <a:solidFill>
            <a:srgbClr val="FF954F"/>
          </a:solidFill>
        </p:spPr>
      </p:sp>
      <p:pic>
        <p:nvPicPr>
          <p:cNvPr id="2097208" name="Image 2" descr="preencoded.png"/>
          <p:cNvPicPr>
            <a:picLocks noChangeAspect="1"/>
          </p:cNvPicPr>
          <p:nvPr/>
        </p:nvPicPr>
        <p:blipFill>
          <a:blip xmlns:r="http://schemas.openxmlformats.org/officeDocument/2006/relationships" r:embed="rId1"/>
          <a:stretch>
            <a:fillRect/>
          </a:stretch>
        </p:blipFill>
        <p:spPr>
          <a:xfrm>
            <a:off x="1140143" y="4272439"/>
            <a:ext cx="244912" cy="244912"/>
          </a:xfrm>
          <a:prstGeom prst="rect"/>
        </p:spPr>
      </p:pic>
      <p:sp>
        <p:nvSpPr>
          <p:cNvPr id="1048931" name="Text 12"/>
          <p:cNvSpPr/>
          <p:nvPr/>
        </p:nvSpPr>
        <p:spPr>
          <a:xfrm>
            <a:off x="990481" y="4812268"/>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Real-Time Tracking</a:t>
            </a:r>
            <a:endParaRPr dirty="0" sz="2050" lang="en-US"/>
          </a:p>
        </p:txBody>
      </p:sp>
      <p:sp>
        <p:nvSpPr>
          <p:cNvPr id="1048932" name="Text 13"/>
          <p:cNvSpPr/>
          <p:nvPr/>
        </p:nvSpPr>
        <p:spPr>
          <a:xfrm>
            <a:off x="990481" y="5238393"/>
            <a:ext cx="6055400"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Instant stock updates across all transactions</a:t>
            </a:r>
            <a:endParaRPr dirty="0" sz="1400" lang="en-US"/>
          </a:p>
        </p:txBody>
      </p:sp>
      <p:sp>
        <p:nvSpPr>
          <p:cNvPr id="1048933" name="Shape 14"/>
          <p:cNvSpPr/>
          <p:nvPr/>
        </p:nvSpPr>
        <p:spPr>
          <a:xfrm>
            <a:off x="7387709" y="3926086"/>
            <a:ext cx="6448901" cy="1721287"/>
          </a:xfrm>
          <a:prstGeom prst="roundRect">
            <a:avLst>
              <a:gd name="adj" fmla="val 4428"/>
            </a:avLst>
          </a:prstGeom>
          <a:solidFill>
            <a:srgbClr val="FFFFF4"/>
          </a:solidFill>
          <a:ln w="15240">
            <a:solidFill>
              <a:srgbClr val="FFE0CC"/>
            </a:solidFill>
            <a:prstDash val="solid"/>
          </a:ln>
        </p:spPr>
      </p:sp>
      <p:sp>
        <p:nvSpPr>
          <p:cNvPr id="1048934" name="Shape 15"/>
          <p:cNvSpPr/>
          <p:nvPr/>
        </p:nvSpPr>
        <p:spPr>
          <a:xfrm>
            <a:off x="7584400" y="4122777"/>
            <a:ext cx="544354" cy="544354"/>
          </a:xfrm>
          <a:prstGeom prst="roundRect">
            <a:avLst>
              <a:gd name="adj" fmla="val 16796213"/>
            </a:avLst>
          </a:prstGeom>
          <a:solidFill>
            <a:srgbClr val="FF954F"/>
          </a:solidFill>
        </p:spPr>
      </p:sp>
      <p:pic>
        <p:nvPicPr>
          <p:cNvPr id="2097209" name="Image 3" descr="preencoded.png"/>
          <p:cNvPicPr>
            <a:picLocks noChangeAspect="1"/>
          </p:cNvPicPr>
          <p:nvPr/>
        </p:nvPicPr>
        <p:blipFill>
          <a:blip xmlns:r="http://schemas.openxmlformats.org/officeDocument/2006/relationships" r:embed="rId1"/>
          <a:stretch>
            <a:fillRect/>
          </a:stretch>
        </p:blipFill>
        <p:spPr>
          <a:xfrm>
            <a:off x="7734062" y="4272439"/>
            <a:ext cx="244912" cy="244912"/>
          </a:xfrm>
          <a:prstGeom prst="rect"/>
        </p:spPr>
      </p:pic>
      <p:sp>
        <p:nvSpPr>
          <p:cNvPr id="1048935" name="Text 16"/>
          <p:cNvSpPr/>
          <p:nvPr/>
        </p:nvSpPr>
        <p:spPr>
          <a:xfrm>
            <a:off x="7584400" y="4812268"/>
            <a:ext cx="262116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Secure Authentication</a:t>
            </a:r>
            <a:endParaRPr dirty="0" sz="2050" lang="en-US"/>
          </a:p>
        </p:txBody>
      </p:sp>
      <p:sp>
        <p:nvSpPr>
          <p:cNvPr id="1048936" name="Text 17"/>
          <p:cNvSpPr/>
          <p:nvPr/>
        </p:nvSpPr>
        <p:spPr>
          <a:xfrm>
            <a:off x="7584400" y="5238393"/>
            <a:ext cx="6055519"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Protected access with role-based permissions</a:t>
            </a:r>
            <a:endParaRPr dirty="0" sz="1400" lang="en-US"/>
          </a:p>
        </p:txBody>
      </p:sp>
      <p:sp>
        <p:nvSpPr>
          <p:cNvPr id="1048937" name="Shape 18"/>
          <p:cNvSpPr/>
          <p:nvPr/>
        </p:nvSpPr>
        <p:spPr>
          <a:xfrm>
            <a:off x="793790" y="5792510"/>
            <a:ext cx="6448782" cy="1721287"/>
          </a:xfrm>
          <a:prstGeom prst="roundRect">
            <a:avLst>
              <a:gd name="adj" fmla="val 4428"/>
            </a:avLst>
          </a:prstGeom>
          <a:solidFill>
            <a:srgbClr val="FFFFF4"/>
          </a:solidFill>
          <a:ln w="15240">
            <a:solidFill>
              <a:srgbClr val="FFE0CC"/>
            </a:solidFill>
            <a:prstDash val="solid"/>
          </a:ln>
        </p:spPr>
      </p:sp>
      <p:sp>
        <p:nvSpPr>
          <p:cNvPr id="1048938" name="Shape 19"/>
          <p:cNvSpPr/>
          <p:nvPr/>
        </p:nvSpPr>
        <p:spPr>
          <a:xfrm>
            <a:off x="990481" y="5989201"/>
            <a:ext cx="544354" cy="544354"/>
          </a:xfrm>
          <a:prstGeom prst="roundRect">
            <a:avLst>
              <a:gd name="adj" fmla="val 16796213"/>
            </a:avLst>
          </a:prstGeom>
          <a:solidFill>
            <a:srgbClr val="FF954F"/>
          </a:solidFill>
        </p:spPr>
      </p:sp>
      <p:pic>
        <p:nvPicPr>
          <p:cNvPr id="2097210" name="Image 4" descr="preencoded.png"/>
          <p:cNvPicPr>
            <a:picLocks noChangeAspect="1"/>
          </p:cNvPicPr>
          <p:nvPr/>
        </p:nvPicPr>
        <p:blipFill>
          <a:blip xmlns:r="http://schemas.openxmlformats.org/officeDocument/2006/relationships" r:embed="rId1"/>
          <a:stretch>
            <a:fillRect/>
          </a:stretch>
        </p:blipFill>
        <p:spPr>
          <a:xfrm>
            <a:off x="1140143" y="6138863"/>
            <a:ext cx="244912" cy="244912"/>
          </a:xfrm>
          <a:prstGeom prst="rect"/>
        </p:spPr>
      </p:pic>
      <p:sp>
        <p:nvSpPr>
          <p:cNvPr id="1048939" name="Text 20"/>
          <p:cNvSpPr/>
          <p:nvPr/>
        </p:nvSpPr>
        <p:spPr>
          <a:xfrm>
            <a:off x="990481" y="6678692"/>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Storage Management</a:t>
            </a:r>
            <a:endParaRPr dirty="0" sz="2050" lang="en-US"/>
          </a:p>
        </p:txBody>
      </p:sp>
      <p:sp>
        <p:nvSpPr>
          <p:cNvPr id="1048940" name="Text 21"/>
          <p:cNvSpPr/>
          <p:nvPr/>
        </p:nvSpPr>
        <p:spPr>
          <a:xfrm>
            <a:off x="990481" y="7104817"/>
            <a:ext cx="6055400"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Optimized warehouse organization</a:t>
            </a:r>
            <a:endParaRPr dirty="0" sz="1400" lang="en-US"/>
          </a:p>
        </p:txBody>
      </p:sp>
      <p:sp>
        <p:nvSpPr>
          <p:cNvPr id="1048941" name="Shape 22"/>
          <p:cNvSpPr/>
          <p:nvPr/>
        </p:nvSpPr>
        <p:spPr>
          <a:xfrm>
            <a:off x="7387709" y="5792510"/>
            <a:ext cx="6448901" cy="1721287"/>
          </a:xfrm>
          <a:prstGeom prst="roundRect">
            <a:avLst>
              <a:gd name="adj" fmla="val 4428"/>
            </a:avLst>
          </a:prstGeom>
          <a:solidFill>
            <a:srgbClr val="FFFFF4"/>
          </a:solidFill>
          <a:ln w="15240">
            <a:solidFill>
              <a:srgbClr val="FFE0CC"/>
            </a:solidFill>
            <a:prstDash val="solid"/>
          </a:ln>
        </p:spPr>
      </p:sp>
      <p:sp>
        <p:nvSpPr>
          <p:cNvPr id="1048942" name="Shape 23"/>
          <p:cNvSpPr/>
          <p:nvPr/>
        </p:nvSpPr>
        <p:spPr>
          <a:xfrm>
            <a:off x="7584400" y="5989201"/>
            <a:ext cx="544354" cy="544354"/>
          </a:xfrm>
          <a:prstGeom prst="roundRect">
            <a:avLst>
              <a:gd name="adj" fmla="val 16796213"/>
            </a:avLst>
          </a:prstGeom>
          <a:solidFill>
            <a:srgbClr val="FF954F"/>
          </a:solidFill>
        </p:spPr>
      </p:sp>
      <p:pic>
        <p:nvPicPr>
          <p:cNvPr id="2097211" name="Image 5" descr="preencoded.png"/>
          <p:cNvPicPr>
            <a:picLocks noChangeAspect="1"/>
          </p:cNvPicPr>
          <p:nvPr/>
        </p:nvPicPr>
        <p:blipFill>
          <a:blip xmlns:r="http://schemas.openxmlformats.org/officeDocument/2006/relationships" r:embed="rId1"/>
          <a:stretch>
            <a:fillRect/>
          </a:stretch>
        </p:blipFill>
        <p:spPr>
          <a:xfrm>
            <a:off x="7734062" y="6138863"/>
            <a:ext cx="244912" cy="244912"/>
          </a:xfrm>
          <a:prstGeom prst="rect"/>
        </p:spPr>
      </p:pic>
      <p:sp>
        <p:nvSpPr>
          <p:cNvPr id="1048943" name="Text 24"/>
          <p:cNvSpPr/>
          <p:nvPr/>
        </p:nvSpPr>
        <p:spPr>
          <a:xfrm>
            <a:off x="7584400" y="6678692"/>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Quick Data Access</a:t>
            </a:r>
            <a:endParaRPr dirty="0" sz="2050" lang="en-US"/>
          </a:p>
        </p:txBody>
      </p:sp>
      <p:sp>
        <p:nvSpPr>
          <p:cNvPr id="1048944" name="Text 25"/>
          <p:cNvSpPr/>
          <p:nvPr/>
        </p:nvSpPr>
        <p:spPr>
          <a:xfrm>
            <a:off x="7584400" y="7104817"/>
            <a:ext cx="6055519" cy="212288"/>
          </a:xfrm>
          <a:prstGeom prst="rect"/>
          <a:noFill/>
        </p:spPr>
        <p:txBody>
          <a:bodyPr anchor="t" bIns="0" lIns="0" rIns="0" rtlCol="0" tIns="0" wrap="non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Fast searches and instant updates</a:t>
            </a:r>
            <a:endParaRPr dirty="0" sz="1400" lang="en-US"/>
          </a:p>
        </p:txBody>
      </p:sp>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948" name="Text 0"/>
          <p:cNvSpPr/>
          <p:nvPr/>
        </p:nvSpPr>
        <p:spPr>
          <a:xfrm>
            <a:off x="746760" y="632817"/>
            <a:ext cx="8196262" cy="518279"/>
          </a:xfrm>
          <a:prstGeom prst="rect"/>
          <a:noFill/>
        </p:spPr>
        <p:txBody>
          <a:bodyPr anchor="t" bIns="0" lIns="0" rIns="0" rtlCol="0" tIns="0" wrap="none"/>
          <a:p>
            <a:pPr algn="l" indent="0" marL="0">
              <a:lnSpc>
                <a:spcPts val="4050"/>
              </a:lnSpc>
              <a:buNone/>
            </a:pPr>
            <a:r>
              <a:rPr dirty="0" sz="3100" lang="en-US">
                <a:solidFill>
                  <a:srgbClr val="532418"/>
                </a:solidFill>
                <a:latin typeface="Marcellus" pitchFamily="34" charset="0"/>
                <a:ea typeface="Marcellus" pitchFamily="34" charset="-122"/>
                <a:cs typeface="Marcellus" pitchFamily="34" charset="-120"/>
              </a:rPr>
              <a:t>Why Businesses Choose Our Inventory System</a:t>
            </a:r>
            <a:endParaRPr dirty="0" sz="3100" lang="en-US"/>
          </a:p>
        </p:txBody>
      </p:sp>
      <p:sp>
        <p:nvSpPr>
          <p:cNvPr id="1048949" name="Text 1"/>
          <p:cNvSpPr/>
          <p:nvPr/>
        </p:nvSpPr>
        <p:spPr>
          <a:xfrm>
            <a:off x="746760" y="1320641"/>
            <a:ext cx="13136880"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Modern inventory management software transforms how businesses track stock, process orders, and forecast demand. From small retail shops to large distribution centers, automated systems deliver measurable improvements in accuracy, speed, and decision-making.</a:t>
            </a:r>
            <a:endParaRPr dirty="0" sz="1050" lang="en-US"/>
          </a:p>
        </p:txBody>
      </p:sp>
      <p:sp>
        <p:nvSpPr>
          <p:cNvPr id="1048950" name="Shape 2"/>
          <p:cNvSpPr/>
          <p:nvPr/>
        </p:nvSpPr>
        <p:spPr>
          <a:xfrm>
            <a:off x="746760" y="1706523"/>
            <a:ext cx="6526054" cy="1408986"/>
          </a:xfrm>
          <a:prstGeom prst="roundRect">
            <a:avLst>
              <a:gd name="adj" fmla="val 4135"/>
            </a:avLst>
          </a:prstGeom>
          <a:solidFill>
            <a:srgbClr val="FFFFF4"/>
          </a:solidFill>
          <a:ln w="15240">
            <a:solidFill>
              <a:srgbClr val="FFE0CC"/>
            </a:solidFill>
            <a:prstDash val="solid"/>
          </a:ln>
        </p:spPr>
      </p:sp>
      <p:sp>
        <p:nvSpPr>
          <p:cNvPr id="1048951" name="Shape 3"/>
          <p:cNvSpPr/>
          <p:nvPr/>
        </p:nvSpPr>
        <p:spPr>
          <a:xfrm>
            <a:off x="900589" y="1860352"/>
            <a:ext cx="416004" cy="416004"/>
          </a:xfrm>
          <a:prstGeom prst="roundRect">
            <a:avLst>
              <a:gd name="adj" fmla="val 21978360"/>
            </a:avLst>
          </a:prstGeom>
          <a:solidFill>
            <a:srgbClr val="FF954F"/>
          </a:solidFill>
        </p:spPr>
      </p:sp>
      <p:pic>
        <p:nvPicPr>
          <p:cNvPr id="2097212" name="Image 0" descr="preencoded.png"/>
          <p:cNvPicPr>
            <a:picLocks noChangeAspect="1"/>
          </p:cNvPicPr>
          <p:nvPr/>
        </p:nvPicPr>
        <p:blipFill>
          <a:blip xmlns:r="http://schemas.openxmlformats.org/officeDocument/2006/relationships" r:embed="rId1"/>
          <a:stretch>
            <a:fillRect/>
          </a:stretch>
        </p:blipFill>
        <p:spPr>
          <a:xfrm>
            <a:off x="1015008" y="1974771"/>
            <a:ext cx="187166" cy="187166"/>
          </a:xfrm>
          <a:prstGeom prst="rect"/>
        </p:spPr>
      </p:pic>
      <p:sp>
        <p:nvSpPr>
          <p:cNvPr id="1048952" name="Text 4"/>
          <p:cNvSpPr/>
          <p:nvPr/>
        </p:nvSpPr>
        <p:spPr>
          <a:xfrm>
            <a:off x="900589" y="2361128"/>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Time Savings</a:t>
            </a:r>
            <a:endParaRPr dirty="0" sz="1550" lang="en-US"/>
          </a:p>
        </p:txBody>
      </p:sp>
      <p:sp>
        <p:nvSpPr>
          <p:cNvPr id="1048953" name="Text 5"/>
          <p:cNvSpPr/>
          <p:nvPr/>
        </p:nvSpPr>
        <p:spPr>
          <a:xfrm>
            <a:off x="900589" y="2671167"/>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Automated tracking and data entry eliminate manual processes, freeing staff for higher-value work.</a:t>
            </a:r>
            <a:endParaRPr dirty="0" sz="1050" lang="en-US"/>
          </a:p>
        </p:txBody>
      </p:sp>
      <p:sp>
        <p:nvSpPr>
          <p:cNvPr id="1048954" name="Shape 6"/>
          <p:cNvSpPr/>
          <p:nvPr/>
        </p:nvSpPr>
        <p:spPr>
          <a:xfrm>
            <a:off x="7357586" y="1706523"/>
            <a:ext cx="6526054" cy="1408986"/>
          </a:xfrm>
          <a:prstGeom prst="roundRect">
            <a:avLst>
              <a:gd name="adj" fmla="val 4135"/>
            </a:avLst>
          </a:prstGeom>
          <a:solidFill>
            <a:srgbClr val="FFFFF4"/>
          </a:solidFill>
          <a:ln w="15240">
            <a:solidFill>
              <a:srgbClr val="FFE0CC"/>
            </a:solidFill>
            <a:prstDash val="solid"/>
          </a:ln>
        </p:spPr>
      </p:sp>
      <p:sp>
        <p:nvSpPr>
          <p:cNvPr id="1048955" name="Shape 7"/>
          <p:cNvSpPr/>
          <p:nvPr/>
        </p:nvSpPr>
        <p:spPr>
          <a:xfrm>
            <a:off x="7511415" y="1860352"/>
            <a:ext cx="416004" cy="416004"/>
          </a:xfrm>
          <a:prstGeom prst="roundRect">
            <a:avLst>
              <a:gd name="adj" fmla="val 21978360"/>
            </a:avLst>
          </a:prstGeom>
          <a:solidFill>
            <a:srgbClr val="FF954F"/>
          </a:solidFill>
        </p:spPr>
      </p:sp>
      <p:pic>
        <p:nvPicPr>
          <p:cNvPr id="2097213" name="Image 1" descr="preencoded.png"/>
          <p:cNvPicPr>
            <a:picLocks noChangeAspect="1"/>
          </p:cNvPicPr>
          <p:nvPr/>
        </p:nvPicPr>
        <p:blipFill>
          <a:blip xmlns:r="http://schemas.openxmlformats.org/officeDocument/2006/relationships" r:embed="rId1"/>
          <a:stretch>
            <a:fillRect/>
          </a:stretch>
        </p:blipFill>
        <p:spPr>
          <a:xfrm>
            <a:off x="7625834" y="1974771"/>
            <a:ext cx="187166" cy="187166"/>
          </a:xfrm>
          <a:prstGeom prst="rect"/>
        </p:spPr>
      </p:pic>
      <p:sp>
        <p:nvSpPr>
          <p:cNvPr id="1048956" name="Text 8"/>
          <p:cNvSpPr/>
          <p:nvPr/>
        </p:nvSpPr>
        <p:spPr>
          <a:xfrm>
            <a:off x="7511415" y="2361128"/>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Accuracy</a:t>
            </a:r>
            <a:endParaRPr dirty="0" sz="1550" lang="en-US"/>
          </a:p>
        </p:txBody>
      </p:sp>
      <p:sp>
        <p:nvSpPr>
          <p:cNvPr id="1048957" name="Text 9"/>
          <p:cNvSpPr/>
          <p:nvPr/>
        </p:nvSpPr>
        <p:spPr>
          <a:xfrm>
            <a:off x="7511415" y="2671167"/>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Barcode scanning and digital records reduce human errors in inventory counts and order processing.</a:t>
            </a:r>
            <a:endParaRPr dirty="0" sz="1050" lang="en-US"/>
          </a:p>
        </p:txBody>
      </p:sp>
      <p:sp>
        <p:nvSpPr>
          <p:cNvPr id="1048958" name="Shape 10"/>
          <p:cNvSpPr/>
          <p:nvPr/>
        </p:nvSpPr>
        <p:spPr>
          <a:xfrm>
            <a:off x="746760" y="3200281"/>
            <a:ext cx="6526054" cy="1408986"/>
          </a:xfrm>
          <a:prstGeom prst="roundRect">
            <a:avLst>
              <a:gd name="adj" fmla="val 4135"/>
            </a:avLst>
          </a:prstGeom>
          <a:solidFill>
            <a:srgbClr val="FFFFF4"/>
          </a:solidFill>
          <a:ln w="15240">
            <a:solidFill>
              <a:srgbClr val="FFE0CC"/>
            </a:solidFill>
            <a:prstDash val="solid"/>
          </a:ln>
        </p:spPr>
      </p:sp>
      <p:sp>
        <p:nvSpPr>
          <p:cNvPr id="1048959" name="Shape 11"/>
          <p:cNvSpPr/>
          <p:nvPr/>
        </p:nvSpPr>
        <p:spPr>
          <a:xfrm>
            <a:off x="900589" y="3354110"/>
            <a:ext cx="416004" cy="416004"/>
          </a:xfrm>
          <a:prstGeom prst="roundRect">
            <a:avLst>
              <a:gd name="adj" fmla="val 21978360"/>
            </a:avLst>
          </a:prstGeom>
          <a:solidFill>
            <a:srgbClr val="FF954F"/>
          </a:solidFill>
        </p:spPr>
      </p:sp>
      <p:pic>
        <p:nvPicPr>
          <p:cNvPr id="2097214" name="Image 2" descr="preencoded.png"/>
          <p:cNvPicPr>
            <a:picLocks noChangeAspect="1"/>
          </p:cNvPicPr>
          <p:nvPr/>
        </p:nvPicPr>
        <p:blipFill>
          <a:blip xmlns:r="http://schemas.openxmlformats.org/officeDocument/2006/relationships" r:embed="rId1"/>
          <a:stretch>
            <a:fillRect/>
          </a:stretch>
        </p:blipFill>
        <p:spPr>
          <a:xfrm>
            <a:off x="1015008" y="3468529"/>
            <a:ext cx="187166" cy="187166"/>
          </a:xfrm>
          <a:prstGeom prst="rect"/>
        </p:spPr>
      </p:pic>
      <p:sp>
        <p:nvSpPr>
          <p:cNvPr id="1048960" name="Text 12"/>
          <p:cNvSpPr/>
          <p:nvPr/>
        </p:nvSpPr>
        <p:spPr>
          <a:xfrm>
            <a:off x="900589" y="3854887"/>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Real-Time Insights</a:t>
            </a:r>
            <a:endParaRPr dirty="0" sz="1550" lang="en-US"/>
          </a:p>
        </p:txBody>
      </p:sp>
      <p:sp>
        <p:nvSpPr>
          <p:cNvPr id="1048961" name="Text 13"/>
          <p:cNvSpPr/>
          <p:nvPr/>
        </p:nvSpPr>
        <p:spPr>
          <a:xfrm>
            <a:off x="900589" y="4164925"/>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Live dashboards and reports provide instant visibility into stock levels, sales trends, and reorder points.</a:t>
            </a:r>
            <a:endParaRPr dirty="0" sz="1050" lang="en-US"/>
          </a:p>
        </p:txBody>
      </p:sp>
      <p:sp>
        <p:nvSpPr>
          <p:cNvPr id="1048962" name="Shape 14"/>
          <p:cNvSpPr/>
          <p:nvPr/>
        </p:nvSpPr>
        <p:spPr>
          <a:xfrm>
            <a:off x="7357586" y="3200281"/>
            <a:ext cx="6526054" cy="1408986"/>
          </a:xfrm>
          <a:prstGeom prst="roundRect">
            <a:avLst>
              <a:gd name="adj" fmla="val 4135"/>
            </a:avLst>
          </a:prstGeom>
          <a:solidFill>
            <a:srgbClr val="FFFFF4"/>
          </a:solidFill>
          <a:ln w="15240">
            <a:solidFill>
              <a:srgbClr val="FFE0CC"/>
            </a:solidFill>
            <a:prstDash val="solid"/>
          </a:ln>
        </p:spPr>
      </p:sp>
      <p:sp>
        <p:nvSpPr>
          <p:cNvPr id="1048963" name="Shape 15"/>
          <p:cNvSpPr/>
          <p:nvPr/>
        </p:nvSpPr>
        <p:spPr>
          <a:xfrm>
            <a:off x="7511415" y="3354110"/>
            <a:ext cx="416004" cy="416004"/>
          </a:xfrm>
          <a:prstGeom prst="roundRect">
            <a:avLst>
              <a:gd name="adj" fmla="val 21978360"/>
            </a:avLst>
          </a:prstGeom>
          <a:solidFill>
            <a:srgbClr val="FF954F"/>
          </a:solidFill>
        </p:spPr>
      </p:sp>
      <p:pic>
        <p:nvPicPr>
          <p:cNvPr id="2097215" name="Image 3" descr="preencoded.png"/>
          <p:cNvPicPr>
            <a:picLocks noChangeAspect="1"/>
          </p:cNvPicPr>
          <p:nvPr/>
        </p:nvPicPr>
        <p:blipFill>
          <a:blip xmlns:r="http://schemas.openxmlformats.org/officeDocument/2006/relationships" r:embed="rId1"/>
          <a:stretch>
            <a:fillRect/>
          </a:stretch>
        </p:blipFill>
        <p:spPr>
          <a:xfrm>
            <a:off x="7625834" y="3468529"/>
            <a:ext cx="187166" cy="187166"/>
          </a:xfrm>
          <a:prstGeom prst="rect"/>
        </p:spPr>
      </p:pic>
      <p:sp>
        <p:nvSpPr>
          <p:cNvPr id="1048964" name="Text 16"/>
          <p:cNvSpPr/>
          <p:nvPr/>
        </p:nvSpPr>
        <p:spPr>
          <a:xfrm>
            <a:off x="7511415" y="3854887"/>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Stock Control</a:t>
            </a:r>
            <a:endParaRPr dirty="0" sz="1550" lang="en-US"/>
          </a:p>
        </p:txBody>
      </p:sp>
      <p:sp>
        <p:nvSpPr>
          <p:cNvPr id="1048965" name="Text 17"/>
          <p:cNvSpPr/>
          <p:nvPr/>
        </p:nvSpPr>
        <p:spPr>
          <a:xfrm>
            <a:off x="7511415" y="4164925"/>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Smart alerts prevent overstock situations and stockouts, optimizing working capital and customer satisfaction.</a:t>
            </a:r>
            <a:endParaRPr dirty="0" sz="1050" lang="en-US"/>
          </a:p>
        </p:txBody>
      </p:sp>
      <p:sp>
        <p:nvSpPr>
          <p:cNvPr id="1048966" name="Shape 18"/>
          <p:cNvSpPr/>
          <p:nvPr/>
        </p:nvSpPr>
        <p:spPr>
          <a:xfrm>
            <a:off x="746760" y="4694039"/>
            <a:ext cx="6526054" cy="1408986"/>
          </a:xfrm>
          <a:prstGeom prst="roundRect">
            <a:avLst>
              <a:gd name="adj" fmla="val 4135"/>
            </a:avLst>
          </a:prstGeom>
          <a:solidFill>
            <a:srgbClr val="FFFFF4"/>
          </a:solidFill>
          <a:ln w="15240">
            <a:solidFill>
              <a:srgbClr val="FFE0CC"/>
            </a:solidFill>
            <a:prstDash val="solid"/>
          </a:ln>
        </p:spPr>
      </p:sp>
      <p:sp>
        <p:nvSpPr>
          <p:cNvPr id="1048967" name="Shape 19"/>
          <p:cNvSpPr/>
          <p:nvPr/>
        </p:nvSpPr>
        <p:spPr>
          <a:xfrm>
            <a:off x="900589" y="4847868"/>
            <a:ext cx="416004" cy="416004"/>
          </a:xfrm>
          <a:prstGeom prst="roundRect">
            <a:avLst>
              <a:gd name="adj" fmla="val 21978360"/>
            </a:avLst>
          </a:prstGeom>
          <a:solidFill>
            <a:srgbClr val="FF954F"/>
          </a:solidFill>
        </p:spPr>
      </p:sp>
      <p:pic>
        <p:nvPicPr>
          <p:cNvPr id="2097216" name="Image 4" descr="preencoded.png"/>
          <p:cNvPicPr>
            <a:picLocks noChangeAspect="1"/>
          </p:cNvPicPr>
          <p:nvPr/>
        </p:nvPicPr>
        <p:blipFill>
          <a:blip xmlns:r="http://schemas.openxmlformats.org/officeDocument/2006/relationships" r:embed="rId1"/>
          <a:stretch>
            <a:fillRect/>
          </a:stretch>
        </p:blipFill>
        <p:spPr>
          <a:xfrm>
            <a:off x="1015008" y="4962287"/>
            <a:ext cx="187166" cy="187166"/>
          </a:xfrm>
          <a:prstGeom prst="rect"/>
        </p:spPr>
      </p:pic>
      <p:sp>
        <p:nvSpPr>
          <p:cNvPr id="1048968" name="Text 20"/>
          <p:cNvSpPr/>
          <p:nvPr/>
        </p:nvSpPr>
        <p:spPr>
          <a:xfrm>
            <a:off x="900589" y="5348645"/>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Automated Reports</a:t>
            </a:r>
            <a:endParaRPr dirty="0" sz="1550" lang="en-US"/>
          </a:p>
        </p:txBody>
      </p:sp>
      <p:sp>
        <p:nvSpPr>
          <p:cNvPr id="1048969" name="Text 21"/>
          <p:cNvSpPr/>
          <p:nvPr/>
        </p:nvSpPr>
        <p:spPr>
          <a:xfrm>
            <a:off x="900589" y="5658683"/>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Schedule daily, weekly, or monthly reports delivered as CSV or PDF files—no manual data extraction needed.</a:t>
            </a:r>
            <a:endParaRPr dirty="0" sz="1050" lang="en-US"/>
          </a:p>
        </p:txBody>
      </p:sp>
      <p:sp>
        <p:nvSpPr>
          <p:cNvPr id="1048970" name="Shape 22"/>
          <p:cNvSpPr/>
          <p:nvPr/>
        </p:nvSpPr>
        <p:spPr>
          <a:xfrm>
            <a:off x="7357586" y="4694039"/>
            <a:ext cx="6526054" cy="1408986"/>
          </a:xfrm>
          <a:prstGeom prst="roundRect">
            <a:avLst>
              <a:gd name="adj" fmla="val 4135"/>
            </a:avLst>
          </a:prstGeom>
          <a:solidFill>
            <a:srgbClr val="FFFFF4"/>
          </a:solidFill>
          <a:ln w="15240">
            <a:solidFill>
              <a:srgbClr val="FFE0CC"/>
            </a:solidFill>
            <a:prstDash val="solid"/>
          </a:ln>
        </p:spPr>
      </p:sp>
      <p:sp>
        <p:nvSpPr>
          <p:cNvPr id="1048971" name="Shape 23"/>
          <p:cNvSpPr/>
          <p:nvPr/>
        </p:nvSpPr>
        <p:spPr>
          <a:xfrm>
            <a:off x="7511415" y="4847868"/>
            <a:ext cx="416004" cy="416004"/>
          </a:xfrm>
          <a:prstGeom prst="roundRect">
            <a:avLst>
              <a:gd name="adj" fmla="val 21978360"/>
            </a:avLst>
          </a:prstGeom>
          <a:solidFill>
            <a:srgbClr val="FF954F"/>
          </a:solidFill>
        </p:spPr>
      </p:sp>
      <p:pic>
        <p:nvPicPr>
          <p:cNvPr id="2097217" name="Image 5" descr="preencoded.png"/>
          <p:cNvPicPr>
            <a:picLocks noChangeAspect="1"/>
          </p:cNvPicPr>
          <p:nvPr/>
        </p:nvPicPr>
        <p:blipFill>
          <a:blip xmlns:r="http://schemas.openxmlformats.org/officeDocument/2006/relationships" r:embed="rId1"/>
          <a:stretch>
            <a:fillRect/>
          </a:stretch>
        </p:blipFill>
        <p:spPr>
          <a:xfrm>
            <a:off x="7625834" y="4962287"/>
            <a:ext cx="187166" cy="187166"/>
          </a:xfrm>
          <a:prstGeom prst="rect"/>
        </p:spPr>
      </p:pic>
      <p:sp>
        <p:nvSpPr>
          <p:cNvPr id="1048972" name="Text 24"/>
          <p:cNvSpPr/>
          <p:nvPr/>
        </p:nvSpPr>
        <p:spPr>
          <a:xfrm>
            <a:off x="7511415" y="5348645"/>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Security</a:t>
            </a:r>
            <a:endParaRPr dirty="0" sz="1550" lang="en-US"/>
          </a:p>
        </p:txBody>
      </p:sp>
      <p:sp>
        <p:nvSpPr>
          <p:cNvPr id="1048973" name="Text 25"/>
          <p:cNvSpPr/>
          <p:nvPr/>
        </p:nvSpPr>
        <p:spPr>
          <a:xfrm>
            <a:off x="7511415" y="5658683"/>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Role-based access control and user authentication protect sensitive inventory data from unauthorized changes.</a:t>
            </a:r>
            <a:endParaRPr dirty="0" sz="1050" lang="en-US"/>
          </a:p>
        </p:txBody>
      </p:sp>
      <p:sp>
        <p:nvSpPr>
          <p:cNvPr id="1048974" name="Shape 26"/>
          <p:cNvSpPr/>
          <p:nvPr/>
        </p:nvSpPr>
        <p:spPr>
          <a:xfrm>
            <a:off x="746760" y="6187797"/>
            <a:ext cx="6526054" cy="1408986"/>
          </a:xfrm>
          <a:prstGeom prst="roundRect">
            <a:avLst>
              <a:gd name="adj" fmla="val 4135"/>
            </a:avLst>
          </a:prstGeom>
          <a:solidFill>
            <a:srgbClr val="FFFFF4"/>
          </a:solidFill>
          <a:ln w="15240">
            <a:solidFill>
              <a:srgbClr val="FFE0CC"/>
            </a:solidFill>
            <a:prstDash val="solid"/>
          </a:ln>
        </p:spPr>
      </p:sp>
      <p:sp>
        <p:nvSpPr>
          <p:cNvPr id="1048975" name="Shape 27"/>
          <p:cNvSpPr/>
          <p:nvPr/>
        </p:nvSpPr>
        <p:spPr>
          <a:xfrm>
            <a:off x="900589" y="6341626"/>
            <a:ext cx="416004" cy="416004"/>
          </a:xfrm>
          <a:prstGeom prst="roundRect">
            <a:avLst>
              <a:gd name="adj" fmla="val 21978360"/>
            </a:avLst>
          </a:prstGeom>
          <a:solidFill>
            <a:srgbClr val="FF954F"/>
          </a:solidFill>
        </p:spPr>
      </p:sp>
      <p:pic>
        <p:nvPicPr>
          <p:cNvPr id="2097218" name="Image 6" descr="preencoded.png"/>
          <p:cNvPicPr>
            <a:picLocks noChangeAspect="1"/>
          </p:cNvPicPr>
          <p:nvPr/>
        </p:nvPicPr>
        <p:blipFill>
          <a:blip xmlns:r="http://schemas.openxmlformats.org/officeDocument/2006/relationships" r:embed="rId1"/>
          <a:stretch>
            <a:fillRect/>
          </a:stretch>
        </p:blipFill>
        <p:spPr>
          <a:xfrm>
            <a:off x="1015008" y="6456045"/>
            <a:ext cx="187166" cy="187166"/>
          </a:xfrm>
          <a:prstGeom prst="rect"/>
        </p:spPr>
      </p:pic>
      <p:sp>
        <p:nvSpPr>
          <p:cNvPr id="1048976" name="Text 28"/>
          <p:cNvSpPr/>
          <p:nvPr/>
        </p:nvSpPr>
        <p:spPr>
          <a:xfrm>
            <a:off x="900589" y="6842403"/>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Scalability</a:t>
            </a:r>
            <a:endParaRPr dirty="0" sz="1550" lang="en-US"/>
          </a:p>
        </p:txBody>
      </p:sp>
      <p:sp>
        <p:nvSpPr>
          <p:cNvPr id="1048977" name="Text 29"/>
          <p:cNvSpPr/>
          <p:nvPr/>
        </p:nvSpPr>
        <p:spPr>
          <a:xfrm>
            <a:off x="900589" y="7152442"/>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Cloud-based architecture grows with your business, supporting additional locations, users, and integrations.</a:t>
            </a:r>
            <a:endParaRPr dirty="0" sz="1050" lang="en-US"/>
          </a:p>
        </p:txBody>
      </p:sp>
      <p:sp>
        <p:nvSpPr>
          <p:cNvPr id="1048978" name="Shape 30"/>
          <p:cNvSpPr/>
          <p:nvPr/>
        </p:nvSpPr>
        <p:spPr>
          <a:xfrm>
            <a:off x="7357586" y="6187797"/>
            <a:ext cx="6526054" cy="1408986"/>
          </a:xfrm>
          <a:prstGeom prst="roundRect">
            <a:avLst>
              <a:gd name="adj" fmla="val 4135"/>
            </a:avLst>
          </a:prstGeom>
          <a:solidFill>
            <a:srgbClr val="FFFFF4"/>
          </a:solidFill>
          <a:ln w="15240">
            <a:solidFill>
              <a:srgbClr val="FFE0CC"/>
            </a:solidFill>
            <a:prstDash val="solid"/>
          </a:ln>
        </p:spPr>
      </p:sp>
      <p:sp>
        <p:nvSpPr>
          <p:cNvPr id="1048979" name="Shape 31"/>
          <p:cNvSpPr/>
          <p:nvPr/>
        </p:nvSpPr>
        <p:spPr>
          <a:xfrm>
            <a:off x="7511415" y="6341626"/>
            <a:ext cx="416004" cy="416004"/>
          </a:xfrm>
          <a:prstGeom prst="roundRect">
            <a:avLst>
              <a:gd name="adj" fmla="val 21978360"/>
            </a:avLst>
          </a:prstGeom>
          <a:solidFill>
            <a:srgbClr val="FF954F"/>
          </a:solidFill>
        </p:spPr>
      </p:sp>
      <p:pic>
        <p:nvPicPr>
          <p:cNvPr id="2097219" name="Image 7" descr="preencoded.png"/>
          <p:cNvPicPr>
            <a:picLocks noChangeAspect="1"/>
          </p:cNvPicPr>
          <p:nvPr/>
        </p:nvPicPr>
        <p:blipFill>
          <a:blip xmlns:r="http://schemas.openxmlformats.org/officeDocument/2006/relationships" r:embed="rId1"/>
          <a:stretch>
            <a:fillRect/>
          </a:stretch>
        </p:blipFill>
        <p:spPr>
          <a:xfrm>
            <a:off x="7625834" y="6456045"/>
            <a:ext cx="187166" cy="187166"/>
          </a:xfrm>
          <a:prstGeom prst="rect"/>
        </p:spPr>
      </p:pic>
      <p:sp>
        <p:nvSpPr>
          <p:cNvPr id="1048980" name="Text 32"/>
          <p:cNvSpPr/>
          <p:nvPr/>
        </p:nvSpPr>
        <p:spPr>
          <a:xfrm>
            <a:off x="7511415" y="6842403"/>
            <a:ext cx="1993821" cy="259199"/>
          </a:xfrm>
          <a:prstGeom prst="rect"/>
          <a:noFill/>
        </p:spPr>
        <p:txBody>
          <a:bodyPr anchor="t" bIns="0" lIns="0" rIns="0" rtlCol="0" tIns="0" wrap="none"/>
          <a:p>
            <a:pPr algn="l" indent="0" marL="0">
              <a:lnSpc>
                <a:spcPts val="2000"/>
              </a:lnSpc>
              <a:buNone/>
            </a:pPr>
            <a:r>
              <a:rPr dirty="0" sz="1550" lang="en-US">
                <a:solidFill>
                  <a:srgbClr val="67534F"/>
                </a:solidFill>
                <a:latin typeface="Marcellus" pitchFamily="34" charset="0"/>
                <a:ea typeface="Marcellus" pitchFamily="34" charset="-122"/>
                <a:cs typeface="Marcellus" pitchFamily="34" charset="-120"/>
              </a:rPr>
              <a:t>Integration</a:t>
            </a:r>
            <a:endParaRPr dirty="0" sz="1550" lang="en-US"/>
          </a:p>
        </p:txBody>
      </p:sp>
      <p:sp>
        <p:nvSpPr>
          <p:cNvPr id="1048981" name="Text 33"/>
          <p:cNvSpPr/>
          <p:nvPr/>
        </p:nvSpPr>
        <p:spPr>
          <a:xfrm>
            <a:off x="7511415" y="7152442"/>
            <a:ext cx="6218396" cy="290513"/>
          </a:xfrm>
          <a:prstGeom prst="rect"/>
          <a:noFill/>
        </p:spPr>
        <p:txBody>
          <a:bodyPr anchor="t" bIns="0" lIns="0" rIns="0" rtlCol="0" tIns="0" wrap="square"/>
          <a:p>
            <a:pPr algn="l" indent="0" marL="0">
              <a:lnSpc>
                <a:spcPts val="1100"/>
              </a:lnSpc>
              <a:buNone/>
            </a:pPr>
            <a:r>
              <a:rPr dirty="0" sz="1050" lang="en-US">
                <a:solidFill>
                  <a:srgbClr val="67534F"/>
                </a:solidFill>
                <a:latin typeface="Montserrat" pitchFamily="34" charset="0"/>
                <a:ea typeface="Montserrat" pitchFamily="34" charset="-122"/>
                <a:cs typeface="Montserrat" pitchFamily="34" charset="-120"/>
              </a:rPr>
              <a:t>API connections to POS systems, e-commerce platforms, accounting software, and shipping carriers.</a:t>
            </a:r>
            <a:endParaRPr dirty="0" sz="105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985" name="Text 0"/>
          <p:cNvSpPr/>
          <p:nvPr/>
        </p:nvSpPr>
        <p:spPr>
          <a:xfrm>
            <a:off x="769382" y="604599"/>
            <a:ext cx="6815971" cy="534114"/>
          </a:xfrm>
          <a:prstGeom prst="rect"/>
          <a:noFill/>
        </p:spPr>
        <p:txBody>
          <a:bodyPr anchor="t" bIns="0" lIns="0" rIns="0" rtlCol="0" tIns="0" wrap="none"/>
          <a:p>
            <a:pPr algn="l" indent="0" marL="0">
              <a:lnSpc>
                <a:spcPts val="4200"/>
              </a:lnSpc>
              <a:buNone/>
            </a:pPr>
            <a:r>
              <a:rPr dirty="0" sz="3200" lang="en-US">
                <a:solidFill>
                  <a:srgbClr val="532418"/>
                </a:solidFill>
                <a:latin typeface="Marcellus" pitchFamily="34" charset="0"/>
                <a:ea typeface="Marcellus" pitchFamily="34" charset="-122"/>
                <a:cs typeface="Marcellus" pitchFamily="34" charset="-120"/>
              </a:rPr>
              <a:t>Development Challenges &amp; Solutions</a:t>
            </a:r>
            <a:endParaRPr dirty="0" sz="3200" lang="en-US"/>
          </a:p>
        </p:txBody>
      </p:sp>
      <p:pic>
        <p:nvPicPr>
          <p:cNvPr id="2097220" name="Image 0" descr="preencoded.png"/>
          <p:cNvPicPr>
            <a:picLocks noChangeAspect="1"/>
          </p:cNvPicPr>
          <p:nvPr/>
        </p:nvPicPr>
        <p:blipFill>
          <a:blip xmlns:r="http://schemas.openxmlformats.org/officeDocument/2006/relationships" r:embed="rId1"/>
          <a:stretch>
            <a:fillRect/>
          </a:stretch>
        </p:blipFill>
        <p:spPr>
          <a:xfrm>
            <a:off x="2237184" y="1374934"/>
            <a:ext cx="5451753" cy="3042761"/>
          </a:xfrm>
          <a:prstGeom prst="rect"/>
        </p:spPr>
      </p:pic>
      <p:sp>
        <p:nvSpPr>
          <p:cNvPr id="1048986" name="Text 1"/>
          <p:cNvSpPr/>
          <p:nvPr/>
        </p:nvSpPr>
        <p:spPr>
          <a:xfrm>
            <a:off x="9513094" y="2593658"/>
            <a:ext cx="4355425" cy="605314"/>
          </a:xfrm>
          <a:prstGeom prst="rect"/>
          <a:noFill/>
        </p:spPr>
        <p:txBody>
          <a:bodyPr anchor="t" bIns="0" lIns="0" rIns="0" rtlCol="0" tIns="0" wrap="square"/>
          <a:p>
            <a:pPr algn="l" indent="0" marL="0">
              <a:lnSpc>
                <a:spcPts val="1150"/>
              </a:lnSpc>
              <a:buNone/>
            </a:pPr>
            <a:r>
              <a:rPr dirty="0" sz="1100" lang="en-US">
                <a:solidFill>
                  <a:srgbClr val="67534F"/>
                </a:solidFill>
                <a:latin typeface="Montserrat" pitchFamily="34" charset="0"/>
                <a:ea typeface="Montserrat" pitchFamily="34" charset="-122"/>
                <a:cs typeface="Montserrat" pitchFamily="34" charset="-120"/>
              </a:rPr>
              <a:t>Building an integrated inventory system requires addressing several technical complexities. Our development approach systematically tackles each challenge to ensure a stable, scalable foundation.</a:t>
            </a:r>
            <a:endParaRPr dirty="0" sz="1100" lang="en-US"/>
          </a:p>
        </p:txBody>
      </p:sp>
      <p:sp>
        <p:nvSpPr>
          <p:cNvPr id="1048987" name="Shape 2"/>
          <p:cNvSpPr/>
          <p:nvPr/>
        </p:nvSpPr>
        <p:spPr>
          <a:xfrm>
            <a:off x="769382" y="4620101"/>
            <a:ext cx="6500813" cy="1458397"/>
          </a:xfrm>
          <a:prstGeom prst="roundRect">
            <a:avLst>
              <a:gd name="adj" fmla="val 4116"/>
            </a:avLst>
          </a:prstGeom>
          <a:solidFill>
            <a:srgbClr val="FFFFF4"/>
          </a:solidFill>
          <a:ln w="15240">
            <a:solidFill>
              <a:srgbClr val="FFE0CC"/>
            </a:solidFill>
            <a:prstDash val="solid"/>
          </a:ln>
        </p:spPr>
      </p:sp>
      <p:sp>
        <p:nvSpPr>
          <p:cNvPr id="1048988" name="Shape 3"/>
          <p:cNvSpPr/>
          <p:nvPr/>
        </p:nvSpPr>
        <p:spPr>
          <a:xfrm>
            <a:off x="927497" y="4778216"/>
            <a:ext cx="428625" cy="428625"/>
          </a:xfrm>
          <a:prstGeom prst="roundRect">
            <a:avLst>
              <a:gd name="adj" fmla="val 21331200"/>
            </a:avLst>
          </a:prstGeom>
          <a:solidFill>
            <a:srgbClr val="FF954F"/>
          </a:solidFill>
        </p:spPr>
      </p:sp>
      <p:pic>
        <p:nvPicPr>
          <p:cNvPr id="2097221" name="Image 1" descr="preencoded.png"/>
          <p:cNvPicPr>
            <a:picLocks noChangeAspect="1"/>
          </p:cNvPicPr>
          <p:nvPr/>
        </p:nvPicPr>
        <p:blipFill>
          <a:blip xmlns:r="http://schemas.openxmlformats.org/officeDocument/2006/relationships" r:embed="rId2"/>
          <a:stretch>
            <a:fillRect/>
          </a:stretch>
        </p:blipFill>
        <p:spPr>
          <a:xfrm>
            <a:off x="1045369" y="4896088"/>
            <a:ext cx="192881" cy="192881"/>
          </a:xfrm>
          <a:prstGeom prst="rect"/>
        </p:spPr>
      </p:pic>
      <p:sp>
        <p:nvSpPr>
          <p:cNvPr id="1048989" name="Text 4"/>
          <p:cNvSpPr/>
          <p:nvPr/>
        </p:nvSpPr>
        <p:spPr>
          <a:xfrm>
            <a:off x="927497" y="5296853"/>
            <a:ext cx="2054185" cy="266938"/>
          </a:xfrm>
          <a:prstGeom prst="rect"/>
          <a:noFill/>
        </p:spPr>
        <p:txBody>
          <a:bodyPr anchor="t" bIns="0" lIns="0" rIns="0" rtlCol="0" tIns="0" wrap="none"/>
          <a:p>
            <a:pPr algn="l" indent="0" marL="0">
              <a:lnSpc>
                <a:spcPts val="2100"/>
              </a:lnSpc>
              <a:buNone/>
            </a:pPr>
            <a:r>
              <a:rPr dirty="0" sz="1600" lang="en-US">
                <a:solidFill>
                  <a:srgbClr val="67534F"/>
                </a:solidFill>
                <a:latin typeface="Marcellus" pitchFamily="34" charset="0"/>
                <a:ea typeface="Marcellus" pitchFamily="34" charset="-122"/>
                <a:cs typeface="Marcellus" pitchFamily="34" charset="-120"/>
              </a:rPr>
              <a:t>System Integration</a:t>
            </a:r>
            <a:endParaRPr dirty="0" sz="1600" lang="en-US"/>
          </a:p>
        </p:txBody>
      </p:sp>
      <p:sp>
        <p:nvSpPr>
          <p:cNvPr id="1048990" name="Text 5"/>
          <p:cNvSpPr/>
          <p:nvPr/>
        </p:nvSpPr>
        <p:spPr>
          <a:xfrm>
            <a:off x="927497" y="5617726"/>
            <a:ext cx="6184582" cy="302657"/>
          </a:xfrm>
          <a:prstGeom prst="rect"/>
          <a:noFill/>
        </p:spPr>
        <p:txBody>
          <a:bodyPr anchor="t" bIns="0" lIns="0" rIns="0" rtlCol="0" tIns="0" wrap="square"/>
          <a:p>
            <a:pPr algn="l" indent="0" marL="0">
              <a:lnSpc>
                <a:spcPts val="1150"/>
              </a:lnSpc>
              <a:buNone/>
            </a:pPr>
            <a:r>
              <a:rPr dirty="0" sz="1100" lang="en-US">
                <a:solidFill>
                  <a:srgbClr val="67534F"/>
                </a:solidFill>
                <a:latin typeface="Montserrat" pitchFamily="34" charset="0"/>
                <a:ea typeface="Montserrat" pitchFamily="34" charset="-122"/>
                <a:cs typeface="Montserrat" pitchFamily="34" charset="-120"/>
              </a:rPr>
              <a:t>Successfully bridged React frontend with Spring Boot backend using Axios for HTTP requests and WebSockets for real-time updates</a:t>
            </a:r>
            <a:endParaRPr dirty="0" sz="1100" lang="en-US"/>
          </a:p>
        </p:txBody>
      </p:sp>
      <p:sp>
        <p:nvSpPr>
          <p:cNvPr id="1048991" name="Shape 6"/>
          <p:cNvSpPr/>
          <p:nvPr/>
        </p:nvSpPr>
        <p:spPr>
          <a:xfrm>
            <a:off x="7360206" y="4620101"/>
            <a:ext cx="6500813" cy="1458397"/>
          </a:xfrm>
          <a:prstGeom prst="roundRect">
            <a:avLst>
              <a:gd name="adj" fmla="val 4116"/>
            </a:avLst>
          </a:prstGeom>
          <a:solidFill>
            <a:srgbClr val="FFFFF4"/>
          </a:solidFill>
          <a:ln w="15240">
            <a:solidFill>
              <a:srgbClr val="FFE0CC"/>
            </a:solidFill>
            <a:prstDash val="solid"/>
          </a:ln>
        </p:spPr>
      </p:sp>
      <p:sp>
        <p:nvSpPr>
          <p:cNvPr id="1048992" name="Shape 7"/>
          <p:cNvSpPr/>
          <p:nvPr/>
        </p:nvSpPr>
        <p:spPr>
          <a:xfrm>
            <a:off x="7518321" y="4778216"/>
            <a:ext cx="428625" cy="428625"/>
          </a:xfrm>
          <a:prstGeom prst="roundRect">
            <a:avLst>
              <a:gd name="adj" fmla="val 21331200"/>
            </a:avLst>
          </a:prstGeom>
          <a:solidFill>
            <a:srgbClr val="FF954F"/>
          </a:solidFill>
        </p:spPr>
      </p:sp>
      <p:pic>
        <p:nvPicPr>
          <p:cNvPr id="2097222" name="Image 2" descr="preencoded.png"/>
          <p:cNvPicPr>
            <a:picLocks noChangeAspect="1"/>
          </p:cNvPicPr>
          <p:nvPr/>
        </p:nvPicPr>
        <p:blipFill>
          <a:blip xmlns:r="http://schemas.openxmlformats.org/officeDocument/2006/relationships" r:embed="rId2"/>
          <a:stretch>
            <a:fillRect/>
          </a:stretch>
        </p:blipFill>
        <p:spPr>
          <a:xfrm>
            <a:off x="7636193" y="4896088"/>
            <a:ext cx="192881" cy="192881"/>
          </a:xfrm>
          <a:prstGeom prst="rect"/>
        </p:spPr>
      </p:pic>
      <p:sp>
        <p:nvSpPr>
          <p:cNvPr id="1048993" name="Text 8"/>
          <p:cNvSpPr/>
          <p:nvPr/>
        </p:nvSpPr>
        <p:spPr>
          <a:xfrm>
            <a:off x="7518321" y="5296853"/>
            <a:ext cx="2054185" cy="266938"/>
          </a:xfrm>
          <a:prstGeom prst="rect"/>
          <a:noFill/>
        </p:spPr>
        <p:txBody>
          <a:bodyPr anchor="t" bIns="0" lIns="0" rIns="0" rtlCol="0" tIns="0" wrap="none"/>
          <a:p>
            <a:pPr algn="l" indent="0" marL="0">
              <a:lnSpc>
                <a:spcPts val="2100"/>
              </a:lnSpc>
              <a:buNone/>
            </a:pPr>
            <a:r>
              <a:rPr dirty="0" sz="1600" lang="en-US">
                <a:solidFill>
                  <a:srgbClr val="67534F"/>
                </a:solidFill>
                <a:latin typeface="Marcellus" pitchFamily="34" charset="0"/>
                <a:ea typeface="Marcellus" pitchFamily="34" charset="-122"/>
                <a:cs typeface="Marcellus" pitchFamily="34" charset="-120"/>
              </a:rPr>
              <a:t>API Architecture</a:t>
            </a:r>
            <a:endParaRPr dirty="0" sz="1600" lang="en-US"/>
          </a:p>
        </p:txBody>
      </p:sp>
      <p:sp>
        <p:nvSpPr>
          <p:cNvPr id="1048994" name="Text 9"/>
          <p:cNvSpPr/>
          <p:nvPr/>
        </p:nvSpPr>
        <p:spPr>
          <a:xfrm>
            <a:off x="7518321" y="5617726"/>
            <a:ext cx="6184582" cy="302657"/>
          </a:xfrm>
          <a:prstGeom prst="rect"/>
          <a:noFill/>
        </p:spPr>
        <p:txBody>
          <a:bodyPr anchor="t" bIns="0" lIns="0" rIns="0" rtlCol="0" tIns="0" wrap="square"/>
          <a:p>
            <a:pPr algn="l" indent="0" marL="0">
              <a:lnSpc>
                <a:spcPts val="1150"/>
              </a:lnSpc>
              <a:buNone/>
            </a:pPr>
            <a:r>
              <a:rPr dirty="0" sz="1100" lang="en-US">
                <a:solidFill>
                  <a:srgbClr val="67534F"/>
                </a:solidFill>
                <a:latin typeface="Montserrat" pitchFamily="34" charset="0"/>
                <a:ea typeface="Montserrat" pitchFamily="34" charset="-122"/>
                <a:cs typeface="Montserrat" pitchFamily="34" charset="-120"/>
              </a:rPr>
              <a:t>Designed RESTful endpoints following industry standards with clear request/response patterns and versioning support</a:t>
            </a:r>
            <a:endParaRPr dirty="0" sz="1100" lang="en-US"/>
          </a:p>
        </p:txBody>
      </p:sp>
      <p:sp>
        <p:nvSpPr>
          <p:cNvPr id="1048995" name="Shape 10"/>
          <p:cNvSpPr/>
          <p:nvPr/>
        </p:nvSpPr>
        <p:spPr>
          <a:xfrm>
            <a:off x="769382" y="6168509"/>
            <a:ext cx="6500813" cy="1458397"/>
          </a:xfrm>
          <a:prstGeom prst="roundRect">
            <a:avLst>
              <a:gd name="adj" fmla="val 4116"/>
            </a:avLst>
          </a:prstGeom>
          <a:solidFill>
            <a:srgbClr val="FFFFF4"/>
          </a:solidFill>
          <a:ln w="15240">
            <a:solidFill>
              <a:srgbClr val="FFE0CC"/>
            </a:solidFill>
            <a:prstDash val="solid"/>
          </a:ln>
        </p:spPr>
      </p:sp>
      <p:sp>
        <p:nvSpPr>
          <p:cNvPr id="1048996" name="Shape 11"/>
          <p:cNvSpPr/>
          <p:nvPr/>
        </p:nvSpPr>
        <p:spPr>
          <a:xfrm>
            <a:off x="927497" y="6326624"/>
            <a:ext cx="428625" cy="428625"/>
          </a:xfrm>
          <a:prstGeom prst="roundRect">
            <a:avLst>
              <a:gd name="adj" fmla="val 21331200"/>
            </a:avLst>
          </a:prstGeom>
          <a:solidFill>
            <a:srgbClr val="FF954F"/>
          </a:solidFill>
        </p:spPr>
      </p:sp>
      <p:pic>
        <p:nvPicPr>
          <p:cNvPr id="2097223" name="Image 3" descr="preencoded.png"/>
          <p:cNvPicPr>
            <a:picLocks noChangeAspect="1"/>
          </p:cNvPicPr>
          <p:nvPr/>
        </p:nvPicPr>
        <p:blipFill>
          <a:blip xmlns:r="http://schemas.openxmlformats.org/officeDocument/2006/relationships" r:embed="rId2"/>
          <a:stretch>
            <a:fillRect/>
          </a:stretch>
        </p:blipFill>
        <p:spPr>
          <a:xfrm>
            <a:off x="1045369" y="6444496"/>
            <a:ext cx="192881" cy="192881"/>
          </a:xfrm>
          <a:prstGeom prst="rect"/>
        </p:spPr>
      </p:pic>
      <p:sp>
        <p:nvSpPr>
          <p:cNvPr id="1048997" name="Text 12"/>
          <p:cNvSpPr/>
          <p:nvPr/>
        </p:nvSpPr>
        <p:spPr>
          <a:xfrm>
            <a:off x="927497" y="6845260"/>
            <a:ext cx="2054185" cy="266938"/>
          </a:xfrm>
          <a:prstGeom prst="rect"/>
          <a:noFill/>
        </p:spPr>
        <p:txBody>
          <a:bodyPr anchor="t" bIns="0" lIns="0" rIns="0" rtlCol="0" tIns="0" wrap="none"/>
          <a:p>
            <a:pPr algn="l" indent="0" marL="0">
              <a:lnSpc>
                <a:spcPts val="2100"/>
              </a:lnSpc>
              <a:buNone/>
            </a:pPr>
            <a:r>
              <a:rPr dirty="0" sz="1600" lang="en-US">
                <a:solidFill>
                  <a:srgbClr val="67534F"/>
                </a:solidFill>
                <a:latin typeface="Marcellus" pitchFamily="34" charset="0"/>
                <a:ea typeface="Marcellus" pitchFamily="34" charset="-122"/>
                <a:cs typeface="Marcellus" pitchFamily="34" charset="-120"/>
              </a:rPr>
              <a:t>Data Relationships</a:t>
            </a:r>
            <a:endParaRPr dirty="0" sz="1600" lang="en-US"/>
          </a:p>
        </p:txBody>
      </p:sp>
      <p:sp>
        <p:nvSpPr>
          <p:cNvPr id="1048998" name="Text 13"/>
          <p:cNvSpPr/>
          <p:nvPr/>
        </p:nvSpPr>
        <p:spPr>
          <a:xfrm>
            <a:off x="927497" y="7166134"/>
            <a:ext cx="6184582" cy="302657"/>
          </a:xfrm>
          <a:prstGeom prst="rect"/>
          <a:noFill/>
        </p:spPr>
        <p:txBody>
          <a:bodyPr anchor="t" bIns="0" lIns="0" rIns="0" rtlCol="0" tIns="0" wrap="square"/>
          <a:p>
            <a:pPr algn="l" indent="0" marL="0">
              <a:lnSpc>
                <a:spcPts val="1150"/>
              </a:lnSpc>
              <a:buNone/>
            </a:pPr>
            <a:r>
              <a:rPr dirty="0" sz="1100" lang="en-US">
                <a:solidFill>
                  <a:srgbClr val="67534F"/>
                </a:solidFill>
                <a:latin typeface="Montserrat" pitchFamily="34" charset="0"/>
                <a:ea typeface="Montserrat" pitchFamily="34" charset="-122"/>
                <a:cs typeface="Montserrat" pitchFamily="34" charset="-120"/>
              </a:rPr>
              <a:t>Managed complex database schema with entity relationships, foreign key constraints, and optimized query performance</a:t>
            </a:r>
            <a:endParaRPr dirty="0" sz="1100" lang="en-US"/>
          </a:p>
        </p:txBody>
      </p:sp>
      <p:sp>
        <p:nvSpPr>
          <p:cNvPr id="1048999" name="Shape 14"/>
          <p:cNvSpPr/>
          <p:nvPr/>
        </p:nvSpPr>
        <p:spPr>
          <a:xfrm>
            <a:off x="7360206" y="6168509"/>
            <a:ext cx="6500813" cy="1458397"/>
          </a:xfrm>
          <a:prstGeom prst="roundRect">
            <a:avLst>
              <a:gd name="adj" fmla="val 4116"/>
            </a:avLst>
          </a:prstGeom>
          <a:solidFill>
            <a:srgbClr val="FFFFF4"/>
          </a:solidFill>
          <a:ln w="15240">
            <a:solidFill>
              <a:srgbClr val="FFE0CC"/>
            </a:solidFill>
            <a:prstDash val="solid"/>
          </a:ln>
        </p:spPr>
      </p:sp>
      <p:sp>
        <p:nvSpPr>
          <p:cNvPr id="1049000" name="Shape 15"/>
          <p:cNvSpPr/>
          <p:nvPr/>
        </p:nvSpPr>
        <p:spPr>
          <a:xfrm>
            <a:off x="7518321" y="6326624"/>
            <a:ext cx="428625" cy="428625"/>
          </a:xfrm>
          <a:prstGeom prst="roundRect">
            <a:avLst>
              <a:gd name="adj" fmla="val 21331200"/>
            </a:avLst>
          </a:prstGeom>
          <a:solidFill>
            <a:srgbClr val="FF954F"/>
          </a:solidFill>
        </p:spPr>
      </p:sp>
      <p:pic>
        <p:nvPicPr>
          <p:cNvPr id="2097224" name="Image 4" descr="preencoded.png"/>
          <p:cNvPicPr>
            <a:picLocks noChangeAspect="1"/>
          </p:cNvPicPr>
          <p:nvPr/>
        </p:nvPicPr>
        <p:blipFill>
          <a:blip xmlns:r="http://schemas.openxmlformats.org/officeDocument/2006/relationships" r:embed="rId2"/>
          <a:stretch>
            <a:fillRect/>
          </a:stretch>
        </p:blipFill>
        <p:spPr>
          <a:xfrm>
            <a:off x="7636193" y="6444496"/>
            <a:ext cx="192881" cy="192881"/>
          </a:xfrm>
          <a:prstGeom prst="rect"/>
        </p:spPr>
      </p:pic>
      <p:sp>
        <p:nvSpPr>
          <p:cNvPr id="1049001" name="Text 16"/>
          <p:cNvSpPr/>
          <p:nvPr/>
        </p:nvSpPr>
        <p:spPr>
          <a:xfrm>
            <a:off x="7518321" y="6845260"/>
            <a:ext cx="2054185" cy="266938"/>
          </a:xfrm>
          <a:prstGeom prst="rect"/>
          <a:noFill/>
        </p:spPr>
        <p:txBody>
          <a:bodyPr anchor="t" bIns="0" lIns="0" rIns="0" rtlCol="0" tIns="0" wrap="none"/>
          <a:p>
            <a:pPr algn="l" indent="0" marL="0">
              <a:lnSpc>
                <a:spcPts val="2100"/>
              </a:lnSpc>
              <a:buNone/>
            </a:pPr>
            <a:r>
              <a:rPr dirty="0" sz="1600" lang="en-US">
                <a:solidFill>
                  <a:srgbClr val="67534F"/>
                </a:solidFill>
                <a:latin typeface="Marcellus" pitchFamily="34" charset="0"/>
                <a:ea typeface="Marcellus" pitchFamily="34" charset="-122"/>
                <a:cs typeface="Marcellus" pitchFamily="34" charset="-120"/>
              </a:rPr>
              <a:t>Validation Layer</a:t>
            </a:r>
            <a:endParaRPr dirty="0" sz="1600" lang="en-US"/>
          </a:p>
        </p:txBody>
      </p:sp>
      <p:sp>
        <p:nvSpPr>
          <p:cNvPr id="1049002" name="Text 17"/>
          <p:cNvSpPr/>
          <p:nvPr/>
        </p:nvSpPr>
        <p:spPr>
          <a:xfrm>
            <a:off x="7518321" y="7166134"/>
            <a:ext cx="6184582" cy="302657"/>
          </a:xfrm>
          <a:prstGeom prst="rect"/>
          <a:noFill/>
        </p:spPr>
        <p:txBody>
          <a:bodyPr anchor="t" bIns="0" lIns="0" rIns="0" rtlCol="0" tIns="0" wrap="square"/>
          <a:p>
            <a:pPr algn="l" indent="0" marL="0">
              <a:lnSpc>
                <a:spcPts val="1150"/>
              </a:lnSpc>
              <a:buNone/>
            </a:pPr>
            <a:r>
              <a:rPr dirty="0" sz="1100" lang="en-US">
                <a:solidFill>
                  <a:srgbClr val="67534F"/>
                </a:solidFill>
                <a:latin typeface="Montserrat" pitchFamily="34" charset="0"/>
                <a:ea typeface="Montserrat" pitchFamily="34" charset="-122"/>
                <a:cs typeface="Montserrat" pitchFamily="34" charset="-120"/>
              </a:rPr>
              <a:t>Implemented comprehensive error handling with client-side validation, server-side sanitization, and meaningful error messages</a:t>
            </a:r>
            <a:endParaRPr dirty="0" sz="1100" lang="en-US"/>
          </a:p>
        </p:txBody>
      </p:sp>
    </p:spTree>
  </p:cSld>
  <p:clrMapOvr>
    <a:masterClrMapping/>
  </p:clrMapOvr>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pic>
        <p:nvPicPr>
          <p:cNvPr id="2097225" name="Image 0" descr="preencoded.png"/>
          <p:cNvPicPr>
            <a:picLocks noChangeAspect="1"/>
          </p:cNvPicPr>
          <p:nvPr/>
        </p:nvPicPr>
        <p:blipFill>
          <a:blip xmlns:r="http://schemas.openxmlformats.org/officeDocument/2006/relationships" r:embed="rId1"/>
          <a:stretch>
            <a:fillRect/>
          </a:stretch>
        </p:blipFill>
        <p:spPr>
          <a:xfrm>
            <a:off x="8869680" y="0"/>
            <a:ext cx="5760720" cy="8229600"/>
          </a:xfrm>
          <a:prstGeom prst="rect"/>
        </p:spPr>
      </p:pic>
      <p:sp>
        <p:nvSpPr>
          <p:cNvPr id="1049006" name="Text 0"/>
          <p:cNvSpPr/>
          <p:nvPr/>
        </p:nvSpPr>
        <p:spPr>
          <a:xfrm>
            <a:off x="793790" y="728067"/>
            <a:ext cx="5216962" cy="678180"/>
          </a:xfrm>
          <a:prstGeom prst="rect"/>
          <a:noFill/>
        </p:spPr>
        <p:txBody>
          <a:bodyPr anchor="t" bIns="0" lIns="0" rIns="0" rtlCol="0" tIns="0" wrap="none"/>
          <a:p>
            <a:pPr algn="l" indent="0" marL="0">
              <a:lnSpc>
                <a:spcPts val="5300"/>
              </a:lnSpc>
              <a:buNone/>
            </a:pPr>
            <a:r>
              <a:rPr dirty="0" sz="4100" lang="en-US">
                <a:solidFill>
                  <a:srgbClr val="532418"/>
                </a:solidFill>
                <a:latin typeface="Marcellus" pitchFamily="34" charset="0"/>
                <a:ea typeface="Marcellus" pitchFamily="34" charset="-122"/>
                <a:cs typeface="Marcellus" pitchFamily="34" charset="-120"/>
              </a:rPr>
              <a:t>Future Roadmap</a:t>
            </a:r>
            <a:endParaRPr dirty="0" sz="4100" lang="en-US"/>
          </a:p>
        </p:txBody>
      </p:sp>
      <p:sp>
        <p:nvSpPr>
          <p:cNvPr id="1049007" name="Text 1"/>
          <p:cNvSpPr/>
          <p:nvPr/>
        </p:nvSpPr>
        <p:spPr>
          <a:xfrm>
            <a:off x="793790" y="1623893"/>
            <a:ext cx="7556421"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Our product vision extends beyond the current implementation. These upcoming features will significantly enhance functionality and user experience.</a:t>
            </a:r>
            <a:endParaRPr dirty="0" sz="1400" lang="en-US"/>
          </a:p>
        </p:txBody>
      </p:sp>
      <p:sp>
        <p:nvSpPr>
          <p:cNvPr id="1049008" name="Shape 2"/>
          <p:cNvSpPr/>
          <p:nvPr/>
        </p:nvSpPr>
        <p:spPr>
          <a:xfrm>
            <a:off x="975241" y="2483882"/>
            <a:ext cx="181451" cy="941308"/>
          </a:xfrm>
          <a:prstGeom prst="roundRect">
            <a:avLst>
              <a:gd name="adj" fmla="val 42003"/>
            </a:avLst>
          </a:prstGeom>
          <a:solidFill>
            <a:srgbClr val="FFFFF4"/>
          </a:solidFill>
          <a:ln w="15240">
            <a:solidFill>
              <a:srgbClr val="FFE0CC"/>
            </a:solidFill>
            <a:prstDash val="solid"/>
          </a:ln>
        </p:spPr>
      </p:sp>
      <p:sp>
        <p:nvSpPr>
          <p:cNvPr id="1049009" name="Shape 3"/>
          <p:cNvSpPr/>
          <p:nvPr/>
        </p:nvSpPr>
        <p:spPr>
          <a:xfrm>
            <a:off x="793790" y="2359104"/>
            <a:ext cx="544354" cy="544354"/>
          </a:xfrm>
          <a:prstGeom prst="roundRect">
            <a:avLst>
              <a:gd name="adj" fmla="val 83989"/>
            </a:avLst>
          </a:prstGeom>
          <a:solidFill>
            <a:srgbClr val="FFFFF4"/>
          </a:solidFill>
          <a:ln w="15240">
            <a:solidFill>
              <a:srgbClr val="FFE0CC"/>
            </a:solidFill>
            <a:prstDash val="solid"/>
          </a:ln>
        </p:spPr>
      </p:sp>
      <p:pic>
        <p:nvPicPr>
          <p:cNvPr id="2097226" name="Image 1" descr="preencoded.png"/>
          <p:cNvPicPr>
            <a:picLocks noChangeAspect="1"/>
          </p:cNvPicPr>
          <p:nvPr/>
        </p:nvPicPr>
        <p:blipFill>
          <a:blip xmlns:r="http://schemas.openxmlformats.org/officeDocument/2006/relationships" r:embed="rId2"/>
          <a:stretch>
            <a:fillRect/>
          </a:stretch>
        </p:blipFill>
        <p:spPr>
          <a:xfrm>
            <a:off x="929878" y="2495193"/>
            <a:ext cx="272177" cy="272177"/>
          </a:xfrm>
          <a:prstGeom prst="rect"/>
        </p:spPr>
      </p:pic>
      <p:sp>
        <p:nvSpPr>
          <p:cNvPr id="1049010" name="Text 4"/>
          <p:cNvSpPr/>
          <p:nvPr/>
        </p:nvSpPr>
        <p:spPr>
          <a:xfrm>
            <a:off x="1483281" y="2393156"/>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Barcode Scanning</a:t>
            </a:r>
            <a:endParaRPr dirty="0" sz="2050" lang="en-US"/>
          </a:p>
        </p:txBody>
      </p:sp>
      <p:sp>
        <p:nvSpPr>
          <p:cNvPr id="1049011" name="Text 5"/>
          <p:cNvSpPr/>
          <p:nvPr/>
        </p:nvSpPr>
        <p:spPr>
          <a:xfrm>
            <a:off x="1483281" y="2819281"/>
            <a:ext cx="6866930"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Streamline inventory tracking with quick scans using mobile devices or dedicated hardware scanners</a:t>
            </a:r>
            <a:endParaRPr dirty="0" sz="1400" lang="en-US"/>
          </a:p>
        </p:txBody>
      </p:sp>
      <p:sp>
        <p:nvSpPr>
          <p:cNvPr id="1049012" name="Shape 6"/>
          <p:cNvSpPr/>
          <p:nvPr/>
        </p:nvSpPr>
        <p:spPr>
          <a:xfrm>
            <a:off x="1247418" y="3842623"/>
            <a:ext cx="181451" cy="941308"/>
          </a:xfrm>
          <a:prstGeom prst="roundRect">
            <a:avLst>
              <a:gd name="adj" fmla="val 42003"/>
            </a:avLst>
          </a:prstGeom>
          <a:solidFill>
            <a:srgbClr val="FFFFF4"/>
          </a:solidFill>
          <a:ln w="15240">
            <a:solidFill>
              <a:srgbClr val="FFE0CC"/>
            </a:solidFill>
            <a:prstDash val="solid"/>
          </a:ln>
        </p:spPr>
      </p:sp>
      <p:sp>
        <p:nvSpPr>
          <p:cNvPr id="1049013" name="Shape 7"/>
          <p:cNvSpPr/>
          <p:nvPr/>
        </p:nvSpPr>
        <p:spPr>
          <a:xfrm>
            <a:off x="1065967" y="3717846"/>
            <a:ext cx="544354" cy="544354"/>
          </a:xfrm>
          <a:prstGeom prst="roundRect">
            <a:avLst>
              <a:gd name="adj" fmla="val 83989"/>
            </a:avLst>
          </a:prstGeom>
          <a:solidFill>
            <a:srgbClr val="FFFFF4"/>
          </a:solidFill>
          <a:ln w="15240">
            <a:solidFill>
              <a:srgbClr val="FFE0CC"/>
            </a:solidFill>
            <a:prstDash val="solid"/>
          </a:ln>
        </p:spPr>
      </p:sp>
      <p:pic>
        <p:nvPicPr>
          <p:cNvPr id="2097227" name="Image 2" descr="preencoded.png"/>
          <p:cNvPicPr>
            <a:picLocks noChangeAspect="1"/>
          </p:cNvPicPr>
          <p:nvPr/>
        </p:nvPicPr>
        <p:blipFill>
          <a:blip xmlns:r="http://schemas.openxmlformats.org/officeDocument/2006/relationships" r:embed="rId2"/>
          <a:stretch>
            <a:fillRect/>
          </a:stretch>
        </p:blipFill>
        <p:spPr>
          <a:xfrm>
            <a:off x="1202055" y="3853934"/>
            <a:ext cx="272177" cy="272177"/>
          </a:xfrm>
          <a:prstGeom prst="rect"/>
        </p:spPr>
      </p:pic>
      <p:sp>
        <p:nvSpPr>
          <p:cNvPr id="1049014" name="Text 8"/>
          <p:cNvSpPr/>
          <p:nvPr/>
        </p:nvSpPr>
        <p:spPr>
          <a:xfrm>
            <a:off x="1755458" y="3751898"/>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Analytics Dashboard</a:t>
            </a:r>
            <a:endParaRPr dirty="0" sz="2050" lang="en-US"/>
          </a:p>
        </p:txBody>
      </p:sp>
      <p:sp>
        <p:nvSpPr>
          <p:cNvPr id="1049015" name="Text 9"/>
          <p:cNvSpPr/>
          <p:nvPr/>
        </p:nvSpPr>
        <p:spPr>
          <a:xfrm>
            <a:off x="1755458" y="4178022"/>
            <a:ext cx="6594753"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Visualize trends with real-time graphs, reports, and KPI tracking for data-driven decision making</a:t>
            </a:r>
            <a:endParaRPr dirty="0" sz="1400" lang="en-US"/>
          </a:p>
        </p:txBody>
      </p:sp>
      <p:sp>
        <p:nvSpPr>
          <p:cNvPr id="1049016" name="Shape 10"/>
          <p:cNvSpPr/>
          <p:nvPr/>
        </p:nvSpPr>
        <p:spPr>
          <a:xfrm>
            <a:off x="1519595" y="5201364"/>
            <a:ext cx="181451" cy="941308"/>
          </a:xfrm>
          <a:prstGeom prst="roundRect">
            <a:avLst>
              <a:gd name="adj" fmla="val 42003"/>
            </a:avLst>
          </a:prstGeom>
          <a:solidFill>
            <a:srgbClr val="FFFFF4"/>
          </a:solidFill>
          <a:ln w="15240">
            <a:solidFill>
              <a:srgbClr val="FFE0CC"/>
            </a:solidFill>
            <a:prstDash val="solid"/>
          </a:ln>
        </p:spPr>
      </p:sp>
      <p:sp>
        <p:nvSpPr>
          <p:cNvPr id="1049017" name="Shape 11"/>
          <p:cNvSpPr/>
          <p:nvPr/>
        </p:nvSpPr>
        <p:spPr>
          <a:xfrm>
            <a:off x="1338143" y="5076587"/>
            <a:ext cx="544354" cy="544354"/>
          </a:xfrm>
          <a:prstGeom prst="roundRect">
            <a:avLst>
              <a:gd name="adj" fmla="val 83989"/>
            </a:avLst>
          </a:prstGeom>
          <a:solidFill>
            <a:srgbClr val="FFFFF4"/>
          </a:solidFill>
          <a:ln w="15240">
            <a:solidFill>
              <a:srgbClr val="FFE0CC"/>
            </a:solidFill>
            <a:prstDash val="solid"/>
          </a:ln>
        </p:spPr>
      </p:sp>
      <p:pic>
        <p:nvPicPr>
          <p:cNvPr id="2097228" name="Image 3" descr="preencoded.png"/>
          <p:cNvPicPr>
            <a:picLocks noChangeAspect="1"/>
          </p:cNvPicPr>
          <p:nvPr/>
        </p:nvPicPr>
        <p:blipFill>
          <a:blip xmlns:r="http://schemas.openxmlformats.org/officeDocument/2006/relationships" r:embed="rId2"/>
          <a:stretch>
            <a:fillRect/>
          </a:stretch>
        </p:blipFill>
        <p:spPr>
          <a:xfrm>
            <a:off x="1474232" y="5212675"/>
            <a:ext cx="272177" cy="272177"/>
          </a:xfrm>
          <a:prstGeom prst="rect"/>
        </p:spPr>
      </p:pic>
      <p:sp>
        <p:nvSpPr>
          <p:cNvPr id="1049018" name="Text 12"/>
          <p:cNvSpPr/>
          <p:nvPr/>
        </p:nvSpPr>
        <p:spPr>
          <a:xfrm>
            <a:off x="2027634" y="5110639"/>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Cloud Deployment</a:t>
            </a:r>
            <a:endParaRPr dirty="0" sz="2050" lang="en-US"/>
          </a:p>
        </p:txBody>
      </p:sp>
      <p:sp>
        <p:nvSpPr>
          <p:cNvPr id="1049019" name="Text 13"/>
          <p:cNvSpPr/>
          <p:nvPr/>
        </p:nvSpPr>
        <p:spPr>
          <a:xfrm>
            <a:off x="2027634" y="5536763"/>
            <a:ext cx="6322576"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Scale infrastructure for enterprise needs with containerization, auto-scaling, and high availability</a:t>
            </a:r>
            <a:endParaRPr dirty="0" sz="1400" lang="en-US"/>
          </a:p>
        </p:txBody>
      </p:sp>
      <p:sp>
        <p:nvSpPr>
          <p:cNvPr id="1049020" name="Shape 14"/>
          <p:cNvSpPr/>
          <p:nvPr/>
        </p:nvSpPr>
        <p:spPr>
          <a:xfrm>
            <a:off x="1791772" y="6560106"/>
            <a:ext cx="181451" cy="941308"/>
          </a:xfrm>
          <a:prstGeom prst="roundRect">
            <a:avLst>
              <a:gd name="adj" fmla="val 42003"/>
            </a:avLst>
          </a:prstGeom>
          <a:solidFill>
            <a:srgbClr val="FFFFF4"/>
          </a:solidFill>
          <a:ln w="15240">
            <a:solidFill>
              <a:srgbClr val="FFE0CC"/>
            </a:solidFill>
            <a:prstDash val="solid"/>
          </a:ln>
        </p:spPr>
      </p:sp>
      <p:sp>
        <p:nvSpPr>
          <p:cNvPr id="1049021" name="Shape 15"/>
          <p:cNvSpPr/>
          <p:nvPr/>
        </p:nvSpPr>
        <p:spPr>
          <a:xfrm>
            <a:off x="1610320" y="6435328"/>
            <a:ext cx="544354" cy="544354"/>
          </a:xfrm>
          <a:prstGeom prst="roundRect">
            <a:avLst>
              <a:gd name="adj" fmla="val 83989"/>
            </a:avLst>
          </a:prstGeom>
          <a:solidFill>
            <a:srgbClr val="FFFFF4"/>
          </a:solidFill>
          <a:ln w="15240">
            <a:solidFill>
              <a:srgbClr val="FFE0CC"/>
            </a:solidFill>
            <a:prstDash val="solid"/>
          </a:ln>
        </p:spPr>
      </p:sp>
      <p:pic>
        <p:nvPicPr>
          <p:cNvPr id="2097229" name="Image 4" descr="preencoded.png"/>
          <p:cNvPicPr>
            <a:picLocks noChangeAspect="1"/>
          </p:cNvPicPr>
          <p:nvPr/>
        </p:nvPicPr>
        <p:blipFill>
          <a:blip xmlns:r="http://schemas.openxmlformats.org/officeDocument/2006/relationships" r:embed="rId2"/>
          <a:stretch>
            <a:fillRect/>
          </a:stretch>
        </p:blipFill>
        <p:spPr>
          <a:xfrm>
            <a:off x="1746409" y="6571417"/>
            <a:ext cx="272177" cy="272177"/>
          </a:xfrm>
          <a:prstGeom prst="rect"/>
        </p:spPr>
      </p:pic>
      <p:sp>
        <p:nvSpPr>
          <p:cNvPr id="1049022" name="Text 16"/>
          <p:cNvSpPr/>
          <p:nvPr/>
        </p:nvSpPr>
        <p:spPr>
          <a:xfrm>
            <a:off x="2299811" y="6469380"/>
            <a:ext cx="2608421" cy="339090"/>
          </a:xfrm>
          <a:prstGeom prst="rect"/>
          <a:noFill/>
        </p:spPr>
        <p:txBody>
          <a:bodyPr anchor="t" bIns="0" lIns="0" rIns="0" rtlCol="0" tIns="0" wrap="none"/>
          <a:p>
            <a:pPr algn="l" indent="0" marL="0">
              <a:lnSpc>
                <a:spcPts val="2650"/>
              </a:lnSpc>
              <a:buNone/>
            </a:pPr>
            <a:r>
              <a:rPr dirty="0" sz="2050" lang="en-US">
                <a:solidFill>
                  <a:srgbClr val="67534F"/>
                </a:solidFill>
                <a:latin typeface="Marcellus" pitchFamily="34" charset="0"/>
                <a:ea typeface="Marcellus" pitchFamily="34" charset="-122"/>
                <a:cs typeface="Marcellus" pitchFamily="34" charset="-120"/>
              </a:rPr>
              <a:t>Mobile Version</a:t>
            </a:r>
            <a:endParaRPr dirty="0" sz="2050" lang="en-US"/>
          </a:p>
        </p:txBody>
      </p:sp>
      <p:sp>
        <p:nvSpPr>
          <p:cNvPr id="1049023" name="Text 17"/>
          <p:cNvSpPr/>
          <p:nvPr/>
        </p:nvSpPr>
        <p:spPr>
          <a:xfrm>
            <a:off x="2299811" y="6895505"/>
            <a:ext cx="6050399" cy="424577"/>
          </a:xfrm>
          <a:prstGeom prst="rect"/>
          <a:noFill/>
        </p:spPr>
        <p:txBody>
          <a:bodyPr anchor="t" bIns="0" lIns="0" rIns="0" rtlCol="0" tIns="0" wrap="square"/>
          <a:p>
            <a:pPr algn="l" indent="0" marL="0">
              <a:lnSpc>
                <a:spcPts val="1650"/>
              </a:lnSpc>
              <a:buNone/>
            </a:pPr>
            <a:r>
              <a:rPr dirty="0" sz="1400" lang="en-US">
                <a:solidFill>
                  <a:srgbClr val="67534F"/>
                </a:solidFill>
                <a:latin typeface="Montserrat" pitchFamily="34" charset="0"/>
                <a:ea typeface="Montserrat" pitchFamily="34" charset="-122"/>
                <a:cs typeface="Montserrat" pitchFamily="34" charset="-120"/>
              </a:rPr>
              <a:t>Access inventory from anywhere, any device with responsive design and offline capability support</a:t>
            </a:r>
            <a:endParaRPr dirty="0" sz="1400" lang="en-US"/>
          </a:p>
        </p:txBody>
      </p:sp>
    </p:spTree>
  </p:cSld>
  <p:clrMapOvr>
    <a:masterClrMapping/>
  </p:clrMapOvr>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9027" name="Text 0"/>
          <p:cNvSpPr/>
          <p:nvPr/>
        </p:nvSpPr>
        <p:spPr>
          <a:xfrm>
            <a:off x="617815" y="485418"/>
            <a:ext cx="4822031" cy="626864"/>
          </a:xfrm>
          <a:prstGeom prst="rect"/>
          <a:noFill/>
        </p:spPr>
        <p:txBody>
          <a:bodyPr anchor="t" bIns="0" lIns="0" rIns="0" rtlCol="0" tIns="0" wrap="none"/>
          <a:p>
            <a:pPr algn="l" indent="0" marL="0">
              <a:lnSpc>
                <a:spcPts val="4900"/>
              </a:lnSpc>
              <a:buNone/>
            </a:pPr>
            <a:r>
              <a:rPr dirty="0" sz="3750" lang="en-US">
                <a:solidFill>
                  <a:srgbClr val="532418"/>
                </a:solidFill>
                <a:latin typeface="Marcellus" pitchFamily="34" charset="0"/>
                <a:ea typeface="Marcellus" pitchFamily="34" charset="-122"/>
                <a:cs typeface="Marcellus" pitchFamily="34" charset="-120"/>
              </a:rPr>
              <a:t>Project Success</a:t>
            </a:r>
            <a:endParaRPr dirty="0" sz="3750" lang="en-US"/>
          </a:p>
        </p:txBody>
      </p:sp>
      <p:pic>
        <p:nvPicPr>
          <p:cNvPr id="2097230" name="Image 0" descr="preencoded.png"/>
          <p:cNvPicPr>
            <a:picLocks noChangeAspect="1"/>
          </p:cNvPicPr>
          <p:nvPr/>
        </p:nvPicPr>
        <p:blipFill>
          <a:blip xmlns:r="http://schemas.openxmlformats.org/officeDocument/2006/relationships" r:embed="rId1"/>
          <a:stretch>
            <a:fillRect/>
          </a:stretch>
        </p:blipFill>
        <p:spPr>
          <a:xfrm>
            <a:off x="831890" y="1437680"/>
            <a:ext cx="8135064" cy="4540448"/>
          </a:xfrm>
          <a:prstGeom prst="rect"/>
        </p:spPr>
      </p:pic>
      <p:sp>
        <p:nvSpPr>
          <p:cNvPr id="1049028" name="Text 1"/>
          <p:cNvSpPr/>
          <p:nvPr/>
        </p:nvSpPr>
        <p:spPr>
          <a:xfrm>
            <a:off x="9597866" y="3053834"/>
            <a:ext cx="2893219" cy="376118"/>
          </a:xfrm>
          <a:prstGeom prst="rect"/>
          <a:noFill/>
        </p:spPr>
        <p:txBody>
          <a:bodyPr anchor="t" bIns="0" lIns="0" rIns="0" rtlCol="0" tIns="0" wrap="none"/>
          <a:p>
            <a:pPr algn="l" indent="0" marL="0">
              <a:lnSpc>
                <a:spcPts val="2950"/>
              </a:lnSpc>
              <a:buNone/>
            </a:pPr>
            <a:r>
              <a:rPr dirty="0" sz="2250" lang="en-US">
                <a:solidFill>
                  <a:srgbClr val="532418"/>
                </a:solidFill>
                <a:latin typeface="Marcellus" pitchFamily="34" charset="0"/>
                <a:ea typeface="Marcellus" pitchFamily="34" charset="-122"/>
                <a:cs typeface="Marcellus" pitchFamily="34" charset="-120"/>
              </a:rPr>
              <a:t>Key Achievements</a:t>
            </a:r>
            <a:endParaRPr dirty="0" sz="2250" lang="en-US"/>
          </a:p>
        </p:txBody>
      </p:sp>
      <p:sp>
        <p:nvSpPr>
          <p:cNvPr id="1049029" name="Text 2"/>
          <p:cNvSpPr/>
          <p:nvPr/>
        </p:nvSpPr>
        <p:spPr>
          <a:xfrm>
            <a:off x="9597866" y="3553897"/>
            <a:ext cx="4422219" cy="888682"/>
          </a:xfrm>
          <a:prstGeom prst="rect"/>
          <a:noFill/>
        </p:spPr>
        <p:txBody>
          <a:bodyPr anchor="t" bIns="0" lIns="0" rIns="0" rtlCol="0" tIns="0" wrap="square"/>
          <a:p>
            <a:pPr algn="l" indent="-342900" marL="342900">
              <a:lnSpc>
                <a:spcPts val="1450"/>
              </a:lnSpc>
              <a:buSzPct val="100000"/>
              <a:buChar char="•"/>
            </a:pPr>
            <a:r>
              <a:rPr dirty="0" sz="1300" lang="en-US">
                <a:solidFill>
                  <a:srgbClr val="67534F"/>
                </a:solidFill>
                <a:latin typeface="Montserrat" pitchFamily="34" charset="0"/>
                <a:ea typeface="Montserrat" pitchFamily="34" charset="-122"/>
                <a:cs typeface="Montserrat" pitchFamily="34" charset="-120"/>
              </a:rPr>
              <a:t>Complete digitization of inventory processes</a:t>
            </a:r>
            <a:endParaRPr dirty="0" sz="1300" lang="en-US"/>
          </a:p>
          <a:p>
            <a:pPr algn="l" indent="-342900" marL="342900">
              <a:lnSpc>
                <a:spcPts val="1450"/>
              </a:lnSpc>
              <a:buSzPct val="100000"/>
              <a:buChar char="•"/>
            </a:pPr>
            <a:r>
              <a:rPr dirty="0" sz="1300" lang="en-US">
                <a:solidFill>
                  <a:srgbClr val="67534F"/>
                </a:solidFill>
                <a:latin typeface="Montserrat" pitchFamily="34" charset="0"/>
                <a:ea typeface="Montserrat" pitchFamily="34" charset="-122"/>
                <a:cs typeface="Montserrat" pitchFamily="34" charset="-120"/>
              </a:rPr>
              <a:t>Enhanced operational efficiency</a:t>
            </a:r>
            <a:endParaRPr dirty="0" sz="1300" lang="en-US"/>
          </a:p>
          <a:p>
            <a:pPr algn="l" indent="-342900" marL="342900">
              <a:lnSpc>
                <a:spcPts val="1450"/>
              </a:lnSpc>
              <a:buSzPct val="100000"/>
              <a:buChar char="•"/>
            </a:pPr>
            <a:r>
              <a:rPr dirty="0" sz="1300" lang="en-US">
                <a:solidFill>
                  <a:srgbClr val="67534F"/>
                </a:solidFill>
                <a:latin typeface="Montserrat" pitchFamily="34" charset="0"/>
                <a:ea typeface="Montserrat" pitchFamily="34" charset="-122"/>
                <a:cs typeface="Montserrat" pitchFamily="34" charset="-120"/>
              </a:rPr>
              <a:t>Reduced manual errors</a:t>
            </a:r>
            <a:endParaRPr dirty="0" sz="1300" lang="en-US"/>
          </a:p>
          <a:p>
            <a:pPr algn="l" indent="-342900" marL="342900">
              <a:lnSpc>
                <a:spcPts val="1450"/>
              </a:lnSpc>
              <a:buSzPct val="100000"/>
              <a:buChar char="•"/>
            </a:pPr>
            <a:r>
              <a:rPr dirty="0" sz="1300" lang="en-US">
                <a:solidFill>
                  <a:srgbClr val="67534F"/>
                </a:solidFill>
                <a:latin typeface="Montserrat" pitchFamily="34" charset="0"/>
                <a:ea typeface="Montserrat" pitchFamily="34" charset="-122"/>
                <a:cs typeface="Montserrat" pitchFamily="34" charset="-120"/>
              </a:rPr>
              <a:t>Reliable product tracking</a:t>
            </a:r>
            <a:endParaRPr dirty="0" sz="1300" lang="en-US"/>
          </a:p>
        </p:txBody>
      </p:sp>
      <p:sp>
        <p:nvSpPr>
          <p:cNvPr id="1049030" name="Shape 3"/>
          <p:cNvSpPr/>
          <p:nvPr/>
        </p:nvSpPr>
        <p:spPr>
          <a:xfrm>
            <a:off x="617815" y="6256973"/>
            <a:ext cx="4382214" cy="1527334"/>
          </a:xfrm>
          <a:prstGeom prst="roundRect">
            <a:avLst>
              <a:gd name="adj" fmla="val 7184"/>
            </a:avLst>
          </a:prstGeom>
          <a:solidFill>
            <a:srgbClr val="FFFFF4">
              <a:alpha val="95000"/>
            </a:srgbClr>
          </a:solidFill>
          <a:ln w="22860">
            <a:solidFill>
              <a:srgbClr val="FFE0CC"/>
            </a:solidFill>
            <a:prstDash val="solid"/>
          </a:ln>
        </p:spPr>
      </p:sp>
      <p:sp>
        <p:nvSpPr>
          <p:cNvPr id="1049031" name="Shape 4"/>
          <p:cNvSpPr/>
          <p:nvPr/>
        </p:nvSpPr>
        <p:spPr>
          <a:xfrm>
            <a:off x="594955" y="6256973"/>
            <a:ext cx="91440" cy="1527334"/>
          </a:xfrm>
          <a:prstGeom prst="roundRect">
            <a:avLst>
              <a:gd name="adj" fmla="val 77039"/>
            </a:avLst>
          </a:prstGeom>
          <a:solidFill>
            <a:srgbClr val="FF954F"/>
          </a:solidFill>
        </p:spPr>
      </p:sp>
      <p:sp>
        <p:nvSpPr>
          <p:cNvPr id="1049032" name="Text 5"/>
          <p:cNvSpPr/>
          <p:nvPr/>
        </p:nvSpPr>
        <p:spPr>
          <a:xfrm>
            <a:off x="876895" y="6447473"/>
            <a:ext cx="2411016" cy="313373"/>
          </a:xfrm>
          <a:prstGeom prst="rect"/>
          <a:noFill/>
        </p:spPr>
        <p:txBody>
          <a:bodyPr anchor="t" bIns="0" lIns="0" rIns="0" rtlCol="0" tIns="0" wrap="none"/>
          <a:p>
            <a:pPr algn="l" indent="0" marL="0">
              <a:lnSpc>
                <a:spcPts val="2450"/>
              </a:lnSpc>
              <a:buNone/>
            </a:pPr>
            <a:r>
              <a:rPr dirty="0" sz="1850" lang="en-US">
                <a:solidFill>
                  <a:srgbClr val="67534F"/>
                </a:solidFill>
                <a:latin typeface="Marcellus" pitchFamily="34" charset="0"/>
                <a:ea typeface="Marcellus" pitchFamily="34" charset="-122"/>
                <a:cs typeface="Marcellus" pitchFamily="34" charset="-120"/>
              </a:rPr>
              <a:t>Modern Tech Stack</a:t>
            </a:r>
            <a:endParaRPr dirty="0" sz="1850" lang="en-US"/>
          </a:p>
        </p:txBody>
      </p:sp>
      <p:sp>
        <p:nvSpPr>
          <p:cNvPr id="1049033" name="Text 6"/>
          <p:cNvSpPr/>
          <p:nvPr/>
        </p:nvSpPr>
        <p:spPr>
          <a:xfrm>
            <a:off x="876895" y="6835140"/>
            <a:ext cx="3932634" cy="758666"/>
          </a:xfrm>
          <a:prstGeom prst="rect"/>
          <a:noFill/>
        </p:spPr>
        <p:txBody>
          <a:bodyPr anchor="t" bIns="0" lIns="0" rIns="0" rtlCol="0" tIns="0" wrap="square"/>
          <a:p>
            <a:pPr algn="l" indent="0" marL="0">
              <a:lnSpc>
                <a:spcPts val="1450"/>
              </a:lnSpc>
              <a:buNone/>
            </a:pPr>
            <a:r>
              <a:rPr dirty="0" sz="1300" lang="en-US">
                <a:solidFill>
                  <a:srgbClr val="67534F"/>
                </a:solidFill>
                <a:latin typeface="Montserrat" pitchFamily="34" charset="0"/>
                <a:ea typeface="Montserrat" pitchFamily="34" charset="-122"/>
                <a:cs typeface="Montserrat" pitchFamily="34" charset="-120"/>
              </a:rPr>
              <a:t>React for responsive UI with component-based architecture, Spring Boot for robust backend with dependency injection and security features</a:t>
            </a:r>
            <a:endParaRPr dirty="0" sz="1300" lang="en-US"/>
          </a:p>
        </p:txBody>
      </p:sp>
      <p:sp>
        <p:nvSpPr>
          <p:cNvPr id="1049034" name="Shape 7"/>
          <p:cNvSpPr/>
          <p:nvPr/>
        </p:nvSpPr>
        <p:spPr>
          <a:xfrm>
            <a:off x="5123974" y="6256973"/>
            <a:ext cx="4382333" cy="1527334"/>
          </a:xfrm>
          <a:prstGeom prst="roundRect">
            <a:avLst>
              <a:gd name="adj" fmla="val 7184"/>
            </a:avLst>
          </a:prstGeom>
          <a:solidFill>
            <a:srgbClr val="FFFFF4">
              <a:alpha val="95000"/>
            </a:srgbClr>
          </a:solidFill>
          <a:ln w="22860">
            <a:solidFill>
              <a:srgbClr val="FFE0CC"/>
            </a:solidFill>
            <a:prstDash val="solid"/>
          </a:ln>
        </p:spPr>
      </p:sp>
      <p:sp>
        <p:nvSpPr>
          <p:cNvPr id="1049035" name="Shape 8"/>
          <p:cNvSpPr/>
          <p:nvPr/>
        </p:nvSpPr>
        <p:spPr>
          <a:xfrm>
            <a:off x="5101114" y="6256973"/>
            <a:ext cx="91440" cy="1527334"/>
          </a:xfrm>
          <a:prstGeom prst="roundRect">
            <a:avLst>
              <a:gd name="adj" fmla="val 77039"/>
            </a:avLst>
          </a:prstGeom>
          <a:solidFill>
            <a:srgbClr val="FF954F"/>
          </a:solidFill>
        </p:spPr>
      </p:sp>
      <p:sp>
        <p:nvSpPr>
          <p:cNvPr id="1049036" name="Text 9"/>
          <p:cNvSpPr/>
          <p:nvPr/>
        </p:nvSpPr>
        <p:spPr>
          <a:xfrm>
            <a:off x="5383054" y="6447473"/>
            <a:ext cx="2411016" cy="313373"/>
          </a:xfrm>
          <a:prstGeom prst="rect"/>
          <a:noFill/>
        </p:spPr>
        <p:txBody>
          <a:bodyPr anchor="t" bIns="0" lIns="0" rIns="0" rtlCol="0" tIns="0" wrap="none"/>
          <a:p>
            <a:pPr algn="l" indent="0" marL="0">
              <a:lnSpc>
                <a:spcPts val="2450"/>
              </a:lnSpc>
              <a:buNone/>
            </a:pPr>
            <a:r>
              <a:rPr dirty="0" sz="1850" lang="en-US">
                <a:solidFill>
                  <a:srgbClr val="67534F"/>
                </a:solidFill>
                <a:latin typeface="Marcellus" pitchFamily="34" charset="0"/>
                <a:ea typeface="Marcellus" pitchFamily="34" charset="-122"/>
                <a:cs typeface="Marcellus" pitchFamily="34" charset="-120"/>
              </a:rPr>
              <a:t>Scalable Design</a:t>
            </a:r>
            <a:endParaRPr dirty="0" sz="1850" lang="en-US"/>
          </a:p>
        </p:txBody>
      </p:sp>
      <p:sp>
        <p:nvSpPr>
          <p:cNvPr id="1049037" name="Text 10"/>
          <p:cNvSpPr/>
          <p:nvPr/>
        </p:nvSpPr>
        <p:spPr>
          <a:xfrm>
            <a:off x="5383054" y="6835140"/>
            <a:ext cx="3932753" cy="569000"/>
          </a:xfrm>
          <a:prstGeom prst="rect"/>
          <a:noFill/>
        </p:spPr>
        <p:txBody>
          <a:bodyPr anchor="t" bIns="0" lIns="0" rIns="0" rtlCol="0" tIns="0" wrap="square"/>
          <a:p>
            <a:pPr algn="l" indent="0" marL="0">
              <a:lnSpc>
                <a:spcPts val="1450"/>
              </a:lnSpc>
              <a:buNone/>
            </a:pPr>
            <a:r>
              <a:rPr dirty="0" sz="1300" lang="en-US">
                <a:solidFill>
                  <a:srgbClr val="67534F"/>
                </a:solidFill>
                <a:latin typeface="Montserrat" pitchFamily="34" charset="0"/>
                <a:ea typeface="Montserrat" pitchFamily="34" charset="-122"/>
                <a:cs typeface="Montserrat" pitchFamily="34" charset="-120"/>
              </a:rPr>
              <a:t>Built for growth with modular architecture, state management with Redux, and RESTful API design principles</a:t>
            </a:r>
            <a:endParaRPr dirty="0" sz="1300" lang="en-US"/>
          </a:p>
        </p:txBody>
      </p:sp>
      <p:sp>
        <p:nvSpPr>
          <p:cNvPr id="1049038" name="Shape 11"/>
          <p:cNvSpPr/>
          <p:nvPr/>
        </p:nvSpPr>
        <p:spPr>
          <a:xfrm>
            <a:off x="9630251" y="6256973"/>
            <a:ext cx="4382214" cy="1527334"/>
          </a:xfrm>
          <a:prstGeom prst="roundRect">
            <a:avLst>
              <a:gd name="adj" fmla="val 7184"/>
            </a:avLst>
          </a:prstGeom>
          <a:solidFill>
            <a:srgbClr val="FFFFF4">
              <a:alpha val="95000"/>
            </a:srgbClr>
          </a:solidFill>
          <a:ln w="22860">
            <a:solidFill>
              <a:srgbClr val="FFE0CC"/>
            </a:solidFill>
            <a:prstDash val="solid"/>
          </a:ln>
        </p:spPr>
      </p:sp>
      <p:sp>
        <p:nvSpPr>
          <p:cNvPr id="1049039" name="Shape 12"/>
          <p:cNvSpPr/>
          <p:nvPr/>
        </p:nvSpPr>
        <p:spPr>
          <a:xfrm>
            <a:off x="9607391" y="6256973"/>
            <a:ext cx="91440" cy="1527334"/>
          </a:xfrm>
          <a:prstGeom prst="roundRect">
            <a:avLst>
              <a:gd name="adj" fmla="val 77039"/>
            </a:avLst>
          </a:prstGeom>
          <a:solidFill>
            <a:srgbClr val="FF954F"/>
          </a:solidFill>
        </p:spPr>
      </p:sp>
      <p:sp>
        <p:nvSpPr>
          <p:cNvPr id="1049040" name="Text 13"/>
          <p:cNvSpPr/>
          <p:nvPr/>
        </p:nvSpPr>
        <p:spPr>
          <a:xfrm>
            <a:off x="9889331" y="6447473"/>
            <a:ext cx="2411016" cy="313373"/>
          </a:xfrm>
          <a:prstGeom prst="rect"/>
          <a:noFill/>
        </p:spPr>
        <p:txBody>
          <a:bodyPr anchor="t" bIns="0" lIns="0" rIns="0" rtlCol="0" tIns="0" wrap="none"/>
          <a:p>
            <a:pPr algn="l" indent="0" marL="0">
              <a:lnSpc>
                <a:spcPts val="2450"/>
              </a:lnSpc>
              <a:buNone/>
            </a:pPr>
            <a:r>
              <a:rPr dirty="0" sz="1850" lang="en-US">
                <a:solidFill>
                  <a:srgbClr val="67534F"/>
                </a:solidFill>
                <a:latin typeface="Marcellus" pitchFamily="34" charset="0"/>
                <a:ea typeface="Marcellus" pitchFamily="34" charset="-122"/>
                <a:cs typeface="Marcellus" pitchFamily="34" charset="-120"/>
              </a:rPr>
              <a:t>Production Ready</a:t>
            </a:r>
            <a:endParaRPr dirty="0" sz="1850" lang="en-US"/>
          </a:p>
        </p:txBody>
      </p:sp>
      <p:sp>
        <p:nvSpPr>
          <p:cNvPr id="1049041" name="Text 14"/>
          <p:cNvSpPr/>
          <p:nvPr/>
        </p:nvSpPr>
        <p:spPr>
          <a:xfrm>
            <a:off x="9889331" y="6835140"/>
            <a:ext cx="3932634" cy="569000"/>
          </a:xfrm>
          <a:prstGeom prst="rect"/>
          <a:noFill/>
        </p:spPr>
        <p:txBody>
          <a:bodyPr anchor="t" bIns="0" lIns="0" rIns="0" rtlCol="0" tIns="0" wrap="square"/>
          <a:p>
            <a:pPr algn="l" indent="0" marL="0">
              <a:lnSpc>
                <a:spcPts val="1450"/>
              </a:lnSpc>
              <a:buNone/>
            </a:pPr>
            <a:r>
              <a:rPr dirty="0" sz="1300" lang="en-US">
                <a:solidFill>
                  <a:srgbClr val="67534F"/>
                </a:solidFill>
                <a:latin typeface="Montserrat" pitchFamily="34" charset="0"/>
                <a:ea typeface="Montserrat" pitchFamily="34" charset="-122"/>
                <a:cs typeface="Montserrat" pitchFamily="34" charset="-120"/>
              </a:rPr>
              <a:t>Suitable for real-world business applications with comprehensive testing, CI/CD pipeline, and monitoring capabilities</a:t>
            </a:r>
            <a:endParaRPr dirty="0" sz="1300" lang="en-US"/>
          </a:p>
        </p:txBody>
      </p:sp>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pic>
        <p:nvPicPr>
          <p:cNvPr id="2097231" name="Image 0" descr="preencoded.png"/>
          <p:cNvPicPr>
            <a:picLocks noChangeAspect="1"/>
          </p:cNvPicPr>
          <p:nvPr/>
        </p:nvPicPr>
        <p:blipFill>
          <a:blip xmlns:r="http://schemas.openxmlformats.org/officeDocument/2006/relationships" r:embed="rId1"/>
          <a:stretch>
            <a:fillRect/>
          </a:stretch>
        </p:blipFill>
        <p:spPr>
          <a:xfrm>
            <a:off x="0" y="0"/>
            <a:ext cx="5760720" cy="8229600"/>
          </a:xfrm>
          <a:prstGeom prst="rect"/>
        </p:spPr>
      </p:pic>
      <p:sp>
        <p:nvSpPr>
          <p:cNvPr id="1049045" name="Text 0"/>
          <p:cNvSpPr/>
          <p:nvPr/>
        </p:nvSpPr>
        <p:spPr>
          <a:xfrm>
            <a:off x="6280190" y="2949535"/>
            <a:ext cx="7556421" cy="1695450"/>
          </a:xfrm>
          <a:prstGeom prst="rect"/>
          <a:noFill/>
        </p:spPr>
        <p:txBody>
          <a:bodyPr anchor="t" bIns="0" lIns="0" rIns="0" rtlCol="0" tIns="0" wrap="none"/>
          <a:p>
            <a:pPr algn="l" indent="0" marL="0">
              <a:lnSpc>
                <a:spcPts val="13350"/>
              </a:lnSpc>
              <a:buNone/>
            </a:pPr>
            <a:r>
              <a:rPr dirty="0" sz="10250" lang="en-US">
                <a:solidFill>
                  <a:srgbClr val="532418"/>
                </a:solidFill>
                <a:latin typeface="Marcellus" pitchFamily="34" charset="0"/>
                <a:ea typeface="Marcellus" pitchFamily="34" charset="-122"/>
                <a:cs typeface="Marcellus" pitchFamily="34" charset="-120"/>
              </a:rPr>
              <a:t>Thank You</a:t>
            </a:r>
            <a:endParaRPr dirty="0" sz="10250" lang="en-US"/>
          </a:p>
        </p:txBody>
      </p:sp>
      <p:sp>
        <p:nvSpPr>
          <p:cNvPr id="1049046" name="Text 1"/>
          <p:cNvSpPr/>
          <p:nvPr/>
        </p:nvSpPr>
        <p:spPr>
          <a:xfrm>
            <a:off x="6280190" y="4985147"/>
            <a:ext cx="7556421" cy="294799"/>
          </a:xfrm>
          <a:prstGeom prst="rect"/>
          <a:noFill/>
        </p:spPr>
        <p:txBody>
          <a:bodyPr anchor="t" bIns="0" lIns="0" rIns="0" rtlCol="0" tIns="0" wrap="none"/>
          <a:p>
            <a:pPr algn="l" indent="0" marL="0">
              <a:lnSpc>
                <a:spcPts val="2300"/>
              </a:lnSpc>
              <a:buNone/>
            </a:pPr>
            <a:r>
              <a:rPr dirty="0" sz="1750" lang="en-US">
                <a:solidFill>
                  <a:srgbClr val="67534F"/>
                </a:solidFill>
                <a:latin typeface="Montserrat" pitchFamily="34" charset="0"/>
                <a:ea typeface="Montserrat" pitchFamily="34" charset="-122"/>
                <a:cs typeface="Montserrat" pitchFamily="34" charset="-120"/>
              </a:rPr>
              <a:t>Questions &amp; Discussion</a:t>
            </a:r>
            <a:endParaRPr dirty="0" sz="1750" lang="en-US"/>
          </a:p>
        </p:txBody>
      </p:sp>
    </p:spTree>
  </p:cSld>
  <p:clrMapOvr>
    <a:masterClrMapping/>
  </p:clrMapOvr>
  <p:timing/>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Slide 1</dc:title>
  <dc:creator>hp</dc:creator>
  <cp:lastModifiedBy>hp</cp:lastModifiedBy>
  <dcterms:created xsi:type="dcterms:W3CDTF">2026-03-24T00:57:10Z</dcterms:created>
  <dcterms:modified xsi:type="dcterms:W3CDTF">2026-03-26T16:25:41Z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94839bfb3ada4db0abd20c76bc49907d</vt:lpwstr>
  </property>
</Properties>
</file>